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owned this account creation workflow from 2020 to 2026. My responsibility began with Cash App and broadened across Block. I worked with engineering through successive improvements, including Launchpad 2.0, scheduled processing, Okta activation, and support enablement.</a:t>
            </a:r>
          </a:p>
          <a:p/>
          <a:p>
            <a:r>
              <a:t>The workforce grew from approximately 4,000 full time employees to a peak of approximately 12,000. Including our outsourced customer support teams, referred to as BPO, the total workforce exceeded twice that FTE peak. BPO hiring continued to grow, with cohorts of 30 to 60 people and multiple waves each week.</a:t>
            </a:r>
          </a:p>
          <a:p/>
          <a:p>
            <a:r>
              <a:t>Weekly routine account creation effort fell from approximately 20 hours to less than one as the workflow matured.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office originally created accounts and handed new hires printed temporary passwords and instructions. Remote onboarding required us to create accounts and deliver login details to people joining from different locations, while hiring continued at high volume.</a:t>
            </a:r>
          </a:p>
          <a:p/>
          <a:p>
            <a:r>
              <a:t>We centralized account creation within a three person team. As Cash App's first dedicated IT support person, I owned its account creation work, including large BPO cohorts. My responsibilities broadened across Block as the process evolved.</a:t>
            </a:r>
          </a:p>
          <a:p/>
          <a:p>
            <a:r>
              <a:t>Centralizing the work kept onboarding moving and gave us a shared understanding of the recurring problems to address with engineering.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Workday reports supplied the records. I copied names into a Ruby command line script that connected through an API to Registry, our LDAP directory. The workflow created the identity and Google account, using options for employees, vendors, contractors, and BPO workers.</a:t>
            </a:r>
          </a:p>
          <a:p/>
          <a:p>
            <a:r>
              <a:t>I resolved username and full name conflicts, selected usernames when needed, and reran failed records. For remote onboarding, I also prepared individual temporary password PDFs in Drive. Support staff retrieved each document and verified the person's identity before sharing credentials.</a:t>
            </a:r>
          </a:p>
          <a:p/>
          <a:p>
            <a:r>
              <a:t>The repeated input, supervision, corrections, and credential handling made account creation a substantial weekly task.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engineer most familiar with the Ruby script left the company. Employee Experience still owned it, but another engineer often had to learn the script before helping us.</a:t>
            </a:r>
          </a:p>
          <a:p/>
          <a:p>
            <a:r>
              <a:t>I put a wrapper around the existing script that looped through the rows in a CSV. It ran the script for each person until the file was complete, then returned output showing what had completed and which records needed attention.</a:t>
            </a:r>
          </a:p>
          <a:p/>
          <a:p>
            <a:r>
              <a:t>This let us prepare a cohort from the Workday report, run the batch, and review the results. The wrapper reused the existing account creation logic. Naming conflicts and credential delivery remained the next areas to improve.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partnered with Employee Experience engineers to bring the workflow into Launchpad, a GUI fed directly from Workday. Upcoming hires were already visible in the interface, removing the need to copy records into the script.</a:t>
            </a:r>
          </a:p>
          <a:p/>
          <a:p>
            <a:r>
              <a:t>Starting multiple accounts at the same time could cause race conditions. I started one or two records, waited for completion, and checked the results before continuing. Naming failures still required manual review.</a:t>
            </a:r>
          </a:p>
          <a:p/>
          <a:p>
            <a:r>
              <a:t>The interface reduced data entry, while I continued to supervise execution. That remaining work led to the next improvement with engineering: batch execution.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partnered with engineering on a feature called “Run All.” One action started processing for an entire cohort, and I reviewed and corrected the errors returned.</a:t>
            </a:r>
          </a:p>
          <a:p/>
          <a:p>
            <a:r>
              <a:t>The workflow also generated and saved onboarding PDFs automatically. Support staff used those documents during remote onboarding.</a:t>
            </a:r>
          </a:p>
          <a:p/>
          <a:p>
            <a:r>
              <a:t>At this stage, I still initiated each batch. My attention shifted to the records needing correction, and the next improvement was to schedule creation around each new hire's start date.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When a new software engineering team took over Launchpad, I explained how the existing systems connected, the recurring naming issues, onboarding timing, and the steps that still needed manual attention. We used that operating experience to shape Launchpad 2.0 together.</a:t>
            </a:r>
          </a:p>
          <a:p/>
          <a:p>
            <a:r>
              <a:t>Routine account creation ran before the start date. Improved naming logic reduced manual username corrections.</a:t>
            </a:r>
          </a:p>
          <a:p/>
          <a:p>
            <a:r>
              <a:t>Workday remained the source of truth. Launchpad created the identity in Registry, our LDAP directory. Identity information then passed to Okta, which handled Google Workspace and other configured application provisioning.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Earlier, support retrieved temporary password PDFs from Drive, verified each new hire's identity, and shared the credentials. This remained part of onboarding after PDF generation and storage were automated.</a:t>
            </a:r>
          </a:p>
          <a:p/>
          <a:p>
            <a:r>
              <a:t>With Okta, the new hire received an activation link and set their own password.</a:t>
            </a:r>
          </a:p>
          <a:p/>
          <a:p>
            <a:r>
              <a:t>Later additions sent invitations to People onboarding meetings and optional IT office hours, connecting new hires with the sessions and support available to them.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Cash App team was entering information into Workday incorrectly, which affected my account creation work.</a:t>
            </a:r>
          </a:p>
          <a:p/>
          <a:p>
            <a:r>
              <a:t>I spoke directly with a peer about how the process needed to work and explained the downstream impact. It was a difficult feedback conversation with a positive outcome.</a:t>
            </a:r>
          </a:p>
          <a:p/>
          <a:p>
            <a:r>
              <a:t>Workday was our source of truth, so reliable onboarding depended on both the source team and IT support. Addressing that relationship was part of owning the workflow.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 routine processing became automated, I owned and curated the runbooks so support staff could understand the workflow, identify failures, and know what to check next.</a:t>
            </a:r>
          </a:p>
          <a:p/>
          <a:p>
            <a:r>
              <a:t>I trained the global, East Coast, and West Coast IT support teams directly. I made sure individuals felt comfortable with the process and gave them access to investigate and resolve account errors.</a:t>
            </a:r>
          </a:p>
          <a:p/>
          <a:p>
            <a:r>
              <a:t>Documentation, training, and tool access gave the teams the ability to help new hires directly. I continued partnering with support and engineering to keep the workflow useful and reliable.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Weekly routine effort fell from approximately 20 hours to less than one as the workflow evolved.</a:t>
            </a:r>
          </a:p>
          <a:p/>
          <a:p>
            <a:r>
              <a:t>CSV batching removed repeated data entry. The GUI brought Workday records into the interface. Run All replaced individual starts with one batch action. Scheduled processing automated batch initiation. Improved naming logic reduced corrections, and Okta activation replaced temporary password delivery.</a:t>
            </a:r>
          </a:p>
          <a:p/>
          <a:p>
            <a:r>
              <a:t>My focus shifted toward improving the workflow, resolving exceptions, and enabling support teams. That progress came through sustained partnership with engineering and IT support.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pattern I carry forward is to stay close to the work, identify the next constraint, and build improvements with the people who use and maintain the workflow.</a:t>
            </a:r>
          </a:p>
          <a:p/>
          <a:p>
            <a:r>
              <a:t>After the original Ruby expert left, engineers often had to learn the script before they could help. I would work with engineering earlier to establish a backup technical owner and keep the tool documentation current alongside the operational runbooks.</a:t>
            </a:r>
          </a:p>
          <a:p/>
          <a:p>
            <a:r>
              <a:t>Ownership includes building the knowledge and partnerships that keep a workflow supportable when people or teams change. The runbooks, direct training, and support access later in the project put that principle into practice.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4"/>
        </a:solidFill>
      </p:bgPr>
    </p:bg>
    <p:spTree>
      <p:nvGrpSpPr>
        <p:cNvPr id="1" name=""/>
        <p:cNvGrpSpPr/>
        <p:nvPr/>
      </p:nvGrpSpPr>
      <p:grpSpPr>
        <a:xfrm>
          <a:off x="0" y="0"/>
          <a:ext cx="0" cy="0"/>
          <a:chOff x="0" y="0"/>
          <a:chExt cx="0" cy="0"/>
        </a:xfrm>
      </p:grpSpPr>
      <p:sp>
        <p:nvSpPr>
          <p:cNvPr id="2" name="slide1_text_0"/>
          <p:cNvSpPr txBox="1"/>
          <p:nvPr/>
        </p:nvSpPr>
        <p:spPr>
          <a:xfrm>
            <a:off x="579120" y="419100"/>
            <a:ext cx="11033760" cy="792480"/>
          </a:xfrm>
          <a:prstGeom prst="rect">
            <a:avLst/>
          </a:prstGeom>
          <a:noFill/>
          <a:ln/>
        </p:spPr>
        <p:txBody>
          <a:bodyPr wrap="square" lIns="0" tIns="0" rIns="0" bIns="0" rtlCol="0" anchor="t"/>
          <a:lstStyle/>
          <a:p>
            <a:pPr algn="l" indent="0" marL="0">
              <a:lnSpc>
                <a:spcPct val="100000"/>
              </a:lnSpc>
              <a:buNone/>
            </a:pPr>
            <a:r>
              <a:rPr lang="en-US" sz="6120" b="1" dirty="0">
                <a:solidFill>
                  <a:srgbClr val="152F27"/>
                </a:solidFill>
                <a:latin typeface="Arial" pitchFamily="34" charset="0"/>
                <a:ea typeface="Arial" pitchFamily="34" charset="-122"/>
                <a:cs typeface="Arial" pitchFamily="34" charset="-120"/>
              </a:rPr>
              <a:t>Launchpad</a:t>
            </a:r>
            <a:endParaRPr lang="en-US" sz="6120" dirty="0"/>
          </a:p>
        </p:txBody>
      </p:sp>
      <p:sp>
        <p:nvSpPr>
          <p:cNvPr id="3" name="slide1_text_1"/>
          <p:cNvSpPr txBox="1"/>
          <p:nvPr/>
        </p:nvSpPr>
        <p:spPr>
          <a:xfrm>
            <a:off x="609600" y="1348740"/>
            <a:ext cx="10515600" cy="364846"/>
          </a:xfrm>
          <a:prstGeom prst="rect">
            <a:avLst/>
          </a:prstGeom>
          <a:noFill/>
          <a:ln/>
        </p:spPr>
        <p:txBody>
          <a:bodyPr wrap="square" lIns="0" tIns="0" rIns="0" bIns="0" rtlCol="0" anchor="t"/>
          <a:lstStyle/>
          <a:p>
            <a:pPr algn="l" indent="0" marL="0">
              <a:lnSpc>
                <a:spcPct val="100000"/>
              </a:lnSpc>
              <a:buNone/>
            </a:pPr>
            <a:r>
              <a:rPr lang="en-US" sz="2220" dirty="0">
                <a:solidFill>
                  <a:srgbClr val="586B62"/>
                </a:solidFill>
                <a:latin typeface="Arial" pitchFamily="34" charset="0"/>
                <a:ea typeface="Arial" pitchFamily="34" charset="-122"/>
                <a:cs typeface="Arial" pitchFamily="34" charset="-120"/>
              </a:rPr>
              <a:t>Automated account creation at Block</a:t>
            </a:r>
            <a:endParaRPr lang="en-US" sz="2220" dirty="0"/>
          </a:p>
        </p:txBody>
      </p:sp>
      <p:sp>
        <p:nvSpPr>
          <p:cNvPr id="4" name="slide1_line_2"/>
          <p:cNvSpPr/>
          <p:nvPr/>
        </p:nvSpPr>
        <p:spPr>
          <a:xfrm>
            <a:off x="7437120" y="2125980"/>
            <a:ext cx="0" cy="3764280"/>
          </a:xfrm>
          <a:prstGeom prst="line">
            <a:avLst/>
          </a:prstGeom>
          <a:noFill/>
          <a:ln w="15240">
            <a:solidFill>
              <a:srgbClr val="D2DCD3"/>
            </a:solidFill>
            <a:prstDash val="solid"/>
            <a:headEnd type="none"/>
            <a:tailEnd type="none"/>
          </a:ln>
        </p:spPr>
        <p:txBody>
          <a:bodyPr/>
          <a:p/>
        </p:txBody>
      </p:sp>
      <p:sp>
        <p:nvSpPr>
          <p:cNvPr id="5" name="slide1_text_3"/>
          <p:cNvSpPr txBox="1"/>
          <p:nvPr/>
        </p:nvSpPr>
        <p:spPr>
          <a:xfrm>
            <a:off x="609600" y="2087880"/>
            <a:ext cx="5791200" cy="289255"/>
          </a:xfrm>
          <a:prstGeom prst="rect">
            <a:avLst/>
          </a:prstGeom>
          <a:noFill/>
          <a:ln/>
        </p:spPr>
        <p:txBody>
          <a:bodyPr wrap="square" lIns="0" tIns="0" rIns="0" bIns="0" rtlCol="0" anchor="t"/>
          <a:lstStyle/>
          <a:p>
            <a:pPr algn="l" indent="0" marL="0">
              <a:lnSpc>
                <a:spcPct val="100000"/>
              </a:lnSpc>
              <a:buNone/>
            </a:pPr>
            <a:r>
              <a:rPr lang="en-US" sz="1740" b="1" dirty="0">
                <a:solidFill>
                  <a:srgbClr val="152F27"/>
                </a:solidFill>
                <a:latin typeface="Arial" pitchFamily="34" charset="0"/>
                <a:ea typeface="Arial" pitchFamily="34" charset="-122"/>
                <a:cs typeface="Arial" pitchFamily="34" charset="-120"/>
              </a:rPr>
              <a:t>The workforce grew</a:t>
            </a:r>
            <a:endParaRPr lang="en-US" sz="1740" dirty="0"/>
          </a:p>
        </p:txBody>
      </p:sp>
      <p:sp>
        <p:nvSpPr>
          <p:cNvPr id="6" name="slide1_text_4"/>
          <p:cNvSpPr txBox="1"/>
          <p:nvPr/>
        </p:nvSpPr>
        <p:spPr>
          <a:xfrm>
            <a:off x="624840" y="2621280"/>
            <a:ext cx="2438400" cy="777240"/>
          </a:xfrm>
          <a:prstGeom prst="rect">
            <a:avLst/>
          </a:prstGeom>
          <a:noFill/>
          <a:ln/>
        </p:spPr>
        <p:txBody>
          <a:bodyPr wrap="square" lIns="0" tIns="0" rIns="0" bIns="0" rtlCol="0" anchor="t"/>
          <a:lstStyle/>
          <a:p>
            <a:pPr algn="l" indent="0" marL="0">
              <a:lnSpc>
                <a:spcPct val="100000"/>
              </a:lnSpc>
              <a:buNone/>
            </a:pPr>
            <a:r>
              <a:rPr lang="en-US" sz="6000" b="1" dirty="0">
                <a:solidFill>
                  <a:srgbClr val="152F27"/>
                </a:solidFill>
                <a:latin typeface="Arial" pitchFamily="34" charset="0"/>
                <a:ea typeface="Arial" pitchFamily="34" charset="-122"/>
                <a:cs typeface="Arial" pitchFamily="34" charset="-120"/>
              </a:rPr>
              <a:t>~4k</a:t>
            </a:r>
            <a:endParaRPr lang="en-US" sz="6000" dirty="0"/>
          </a:p>
        </p:txBody>
      </p:sp>
      <p:sp>
        <p:nvSpPr>
          <p:cNvPr id="7" name="slide1_text_5"/>
          <p:cNvSpPr txBox="1"/>
          <p:nvPr/>
        </p:nvSpPr>
        <p:spPr>
          <a:xfrm>
            <a:off x="640080" y="3421380"/>
            <a:ext cx="2590800" cy="242011"/>
          </a:xfrm>
          <a:prstGeom prst="rect">
            <a:avLst/>
          </a:prstGeom>
          <a:noFill/>
          <a:ln/>
        </p:spPr>
        <p:txBody>
          <a:bodyPr wrap="square" lIns="0" tIns="0" rIns="0" bIns="0" rtlCol="0" anchor="t"/>
          <a:lstStyle/>
          <a:p>
            <a:pPr algn="l" indent="0" marL="0">
              <a:lnSpc>
                <a:spcPct val="100000"/>
              </a:lnSpc>
              <a:buNone/>
            </a:pPr>
            <a:r>
              <a:rPr lang="en-US" sz="1440" dirty="0">
                <a:solidFill>
                  <a:srgbClr val="586B62"/>
                </a:solidFill>
                <a:latin typeface="Arial" pitchFamily="34" charset="0"/>
                <a:ea typeface="Arial" pitchFamily="34" charset="-122"/>
                <a:cs typeface="Arial" pitchFamily="34" charset="-120"/>
              </a:rPr>
              <a:t>FTE initially</a:t>
            </a:r>
            <a:endParaRPr lang="en-US" sz="1440" dirty="0"/>
          </a:p>
        </p:txBody>
      </p:sp>
      <p:sp>
        <p:nvSpPr>
          <p:cNvPr id="8" name="slide1_rect_6"/>
          <p:cNvSpPr/>
          <p:nvPr/>
        </p:nvSpPr>
        <p:spPr>
          <a:xfrm>
            <a:off x="2872740" y="2948940"/>
            <a:ext cx="1272540" cy="213360"/>
          </a:xfrm>
          <a:prstGeom prst="roundRect">
            <a:avLst>
              <a:gd name="adj" fmla="val 10714"/>
            </a:avLst>
          </a:prstGeom>
          <a:solidFill>
            <a:srgbClr val="A6B3A9"/>
          </a:solidFill>
          <a:ln w="12700">
            <a:solidFill>
              <a:srgbClr val="A6B3A9">
                <a:alpha val="0"/>
              </a:srgbClr>
            </a:solidFill>
            <a:prstDash val="solid"/>
          </a:ln>
        </p:spPr>
        <p:txBody>
          <a:bodyPr/>
          <a:p/>
        </p:txBody>
      </p:sp>
      <p:sp>
        <p:nvSpPr>
          <p:cNvPr id="9" name="slide1_text_7"/>
          <p:cNvSpPr txBox="1"/>
          <p:nvPr/>
        </p:nvSpPr>
        <p:spPr>
          <a:xfrm>
            <a:off x="624840" y="3863340"/>
            <a:ext cx="2438400" cy="777240"/>
          </a:xfrm>
          <a:prstGeom prst="rect">
            <a:avLst/>
          </a:prstGeom>
          <a:noFill/>
          <a:ln/>
        </p:spPr>
        <p:txBody>
          <a:bodyPr wrap="square" lIns="0" tIns="0" rIns="0" bIns="0" rtlCol="0" anchor="t"/>
          <a:lstStyle/>
          <a:p>
            <a:pPr algn="l" indent="0" marL="0">
              <a:lnSpc>
                <a:spcPct val="100000"/>
              </a:lnSpc>
              <a:buNone/>
            </a:pPr>
            <a:r>
              <a:rPr lang="en-US" sz="6000" b="1" dirty="0">
                <a:solidFill>
                  <a:srgbClr val="176C4B"/>
                </a:solidFill>
                <a:latin typeface="Arial" pitchFamily="34" charset="0"/>
                <a:ea typeface="Arial" pitchFamily="34" charset="-122"/>
                <a:cs typeface="Arial" pitchFamily="34" charset="-120"/>
              </a:rPr>
              <a:t>~12k</a:t>
            </a:r>
            <a:endParaRPr lang="en-US" sz="6000" dirty="0"/>
          </a:p>
        </p:txBody>
      </p:sp>
      <p:sp>
        <p:nvSpPr>
          <p:cNvPr id="10" name="slide1_text_8"/>
          <p:cNvSpPr txBox="1"/>
          <p:nvPr/>
        </p:nvSpPr>
        <p:spPr>
          <a:xfrm>
            <a:off x="640080" y="4663440"/>
            <a:ext cx="2590800" cy="242011"/>
          </a:xfrm>
          <a:prstGeom prst="rect">
            <a:avLst/>
          </a:prstGeom>
          <a:noFill/>
          <a:ln/>
        </p:spPr>
        <p:txBody>
          <a:bodyPr wrap="square" lIns="0" tIns="0" rIns="0" bIns="0" rtlCol="0" anchor="t"/>
          <a:lstStyle/>
          <a:p>
            <a:pPr algn="l" indent="0" marL="0">
              <a:lnSpc>
                <a:spcPct val="100000"/>
              </a:lnSpc>
              <a:buNone/>
            </a:pPr>
            <a:r>
              <a:rPr lang="en-US" sz="1440" dirty="0">
                <a:solidFill>
                  <a:srgbClr val="586B62"/>
                </a:solidFill>
                <a:latin typeface="Arial" pitchFamily="34" charset="0"/>
                <a:ea typeface="Arial" pitchFamily="34" charset="-122"/>
                <a:cs typeface="Arial" pitchFamily="34" charset="-120"/>
              </a:rPr>
              <a:t>FTE at peak</a:t>
            </a:r>
            <a:endParaRPr lang="en-US" sz="1440" dirty="0"/>
          </a:p>
        </p:txBody>
      </p:sp>
      <p:sp>
        <p:nvSpPr>
          <p:cNvPr id="11" name="slide1_rect_9"/>
          <p:cNvSpPr/>
          <p:nvPr/>
        </p:nvSpPr>
        <p:spPr>
          <a:xfrm>
            <a:off x="2872740" y="4191000"/>
            <a:ext cx="3817620" cy="213360"/>
          </a:xfrm>
          <a:prstGeom prst="roundRect">
            <a:avLst>
              <a:gd name="adj" fmla="val 10714"/>
            </a:avLst>
          </a:prstGeom>
          <a:solidFill>
            <a:srgbClr val="176C4B"/>
          </a:solidFill>
          <a:ln w="12700">
            <a:solidFill>
              <a:srgbClr val="176C4B">
                <a:alpha val="0"/>
              </a:srgbClr>
            </a:solidFill>
            <a:prstDash val="solid"/>
          </a:ln>
        </p:spPr>
        <p:txBody>
          <a:bodyPr/>
          <a:p/>
        </p:txBody>
      </p:sp>
      <p:sp>
        <p:nvSpPr>
          <p:cNvPr id="12" name="slide1_text_10"/>
          <p:cNvSpPr txBox="1"/>
          <p:nvPr/>
        </p:nvSpPr>
        <p:spPr>
          <a:xfrm>
            <a:off x="624840" y="5280660"/>
            <a:ext cx="6248400" cy="258928"/>
          </a:xfrm>
          <a:prstGeom prst="rect">
            <a:avLst/>
          </a:prstGeom>
          <a:noFill/>
          <a:ln/>
        </p:spPr>
        <p:txBody>
          <a:bodyPr wrap="square" lIns="0" tIns="0" rIns="0" bIns="0" rtlCol="0" anchor="t"/>
          <a:lstStyle/>
          <a:p>
            <a:pPr algn="l" indent="0" marL="0">
              <a:lnSpc>
                <a:spcPct val="100000"/>
              </a:lnSpc>
              <a:buNone/>
            </a:pPr>
            <a:r>
              <a:rPr lang="en-US" sz="1560" dirty="0">
                <a:solidFill>
                  <a:srgbClr val="152F27"/>
                </a:solidFill>
                <a:latin typeface="Arial" pitchFamily="34" charset="0"/>
                <a:ea typeface="Arial" pitchFamily="34" charset="-122"/>
                <a:cs typeface="Arial" pitchFamily="34" charset="-120"/>
              </a:rPr>
              <a:t>Including outsourced customer support (BPO),</a:t>
            </a:r>
            <a:endParaRPr lang="en-US" sz="1560" dirty="0"/>
          </a:p>
        </p:txBody>
      </p:sp>
      <p:sp>
        <p:nvSpPr>
          <p:cNvPr id="13" name="slide1_text_11"/>
          <p:cNvSpPr txBox="1"/>
          <p:nvPr/>
        </p:nvSpPr>
        <p:spPr>
          <a:xfrm>
            <a:off x="624840" y="5882640"/>
            <a:ext cx="6324600" cy="175260"/>
          </a:xfrm>
          <a:prstGeom prst="rect">
            <a:avLst/>
          </a:prstGeom>
          <a:noFill/>
          <a:ln/>
        </p:spPr>
        <p:txBody>
          <a:bodyPr wrap="square" lIns="0" tIns="0" rIns="0" bIns="0" rtlCol="0" anchor="t"/>
          <a:lstStyle/>
          <a:p>
            <a:pPr algn="l" indent="0" marL="0">
              <a:lnSpc>
                <a:spcPct val="100000"/>
              </a:lnSpc>
              <a:buNone/>
            </a:pPr>
            <a:r>
              <a:rPr lang="en-US" sz="1260" dirty="0">
                <a:solidFill>
                  <a:srgbClr val="586B62"/>
                </a:solidFill>
                <a:latin typeface="Arial" pitchFamily="34" charset="0"/>
                <a:ea typeface="Arial" pitchFamily="34" charset="-122"/>
                <a:cs typeface="Arial" pitchFamily="34" charset="-120"/>
              </a:rPr>
              <a:t>BPO cohorts: 30 to 60 people, with multiple waves each week.</a:t>
            </a:r>
            <a:endParaRPr lang="en-US" sz="1260" dirty="0"/>
          </a:p>
        </p:txBody>
      </p:sp>
      <p:sp>
        <p:nvSpPr>
          <p:cNvPr id="14" name="slide1_text_12"/>
          <p:cNvSpPr txBox="1"/>
          <p:nvPr/>
        </p:nvSpPr>
        <p:spPr>
          <a:xfrm>
            <a:off x="7940040" y="2087880"/>
            <a:ext cx="3581400" cy="289255"/>
          </a:xfrm>
          <a:prstGeom prst="rect">
            <a:avLst/>
          </a:prstGeom>
          <a:noFill/>
          <a:ln/>
        </p:spPr>
        <p:txBody>
          <a:bodyPr wrap="square" lIns="0" tIns="0" rIns="0" bIns="0" rtlCol="0" anchor="t"/>
          <a:lstStyle/>
          <a:p>
            <a:pPr algn="l" indent="0" marL="0">
              <a:lnSpc>
                <a:spcPct val="100000"/>
              </a:lnSpc>
              <a:buNone/>
            </a:pPr>
            <a:r>
              <a:rPr lang="en-US" sz="1740" b="1" dirty="0">
                <a:solidFill>
                  <a:srgbClr val="152F27"/>
                </a:solidFill>
                <a:latin typeface="Arial" pitchFamily="34" charset="0"/>
                <a:ea typeface="Arial" pitchFamily="34" charset="-122"/>
                <a:cs typeface="Arial" pitchFamily="34" charset="-120"/>
              </a:rPr>
              <a:t>The routine work shrank</a:t>
            </a:r>
            <a:endParaRPr lang="en-US" sz="1740" dirty="0"/>
          </a:p>
        </p:txBody>
      </p:sp>
      <p:sp>
        <p:nvSpPr>
          <p:cNvPr id="15" name="slide1_text_13"/>
          <p:cNvSpPr txBox="1"/>
          <p:nvPr/>
        </p:nvSpPr>
        <p:spPr>
          <a:xfrm>
            <a:off x="7955280" y="2583180"/>
            <a:ext cx="3581400" cy="777240"/>
          </a:xfrm>
          <a:prstGeom prst="rect">
            <a:avLst/>
          </a:prstGeom>
          <a:noFill/>
          <a:ln/>
        </p:spPr>
        <p:txBody>
          <a:bodyPr wrap="square" lIns="0" tIns="0" rIns="0" bIns="0" rtlCol="0" anchor="t"/>
          <a:lstStyle/>
          <a:p>
            <a:pPr algn="l" indent="0" marL="0">
              <a:lnSpc>
                <a:spcPct val="100000"/>
              </a:lnSpc>
              <a:buNone/>
            </a:pPr>
            <a:r>
              <a:rPr lang="en-US" sz="6000" b="1" dirty="0">
                <a:solidFill>
                  <a:srgbClr val="152F27"/>
                </a:solidFill>
                <a:latin typeface="Arial" pitchFamily="34" charset="0"/>
                <a:ea typeface="Arial" pitchFamily="34" charset="-122"/>
                <a:cs typeface="Arial" pitchFamily="34" charset="-120"/>
              </a:rPr>
              <a:t>~20 h</a:t>
            </a:r>
            <a:endParaRPr lang="en-US" sz="6000" dirty="0"/>
          </a:p>
        </p:txBody>
      </p:sp>
      <p:sp>
        <p:nvSpPr>
          <p:cNvPr id="16" name="slide1_text_14"/>
          <p:cNvSpPr txBox="1"/>
          <p:nvPr/>
        </p:nvSpPr>
        <p:spPr>
          <a:xfrm>
            <a:off x="7985760" y="3429000"/>
            <a:ext cx="3581400" cy="242011"/>
          </a:xfrm>
          <a:prstGeom prst="rect">
            <a:avLst/>
          </a:prstGeom>
          <a:noFill/>
          <a:ln/>
        </p:spPr>
        <p:txBody>
          <a:bodyPr wrap="square" lIns="0" tIns="0" rIns="0" bIns="0" rtlCol="0" anchor="t"/>
          <a:lstStyle/>
          <a:p>
            <a:pPr algn="l" indent="0" marL="0">
              <a:lnSpc>
                <a:spcPct val="100000"/>
              </a:lnSpc>
              <a:buNone/>
            </a:pPr>
            <a:r>
              <a:rPr lang="en-US" sz="1440" dirty="0">
                <a:solidFill>
                  <a:srgbClr val="586B62"/>
                </a:solidFill>
                <a:latin typeface="Arial" pitchFamily="34" charset="0"/>
                <a:ea typeface="Arial" pitchFamily="34" charset="-122"/>
                <a:cs typeface="Arial" pitchFamily="34" charset="-120"/>
              </a:rPr>
              <a:t>per week initially</a:t>
            </a:r>
            <a:endParaRPr lang="en-US" sz="1440" dirty="0"/>
          </a:p>
        </p:txBody>
      </p:sp>
      <p:sp>
        <p:nvSpPr>
          <p:cNvPr id="17" name="slide1_line_15"/>
          <p:cNvSpPr/>
          <p:nvPr/>
        </p:nvSpPr>
        <p:spPr>
          <a:xfrm>
            <a:off x="8305800" y="3848100"/>
            <a:ext cx="0" cy="281940"/>
          </a:xfrm>
          <a:prstGeom prst="line">
            <a:avLst/>
          </a:prstGeom>
          <a:noFill/>
          <a:ln w="22860">
            <a:solidFill>
              <a:srgbClr val="176C4B"/>
            </a:solidFill>
            <a:prstDash val="solid"/>
            <a:headEnd type="none"/>
            <a:tailEnd type="none"/>
          </a:ln>
        </p:spPr>
        <p:txBody>
          <a:bodyPr/>
          <a:p/>
        </p:txBody>
      </p:sp>
      <p:sp>
        <p:nvSpPr>
          <p:cNvPr id="18" name="slide1_poly_16"/>
          <p:cNvSpPr/>
          <p:nvPr/>
        </p:nvSpPr>
        <p:spPr>
          <a:xfrm>
            <a:off x="8252460" y="4130040"/>
            <a:ext cx="106680" cy="106680"/>
          </a:xfrm>
          <a:custGeom>
            <a:avLst/>
            <a:gdLst/>
            <a:ahLst/>
            <a:cxnLst/>
            <a:rect l="l" t="t" r="r" b="b"/>
            <a:pathLst>
              <a:path w="106680" h="106680">
                <a:moveTo>
                  <a:pt x="53340" y="106680"/>
                </a:moveTo>
                <a:lnTo>
                  <a:pt x="0" y="0"/>
                </a:lnTo>
                <a:lnTo>
                  <a:pt x="106680" y="0"/>
                </a:lnTo>
                <a:close/>
              </a:path>
            </a:pathLst>
          </a:custGeom>
          <a:solidFill>
            <a:srgbClr val="176C4B"/>
          </a:solidFill>
          <a:ln w="12700">
            <a:solidFill>
              <a:srgbClr val="176C4B">
                <a:alpha val="0"/>
              </a:srgbClr>
            </a:solidFill>
            <a:prstDash val="solid"/>
          </a:ln>
        </p:spPr>
        <p:txBody>
          <a:bodyPr/>
          <a:p/>
        </p:txBody>
      </p:sp>
      <p:sp>
        <p:nvSpPr>
          <p:cNvPr id="19" name="slide1_text_17"/>
          <p:cNvSpPr txBox="1"/>
          <p:nvPr/>
        </p:nvSpPr>
        <p:spPr>
          <a:xfrm>
            <a:off x="7955280" y="4488180"/>
            <a:ext cx="3581400" cy="838200"/>
          </a:xfrm>
          <a:prstGeom prst="rect">
            <a:avLst/>
          </a:prstGeom>
          <a:noFill/>
          <a:ln/>
        </p:spPr>
        <p:txBody>
          <a:bodyPr wrap="square" lIns="0" tIns="0" rIns="0" bIns="0" rtlCol="0" anchor="t"/>
          <a:lstStyle/>
          <a:p>
            <a:pPr algn="l" indent="0" marL="0">
              <a:lnSpc>
                <a:spcPct val="100000"/>
              </a:lnSpc>
              <a:buNone/>
            </a:pPr>
            <a:r>
              <a:rPr lang="en-US" sz="6480" b="1" dirty="0">
                <a:solidFill>
                  <a:srgbClr val="176C4B"/>
                </a:solidFill>
                <a:latin typeface="Arial" pitchFamily="34" charset="0"/>
                <a:ea typeface="Arial" pitchFamily="34" charset="-122"/>
                <a:cs typeface="Arial" pitchFamily="34" charset="-120"/>
              </a:rPr>
              <a:t>&lt;1 h</a:t>
            </a:r>
            <a:endParaRPr lang="en-US" sz="6480" dirty="0"/>
          </a:p>
        </p:txBody>
      </p:sp>
      <p:sp>
        <p:nvSpPr>
          <p:cNvPr id="20" name="slide1_text_18"/>
          <p:cNvSpPr txBox="1"/>
          <p:nvPr/>
        </p:nvSpPr>
        <p:spPr>
          <a:xfrm>
            <a:off x="7985760" y="5417820"/>
            <a:ext cx="3581400" cy="242011"/>
          </a:xfrm>
          <a:prstGeom prst="rect">
            <a:avLst/>
          </a:prstGeom>
          <a:noFill/>
          <a:ln/>
        </p:spPr>
        <p:txBody>
          <a:bodyPr wrap="square" lIns="0" tIns="0" rIns="0" bIns="0" rtlCol="0" anchor="t"/>
          <a:lstStyle/>
          <a:p>
            <a:pPr algn="l" indent="0" marL="0">
              <a:lnSpc>
                <a:spcPct val="100000"/>
              </a:lnSpc>
              <a:buNone/>
            </a:pPr>
            <a:r>
              <a:rPr lang="en-US" sz="1440" dirty="0">
                <a:solidFill>
                  <a:srgbClr val="586B62"/>
                </a:solidFill>
                <a:latin typeface="Arial" pitchFamily="34" charset="0"/>
                <a:ea typeface="Arial" pitchFamily="34" charset="-122"/>
                <a:cs typeface="Arial" pitchFamily="34" charset="-120"/>
              </a:rPr>
              <a:t>per week after automation</a:t>
            </a:r>
            <a:endParaRPr lang="en-US" sz="1440" dirty="0"/>
          </a:p>
        </p:txBody>
      </p:sp>
      <p:sp>
        <p:nvSpPr>
          <p:cNvPr id="21" name="slide1_line_19"/>
          <p:cNvSpPr/>
          <p:nvPr/>
        </p:nvSpPr>
        <p:spPr>
          <a:xfrm>
            <a:off x="579120" y="6301740"/>
            <a:ext cx="11033760" cy="0"/>
          </a:xfrm>
          <a:prstGeom prst="line">
            <a:avLst/>
          </a:prstGeom>
          <a:noFill/>
          <a:ln w="7620">
            <a:solidFill>
              <a:srgbClr val="D2DCD3"/>
            </a:solidFill>
            <a:prstDash val="solid"/>
            <a:headEnd type="none"/>
            <a:tailEnd type="none"/>
          </a:ln>
        </p:spPr>
        <p:txBody>
          <a:bodyPr/>
          <a:p/>
        </p:txBody>
      </p:sp>
      <p:sp>
        <p:nvSpPr>
          <p:cNvPr id="22" name="slide1_text_20"/>
          <p:cNvSpPr txBox="1"/>
          <p:nvPr/>
        </p:nvSpPr>
        <p:spPr>
          <a:xfrm>
            <a:off x="594360" y="6446520"/>
            <a:ext cx="6096000" cy="144780"/>
          </a:xfrm>
          <a:prstGeom prst="rect">
            <a:avLst/>
          </a:prstGeom>
          <a:noFill/>
          <a:ln/>
        </p:spPr>
        <p:txBody>
          <a:bodyPr wrap="square" lIns="0" tIns="0" rIns="0" bIns="0" rtlCol="0" anchor="t"/>
          <a:lstStyle/>
          <a:p>
            <a:pPr algn="l" indent="0" marL="0">
              <a:lnSpc>
                <a:spcPct val="100000"/>
              </a:lnSpc>
              <a:buNone/>
            </a:pPr>
            <a:r>
              <a:rPr lang="en-US" sz="1020" dirty="0">
                <a:solidFill>
                  <a:srgbClr val="586B62"/>
                </a:solidFill>
                <a:latin typeface="Arial" pitchFamily="34" charset="0"/>
                <a:ea typeface="Arial" pitchFamily="34" charset="-122"/>
                <a:cs typeface="Arial" pitchFamily="34" charset="-120"/>
              </a:rPr>
              <a:t>FRANKLIN WAGGONER / LAUNCHPAD</a:t>
            </a:r>
            <a:endParaRPr lang="en-US" sz="1020" dirty="0"/>
          </a:p>
        </p:txBody>
      </p:sp>
      <p:sp>
        <p:nvSpPr>
          <p:cNvPr id="23" name="slide1_text_21"/>
          <p:cNvSpPr txBox="1"/>
          <p:nvPr/>
        </p:nvSpPr>
        <p:spPr>
          <a:xfrm>
            <a:off x="10591800" y="6438900"/>
            <a:ext cx="1021080" cy="144780"/>
          </a:xfrm>
          <a:prstGeom prst="rect">
            <a:avLst/>
          </a:prstGeom>
          <a:noFill/>
          <a:ln/>
        </p:spPr>
        <p:txBody>
          <a:bodyPr wrap="square" lIns="0" tIns="0" rIns="0" bIns="0" rtlCol="0" anchor="t"/>
          <a:lstStyle/>
          <a:p>
            <a:pPr algn="r" indent="0" marL="0">
              <a:lnSpc>
                <a:spcPct val="100000"/>
              </a:lnSpc>
              <a:buNone/>
            </a:pPr>
            <a:r>
              <a:rPr lang="en-US" sz="1020" dirty="0">
                <a:solidFill>
                  <a:srgbClr val="586B62"/>
                </a:solidFill>
                <a:latin typeface="Arial" pitchFamily="34" charset="0"/>
                <a:ea typeface="Arial" pitchFamily="34" charset="-122"/>
                <a:cs typeface="Arial" pitchFamily="34" charset="-120"/>
              </a:rPr>
              <a:t>01 / 12</a:t>
            </a:r>
            <a:endParaRPr lang="en-US" sz="1020" dirty="0"/>
          </a:p>
        </p:txBody>
      </p:sp>
      <p:sp>
        <p:nvSpPr>
          <p:cNvPr id="24" name="TextBox 23"/>
          <p:cNvSpPr txBox="1"/>
          <p:nvPr/>
        </p:nvSpPr>
        <p:spPr>
          <a:xfrm>
            <a:off x="609600" y="1805940"/>
            <a:ext cx="10972800" cy="210311"/>
          </a:xfrm>
          <a:prstGeom prst="rect">
            <a:avLst/>
          </a:prstGeom>
          <a:noFill/>
        </p:spPr>
        <p:txBody>
          <a:bodyPr wrap="none" lIns="0" rIns="0" tIns="0" bIns="0" anchor="t">
            <a:noAutofit/>
          </a:bodyPr>
          <a:lstStyle/>
          <a:p>
            <a:pPr>
              <a:lnSpc>
                <a:spcPct val="100000"/>
              </a:lnSpc>
              <a:spcBef>
                <a:spcPts val="0"/>
              </a:spcBef>
              <a:spcAft>
                <a:spcPts val="0"/>
              </a:spcAft>
            </a:pPr>
            <a:r>
              <a:rPr sz="1380" b="0">
                <a:solidFill>
                  <a:srgbClr val="586B62"/>
                </a:solidFill>
                <a:latin typeface="Arial"/>
              </a:rPr>
              <a:t>A workflow I owned from 2020 to 2026, improved one constraint at a time.</a:t>
            </a:r>
          </a:p>
        </p:txBody>
      </p:sp>
      <p:sp>
        <p:nvSpPr>
          <p:cNvPr id="25" name="Workforce scale caption"/>
          <p:cNvSpPr txBox="1"/>
          <p:nvPr/>
        </p:nvSpPr>
        <p:spPr>
          <a:xfrm>
            <a:off x="624840" y="5524500"/>
            <a:ext cx="6248400" cy="258928"/>
          </a:xfrm>
          <a:prstGeom prst="rect">
            <a:avLst/>
          </a:prstGeom>
          <a:noFill/>
          <a:ln/>
        </p:spPr>
        <p:txBody>
          <a:bodyPr wrap="square" lIns="0" tIns="0" rIns="0" bIns="0" rtlCol="0" anchor="t"/>
          <a:lstStyle/>
          <a:p>
            <a:pPr algn="l" indent="0" marL="0">
              <a:lnSpc>
                <a:spcPct val="100000"/>
              </a:lnSpc>
              <a:buNone/>
            </a:pPr>
            <a:r>
              <a:rPr lang="en-US" sz="1560" dirty="0">
                <a:solidFill>
                  <a:srgbClr val="152F27"/>
                </a:solidFill>
                <a:latin typeface="Arial" pitchFamily="34" charset="0"/>
                <a:ea typeface="Arial" pitchFamily="34" charset="-122"/>
                <a:cs typeface="Arial" pitchFamily="34" charset="-120"/>
              </a:rPr>
              <a:t>total workforce exceeded twice the FTE peak.</a:t>
            </a:r>
            <a:endParaRPr lang="en-US" sz="15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4"/>
        </a:solidFill>
      </p:bgPr>
    </p:bg>
    <p:spTree>
      <p:nvGrpSpPr>
        <p:cNvPr id="1" name=""/>
        <p:cNvGrpSpPr/>
        <p:nvPr/>
      </p:nvGrpSpPr>
      <p:grpSpPr>
        <a:xfrm>
          <a:off x="0" y="0"/>
          <a:ext cx="0" cy="0"/>
          <a:chOff x="0" y="0"/>
          <a:chExt cx="0" cy="0"/>
        </a:xfrm>
      </p:grpSpPr>
      <p:sp>
        <p:nvSpPr>
          <p:cNvPr id="2" name="slide2_text_0"/>
          <p:cNvSpPr txBox="1"/>
          <p:nvPr/>
        </p:nvSpPr>
        <p:spPr>
          <a:xfrm>
            <a:off x="579120" y="533400"/>
            <a:ext cx="11033760" cy="459638"/>
          </a:xfrm>
          <a:prstGeom prst="rect">
            <a:avLst/>
          </a:prstGeom>
          <a:noFill/>
          <a:ln/>
        </p:spPr>
        <p:txBody>
          <a:bodyPr wrap="square" lIns="0" tIns="0" rIns="0" bIns="0" rtlCol="0" anchor="t"/>
          <a:lstStyle/>
          <a:p>
            <a:pPr algn="l" indent="0" marL="0">
              <a:lnSpc>
                <a:spcPct val="100000"/>
              </a:lnSpc>
              <a:buNone/>
            </a:pPr>
            <a:r>
              <a:rPr lang="en-US" sz="3240" b="1" dirty="0">
                <a:solidFill>
                  <a:srgbClr val="152F27"/>
                </a:solidFill>
                <a:latin typeface="Arial" pitchFamily="34" charset="0"/>
                <a:ea typeface="Arial" pitchFamily="34" charset="-122"/>
                <a:cs typeface="Arial" pitchFamily="34" charset="-120"/>
              </a:rPr>
              <a:t>Remote onboarding changed the job.</a:t>
            </a:r>
            <a:endParaRPr lang="en-US" sz="3240" dirty="0"/>
          </a:p>
        </p:txBody>
      </p:sp>
      <p:sp>
        <p:nvSpPr>
          <p:cNvPr id="3" name="slide2_text_1"/>
          <p:cNvSpPr txBox="1"/>
          <p:nvPr/>
        </p:nvSpPr>
        <p:spPr>
          <a:xfrm>
            <a:off x="594360" y="1165860"/>
            <a:ext cx="10881360" cy="288341"/>
          </a:xfrm>
          <a:prstGeom prst="rect">
            <a:avLst/>
          </a:prstGeom>
          <a:noFill/>
          <a:ln/>
        </p:spPr>
        <p:txBody>
          <a:bodyPr wrap="square" lIns="0" tIns="0" rIns="0" bIns="0" rtlCol="0" anchor="t"/>
          <a:lstStyle/>
          <a:p>
            <a:pPr algn="l" indent="0" marL="0">
              <a:lnSpc>
                <a:spcPct val="100000"/>
              </a:lnSpc>
              <a:buNone/>
            </a:pPr>
            <a:r>
              <a:rPr lang="en-US" sz="1680" dirty="0">
                <a:solidFill>
                  <a:srgbClr val="586B62"/>
                </a:solidFill>
                <a:latin typeface="Arial" pitchFamily="34" charset="0"/>
                <a:ea typeface="Arial" pitchFamily="34" charset="-122"/>
                <a:cs typeface="Arial" pitchFamily="34" charset="-120"/>
              </a:rPr>
              <a:t>The original model assumed people would start in an office.</a:t>
            </a:r>
            <a:endParaRPr lang="en-US" sz="1680" dirty="0"/>
          </a:p>
        </p:txBody>
      </p:sp>
      <p:sp>
        <p:nvSpPr>
          <p:cNvPr id="4" name="slide2_text_2"/>
          <p:cNvSpPr txBox="1"/>
          <p:nvPr/>
        </p:nvSpPr>
        <p:spPr>
          <a:xfrm>
            <a:off x="579120" y="2194560"/>
            <a:ext cx="3086100" cy="579120"/>
          </a:xfrm>
          <a:prstGeom prst="rect">
            <a:avLst/>
          </a:prstGeom>
          <a:noFill/>
          <a:ln/>
        </p:spPr>
        <p:txBody>
          <a:bodyPr wrap="square" lIns="0" tIns="0" rIns="0" bIns="0" rtlCol="0" anchor="t"/>
          <a:lstStyle/>
          <a:p>
            <a:pPr algn="l" indent="0" marL="0">
              <a:lnSpc>
                <a:spcPct val="100000"/>
              </a:lnSpc>
              <a:buNone/>
            </a:pPr>
            <a:r>
              <a:rPr lang="en-US" sz="4440" dirty="0">
                <a:solidFill>
                  <a:srgbClr val="A6B3A9"/>
                </a:solidFill>
                <a:latin typeface="Arial" pitchFamily="34" charset="0"/>
                <a:ea typeface="Arial" pitchFamily="34" charset="-122"/>
                <a:cs typeface="Arial" pitchFamily="34" charset="-120"/>
              </a:rPr>
              <a:t>01</a:t>
            </a:r>
            <a:endParaRPr lang="en-US" sz="4440" dirty="0"/>
          </a:p>
        </p:txBody>
      </p:sp>
      <p:sp>
        <p:nvSpPr>
          <p:cNvPr id="5" name="slide2_line_3"/>
          <p:cNvSpPr/>
          <p:nvPr/>
        </p:nvSpPr>
        <p:spPr>
          <a:xfrm>
            <a:off x="579120" y="2964180"/>
            <a:ext cx="3238500" cy="0"/>
          </a:xfrm>
          <a:prstGeom prst="line">
            <a:avLst/>
          </a:prstGeom>
          <a:noFill/>
          <a:ln w="22860">
            <a:solidFill>
              <a:srgbClr val="D2DCD3"/>
            </a:solidFill>
            <a:prstDash val="solid"/>
            <a:headEnd type="none"/>
            <a:tailEnd type="none"/>
          </a:ln>
        </p:spPr>
        <p:txBody>
          <a:bodyPr/>
          <a:p/>
        </p:txBody>
      </p:sp>
      <p:sp>
        <p:nvSpPr>
          <p:cNvPr id="6" name="slide2_text_4"/>
          <p:cNvSpPr txBox="1"/>
          <p:nvPr/>
        </p:nvSpPr>
        <p:spPr>
          <a:xfrm>
            <a:off x="579120" y="3223260"/>
            <a:ext cx="3238500" cy="345948"/>
          </a:xfrm>
          <a:prstGeom prst="rect">
            <a:avLst/>
          </a:prstGeom>
          <a:noFill/>
          <a:ln/>
        </p:spPr>
        <p:txBody>
          <a:bodyPr wrap="square" lIns="0" tIns="0" rIns="0" bIns="0" rtlCol="0" anchor="t"/>
          <a:lstStyle/>
          <a:p>
            <a:pPr algn="l" indent="0" marL="0">
              <a:lnSpc>
                <a:spcPct val="100000"/>
              </a:lnSpc>
              <a:buNone/>
            </a:pPr>
            <a:r>
              <a:rPr lang="en-US" sz="2100" b="1" dirty="0">
                <a:solidFill>
                  <a:srgbClr val="152F27"/>
                </a:solidFill>
                <a:latin typeface="Arial" pitchFamily="34" charset="0"/>
                <a:ea typeface="Arial" pitchFamily="34" charset="-122"/>
                <a:cs typeface="Arial" pitchFamily="34" charset="-120"/>
              </a:rPr>
              <a:t>Local offices</a:t>
            </a:r>
            <a:endParaRPr lang="en-US" sz="2100" dirty="0"/>
          </a:p>
        </p:txBody>
      </p:sp>
      <p:sp>
        <p:nvSpPr>
          <p:cNvPr id="7" name="slide2_text_5"/>
          <p:cNvSpPr txBox="1"/>
          <p:nvPr/>
        </p:nvSpPr>
        <p:spPr>
          <a:xfrm>
            <a:off x="579120" y="3695700"/>
            <a:ext cx="3162300" cy="316992"/>
          </a:xfrm>
          <a:prstGeom prst="rect">
            <a:avLst/>
          </a:prstGeom>
          <a:noFill/>
          <a:ln/>
        </p:spPr>
        <p:txBody>
          <a:bodyPr wrap="square" lIns="0" tIns="0" rIns="0" bIns="0" rtlCol="0" anchor="t"/>
          <a:lstStyle/>
          <a:p>
            <a:pPr algn="l" indent="0" marL="0">
              <a:lnSpc>
                <a:spcPct val="100000"/>
              </a:lnSpc>
              <a:buNone/>
            </a:pPr>
            <a:r>
              <a:rPr lang="en-US" sz="1800" dirty="0">
                <a:solidFill>
                  <a:srgbClr val="152F27"/>
                </a:solidFill>
                <a:latin typeface="Arial" pitchFamily="34" charset="0"/>
                <a:ea typeface="Arial" pitchFamily="34" charset="-122"/>
                <a:cs typeface="Arial" pitchFamily="34" charset="-120"/>
              </a:rPr>
              <a:t>Each office created its own</a:t>
            </a:r>
            <a:endParaRPr lang="en-US" sz="1800" dirty="0"/>
          </a:p>
        </p:txBody>
      </p:sp>
      <p:sp>
        <p:nvSpPr>
          <p:cNvPr id="8" name="slide2_text_5"/>
          <p:cNvSpPr txBox="1"/>
          <p:nvPr/>
        </p:nvSpPr>
        <p:spPr>
          <a:xfrm>
            <a:off x="579120" y="3997452"/>
            <a:ext cx="3162300" cy="316992"/>
          </a:xfrm>
          <a:prstGeom prst="rect">
            <a:avLst/>
          </a:prstGeom>
          <a:noFill/>
          <a:ln/>
        </p:spPr>
        <p:txBody>
          <a:bodyPr wrap="square" lIns="0" tIns="0" rIns="0" bIns="0" rtlCol="0" anchor="t"/>
          <a:lstStyle/>
          <a:p>
            <a:pPr algn="l" indent="0" marL="0">
              <a:lnSpc>
                <a:spcPct val="100000"/>
              </a:lnSpc>
              <a:buNone/>
            </a:pPr>
            <a:r>
              <a:rPr lang="en-US" sz="1800" dirty="0">
                <a:solidFill>
                  <a:srgbClr val="152F27"/>
                </a:solidFill>
                <a:latin typeface="Arial" pitchFamily="34" charset="0"/>
                <a:ea typeface="Arial" pitchFamily="34" charset="-122"/>
                <a:cs typeface="Arial" pitchFamily="34" charset="-120"/>
              </a:rPr>
              <a:t>accounts and handed new</a:t>
            </a:r>
            <a:endParaRPr lang="en-US" sz="1800" dirty="0"/>
          </a:p>
        </p:txBody>
      </p:sp>
      <p:sp>
        <p:nvSpPr>
          <p:cNvPr id="9" name="slide2_text_5"/>
          <p:cNvSpPr txBox="1"/>
          <p:nvPr/>
        </p:nvSpPr>
        <p:spPr>
          <a:xfrm>
            <a:off x="579120" y="4299204"/>
            <a:ext cx="3162300" cy="316992"/>
          </a:xfrm>
          <a:prstGeom prst="rect">
            <a:avLst/>
          </a:prstGeom>
          <a:noFill/>
          <a:ln/>
        </p:spPr>
        <p:txBody>
          <a:bodyPr wrap="square" lIns="0" tIns="0" rIns="0" bIns="0" rtlCol="0" anchor="t"/>
          <a:lstStyle/>
          <a:p>
            <a:pPr algn="l" indent="0" marL="0">
              <a:lnSpc>
                <a:spcPct val="100000"/>
              </a:lnSpc>
              <a:buNone/>
            </a:pPr>
            <a:r>
              <a:rPr lang="en-US" sz="1800" dirty="0">
                <a:solidFill>
                  <a:srgbClr val="152F27"/>
                </a:solidFill>
                <a:latin typeface="Arial" pitchFamily="34" charset="0"/>
                <a:ea typeface="Arial" pitchFamily="34" charset="-122"/>
                <a:cs typeface="Arial" pitchFamily="34" charset="-120"/>
              </a:rPr>
              <a:t>hires printed passwords and</a:t>
            </a:r>
            <a:endParaRPr lang="en-US" sz="1800" dirty="0"/>
          </a:p>
        </p:txBody>
      </p:sp>
      <p:sp>
        <p:nvSpPr>
          <p:cNvPr id="10" name="slide2_text_5"/>
          <p:cNvSpPr txBox="1"/>
          <p:nvPr/>
        </p:nvSpPr>
        <p:spPr>
          <a:xfrm>
            <a:off x="579120" y="4600956"/>
            <a:ext cx="3162300" cy="316992"/>
          </a:xfrm>
          <a:prstGeom prst="rect">
            <a:avLst/>
          </a:prstGeom>
          <a:noFill/>
          <a:ln/>
        </p:spPr>
        <p:txBody>
          <a:bodyPr wrap="square" lIns="0" tIns="0" rIns="0" bIns="0" rtlCol="0" anchor="t"/>
          <a:lstStyle/>
          <a:p>
            <a:pPr algn="l" indent="0" marL="0">
              <a:lnSpc>
                <a:spcPct val="100000"/>
              </a:lnSpc>
              <a:buNone/>
            </a:pPr>
            <a:r>
              <a:rPr lang="en-US" sz="1800" dirty="0">
                <a:solidFill>
                  <a:srgbClr val="152F27"/>
                </a:solidFill>
                <a:latin typeface="Arial" pitchFamily="34" charset="0"/>
                <a:ea typeface="Arial" pitchFamily="34" charset="-122"/>
                <a:cs typeface="Arial" pitchFamily="34" charset="-120"/>
              </a:rPr>
              <a:t>instructions.</a:t>
            </a:r>
            <a:endParaRPr lang="en-US" sz="1800" dirty="0"/>
          </a:p>
        </p:txBody>
      </p:sp>
      <p:sp>
        <p:nvSpPr>
          <p:cNvPr id="11" name="slide2_line_6"/>
          <p:cNvSpPr/>
          <p:nvPr/>
        </p:nvSpPr>
        <p:spPr>
          <a:xfrm>
            <a:off x="3939540" y="3413760"/>
            <a:ext cx="259080" cy="0"/>
          </a:xfrm>
          <a:prstGeom prst="line">
            <a:avLst/>
          </a:prstGeom>
          <a:noFill/>
          <a:ln w="22860">
            <a:solidFill>
              <a:srgbClr val="9AAA9E"/>
            </a:solidFill>
            <a:prstDash val="solid"/>
            <a:headEnd type="none"/>
            <a:tailEnd type="none"/>
          </a:ln>
        </p:spPr>
        <p:txBody>
          <a:bodyPr/>
          <a:p/>
        </p:txBody>
      </p:sp>
      <p:sp>
        <p:nvSpPr>
          <p:cNvPr id="12" name="slide2_poly_7"/>
          <p:cNvSpPr/>
          <p:nvPr/>
        </p:nvSpPr>
        <p:spPr>
          <a:xfrm>
            <a:off x="4198620" y="3368040"/>
            <a:ext cx="91440" cy="91440"/>
          </a:xfrm>
          <a:custGeom>
            <a:avLst/>
            <a:gdLst/>
            <a:ahLst/>
            <a:cxnLst/>
            <a:rect l="l" t="t" r="r" b="b"/>
            <a:pathLst>
              <a:path w="91440" h="91440">
                <a:moveTo>
                  <a:pt x="91440" y="45720"/>
                </a:moveTo>
                <a:lnTo>
                  <a:pt x="0" y="91440"/>
                </a:lnTo>
                <a:lnTo>
                  <a:pt x="0" y="0"/>
                </a:lnTo>
                <a:close/>
              </a:path>
            </a:pathLst>
          </a:custGeom>
          <a:solidFill>
            <a:srgbClr val="9AAA9E"/>
          </a:solidFill>
          <a:ln w="12700">
            <a:solidFill>
              <a:srgbClr val="9AAA9E">
                <a:alpha val="0"/>
              </a:srgbClr>
            </a:solidFill>
            <a:prstDash val="solid"/>
          </a:ln>
        </p:spPr>
        <p:txBody>
          <a:bodyPr/>
          <a:p/>
        </p:txBody>
      </p:sp>
      <p:sp>
        <p:nvSpPr>
          <p:cNvPr id="13" name="slide2_text_8"/>
          <p:cNvSpPr txBox="1"/>
          <p:nvPr/>
        </p:nvSpPr>
        <p:spPr>
          <a:xfrm>
            <a:off x="4472940" y="2194560"/>
            <a:ext cx="3086100" cy="579120"/>
          </a:xfrm>
          <a:prstGeom prst="rect">
            <a:avLst/>
          </a:prstGeom>
          <a:noFill/>
          <a:ln/>
        </p:spPr>
        <p:txBody>
          <a:bodyPr wrap="square" lIns="0" tIns="0" rIns="0" bIns="0" rtlCol="0" anchor="t"/>
          <a:lstStyle/>
          <a:p>
            <a:pPr algn="l" indent="0" marL="0">
              <a:lnSpc>
                <a:spcPct val="100000"/>
              </a:lnSpc>
              <a:buNone/>
            </a:pPr>
            <a:r>
              <a:rPr lang="en-US" sz="4440" dirty="0">
                <a:solidFill>
                  <a:srgbClr val="A6B3A9"/>
                </a:solidFill>
                <a:latin typeface="Arial" pitchFamily="34" charset="0"/>
                <a:ea typeface="Arial" pitchFamily="34" charset="-122"/>
                <a:cs typeface="Arial" pitchFamily="34" charset="-120"/>
              </a:rPr>
              <a:t>02</a:t>
            </a:r>
            <a:endParaRPr lang="en-US" sz="4440" dirty="0"/>
          </a:p>
        </p:txBody>
      </p:sp>
      <p:sp>
        <p:nvSpPr>
          <p:cNvPr id="14" name="slide2_line_9"/>
          <p:cNvSpPr/>
          <p:nvPr/>
        </p:nvSpPr>
        <p:spPr>
          <a:xfrm>
            <a:off x="4472940" y="2964180"/>
            <a:ext cx="3238500" cy="0"/>
          </a:xfrm>
          <a:prstGeom prst="line">
            <a:avLst/>
          </a:prstGeom>
          <a:noFill/>
          <a:ln w="22860">
            <a:solidFill>
              <a:srgbClr val="D2DCD3"/>
            </a:solidFill>
            <a:prstDash val="solid"/>
            <a:headEnd type="none"/>
            <a:tailEnd type="none"/>
          </a:ln>
        </p:spPr>
        <p:txBody>
          <a:bodyPr/>
          <a:p/>
        </p:txBody>
      </p:sp>
      <p:sp>
        <p:nvSpPr>
          <p:cNvPr id="15" name="slide2_text_10"/>
          <p:cNvSpPr txBox="1"/>
          <p:nvPr/>
        </p:nvSpPr>
        <p:spPr>
          <a:xfrm>
            <a:off x="4472940" y="3223260"/>
            <a:ext cx="3238500" cy="345948"/>
          </a:xfrm>
          <a:prstGeom prst="rect">
            <a:avLst/>
          </a:prstGeom>
          <a:noFill/>
          <a:ln/>
        </p:spPr>
        <p:txBody>
          <a:bodyPr wrap="square" lIns="0" tIns="0" rIns="0" bIns="0" rtlCol="0" anchor="t"/>
          <a:lstStyle/>
          <a:p>
            <a:pPr algn="l" indent="0" marL="0">
              <a:lnSpc>
                <a:spcPct val="100000"/>
              </a:lnSpc>
              <a:buNone/>
            </a:pPr>
            <a:r>
              <a:rPr lang="en-US" sz="2100" b="1" dirty="0">
                <a:solidFill>
                  <a:srgbClr val="152F27"/>
                </a:solidFill>
                <a:latin typeface="Arial" pitchFamily="34" charset="0"/>
                <a:ea typeface="Arial" pitchFamily="34" charset="-122"/>
                <a:cs typeface="Arial" pitchFamily="34" charset="-120"/>
              </a:rPr>
              <a:t>Remote hiring</a:t>
            </a:r>
            <a:endParaRPr lang="en-US" sz="2100" dirty="0"/>
          </a:p>
        </p:txBody>
      </p:sp>
      <p:sp>
        <p:nvSpPr>
          <p:cNvPr id="16" name="slide2_text_11"/>
          <p:cNvSpPr txBox="1"/>
          <p:nvPr/>
        </p:nvSpPr>
        <p:spPr>
          <a:xfrm>
            <a:off x="4472940" y="3695700"/>
            <a:ext cx="3162300" cy="316992"/>
          </a:xfrm>
          <a:prstGeom prst="rect">
            <a:avLst/>
          </a:prstGeom>
          <a:noFill/>
          <a:ln/>
        </p:spPr>
        <p:txBody>
          <a:bodyPr wrap="none" lIns="0" tIns="0" rIns="0" bIns="0" rtlCol="0" anchor="t">
            <a:noAutofit/>
          </a:bodyPr>
          <a:lstStyle/>
          <a:p>
            <a:pPr algn="l" indent="0" marL="0">
              <a:lnSpc>
                <a:spcPct val="100000"/>
              </a:lnSpc>
              <a:buNone/>
            </a:pPr>
            <a:r>
              <a:rPr lang="en-US" sz="1800" dirty="0">
                <a:solidFill>
                  <a:srgbClr val="152F27"/>
                </a:solidFill>
                <a:latin typeface="Arial" pitchFamily="34" charset="0"/>
                <a:ea typeface="Arial" pitchFamily="34" charset="-122"/>
                <a:cs typeface="Arial" pitchFamily="34" charset="-120"/>
              </a:rPr>
              <a:t>New hires joined remotely.</a:t>
            </a:r>
            <a:endParaRPr lang="en-US" sz="1800" dirty="0"/>
          </a:p>
        </p:txBody>
      </p:sp>
      <p:sp>
        <p:nvSpPr>
          <p:cNvPr id="17" name="slide2_text_11"/>
          <p:cNvSpPr txBox="1"/>
          <p:nvPr/>
        </p:nvSpPr>
        <p:spPr>
          <a:xfrm>
            <a:off x="4472940" y="3997452"/>
            <a:ext cx="3162300" cy="316992"/>
          </a:xfrm>
          <a:prstGeom prst="rect">
            <a:avLst/>
          </a:prstGeom>
          <a:noFill/>
          <a:ln/>
        </p:spPr>
        <p:txBody>
          <a:bodyPr wrap="none" lIns="0" tIns="0" rIns="0" bIns="0" rtlCol="0" anchor="t">
            <a:noAutofit/>
          </a:bodyPr>
          <a:lstStyle/>
          <a:p>
            <a:pPr algn="l" indent="0" marL="0">
              <a:lnSpc>
                <a:spcPct val="100000"/>
              </a:lnSpc>
              <a:buNone/>
            </a:pPr>
            <a:r>
              <a:rPr lang="en-US" sz="1800" dirty="0">
                <a:solidFill>
                  <a:srgbClr val="152F27"/>
                </a:solidFill>
                <a:latin typeface="Arial" pitchFamily="34" charset="0"/>
                <a:ea typeface="Arial" pitchFamily="34" charset="-122"/>
                <a:cs typeface="Arial" pitchFamily="34" charset="-120"/>
              </a:rPr>
              <a:t>We needed to create accounts</a:t>
            </a:r>
            <a:endParaRPr lang="en-US" sz="1800" dirty="0"/>
          </a:p>
        </p:txBody>
      </p:sp>
      <p:sp>
        <p:nvSpPr>
          <p:cNvPr id="18" name="slide2_text_11"/>
          <p:cNvSpPr txBox="1"/>
          <p:nvPr/>
        </p:nvSpPr>
        <p:spPr>
          <a:xfrm>
            <a:off x="4472940" y="4299204"/>
            <a:ext cx="3162300" cy="316992"/>
          </a:xfrm>
          <a:prstGeom prst="rect">
            <a:avLst/>
          </a:prstGeom>
          <a:noFill/>
          <a:ln/>
        </p:spPr>
        <p:txBody>
          <a:bodyPr wrap="none" lIns="0" tIns="0" rIns="0" bIns="0" rtlCol="0" anchor="t">
            <a:noAutofit/>
          </a:bodyPr>
          <a:lstStyle/>
          <a:p>
            <a:pPr algn="l" indent="0" marL="0">
              <a:lnSpc>
                <a:spcPct val="100000"/>
              </a:lnSpc>
              <a:buNone/>
            </a:pPr>
            <a:r>
              <a:rPr lang="en-US" sz="1800" dirty="0">
                <a:solidFill>
                  <a:srgbClr val="152F27"/>
                </a:solidFill>
                <a:latin typeface="Arial" pitchFamily="34" charset="0"/>
                <a:ea typeface="Arial" pitchFamily="34" charset="-122"/>
                <a:cs typeface="Arial" pitchFamily="34" charset="-120"/>
              </a:rPr>
              <a:t>and deliver login details</a:t>
            </a:r>
            <a:endParaRPr lang="en-US" sz="1800" dirty="0"/>
          </a:p>
        </p:txBody>
      </p:sp>
      <p:sp>
        <p:nvSpPr>
          <p:cNvPr id="19" name="slide2_text_11"/>
          <p:cNvSpPr txBox="1"/>
          <p:nvPr/>
        </p:nvSpPr>
        <p:spPr>
          <a:xfrm>
            <a:off x="4472940" y="4600956"/>
            <a:ext cx="3162300" cy="316992"/>
          </a:xfrm>
          <a:prstGeom prst="rect">
            <a:avLst/>
          </a:prstGeom>
          <a:noFill/>
          <a:ln/>
        </p:spPr>
        <p:txBody>
          <a:bodyPr wrap="none" lIns="0" tIns="0" rIns="0" bIns="0" rtlCol="0" anchor="t">
            <a:noAutofit/>
          </a:bodyPr>
          <a:lstStyle/>
          <a:p>
            <a:pPr algn="l" indent="0" marL="0">
              <a:lnSpc>
                <a:spcPct val="100000"/>
              </a:lnSpc>
              <a:buNone/>
            </a:pPr>
            <a:r>
              <a:rPr lang="en-US" sz="1800" dirty="0">
                <a:solidFill>
                  <a:srgbClr val="152F27"/>
                </a:solidFill>
                <a:latin typeface="Arial" pitchFamily="34" charset="0"/>
                <a:ea typeface="Arial" pitchFamily="34" charset="-122"/>
                <a:cs typeface="Arial" pitchFamily="34" charset="-120"/>
              </a:rPr>
              <a:t>without meeting in person.</a:t>
            </a:r>
            <a:endParaRPr lang="en-US" sz="1800" dirty="0"/>
          </a:p>
        </p:txBody>
      </p:sp>
      <p:sp>
        <p:nvSpPr>
          <p:cNvPr id="20" name="slide2_line_12"/>
          <p:cNvSpPr/>
          <p:nvPr/>
        </p:nvSpPr>
        <p:spPr>
          <a:xfrm>
            <a:off x="7833360" y="3413760"/>
            <a:ext cx="259080" cy="0"/>
          </a:xfrm>
          <a:prstGeom prst="line">
            <a:avLst/>
          </a:prstGeom>
          <a:noFill/>
          <a:ln w="22860">
            <a:solidFill>
              <a:srgbClr val="9AAA9E"/>
            </a:solidFill>
            <a:prstDash val="solid"/>
            <a:headEnd type="none"/>
            <a:tailEnd type="none"/>
          </a:ln>
        </p:spPr>
        <p:txBody>
          <a:bodyPr/>
          <a:p/>
        </p:txBody>
      </p:sp>
      <p:sp>
        <p:nvSpPr>
          <p:cNvPr id="21" name="slide2_poly_13"/>
          <p:cNvSpPr/>
          <p:nvPr/>
        </p:nvSpPr>
        <p:spPr>
          <a:xfrm>
            <a:off x="8092440" y="3368040"/>
            <a:ext cx="91440" cy="91440"/>
          </a:xfrm>
          <a:custGeom>
            <a:avLst/>
            <a:gdLst/>
            <a:ahLst/>
            <a:cxnLst/>
            <a:rect l="l" t="t" r="r" b="b"/>
            <a:pathLst>
              <a:path w="91440" h="91440">
                <a:moveTo>
                  <a:pt x="91440" y="45720"/>
                </a:moveTo>
                <a:lnTo>
                  <a:pt x="0" y="91440"/>
                </a:lnTo>
                <a:lnTo>
                  <a:pt x="0" y="0"/>
                </a:lnTo>
                <a:close/>
              </a:path>
            </a:pathLst>
          </a:custGeom>
          <a:solidFill>
            <a:srgbClr val="9AAA9E"/>
          </a:solidFill>
          <a:ln w="12700">
            <a:solidFill>
              <a:srgbClr val="9AAA9E">
                <a:alpha val="0"/>
              </a:srgbClr>
            </a:solidFill>
            <a:prstDash val="solid"/>
          </a:ln>
        </p:spPr>
        <p:txBody>
          <a:bodyPr/>
          <a:p/>
        </p:txBody>
      </p:sp>
      <p:sp>
        <p:nvSpPr>
          <p:cNvPr id="22" name="slide2_text_14"/>
          <p:cNvSpPr txBox="1"/>
          <p:nvPr/>
        </p:nvSpPr>
        <p:spPr>
          <a:xfrm>
            <a:off x="8366760" y="2194560"/>
            <a:ext cx="3086100" cy="579120"/>
          </a:xfrm>
          <a:prstGeom prst="rect">
            <a:avLst/>
          </a:prstGeom>
          <a:noFill/>
          <a:ln/>
        </p:spPr>
        <p:txBody>
          <a:bodyPr wrap="square" lIns="0" tIns="0" rIns="0" bIns="0" rtlCol="0" anchor="t"/>
          <a:lstStyle/>
          <a:p>
            <a:pPr algn="l" indent="0" marL="0">
              <a:lnSpc>
                <a:spcPct val="100000"/>
              </a:lnSpc>
              <a:buNone/>
            </a:pPr>
            <a:r>
              <a:rPr lang="en-US" sz="4440" dirty="0">
                <a:solidFill>
                  <a:srgbClr val="176C4B"/>
                </a:solidFill>
                <a:latin typeface="Arial" pitchFamily="34" charset="0"/>
                <a:ea typeface="Arial" pitchFamily="34" charset="-122"/>
                <a:cs typeface="Arial" pitchFamily="34" charset="-120"/>
              </a:rPr>
              <a:t>03</a:t>
            </a:r>
            <a:endParaRPr lang="en-US" sz="4440" dirty="0"/>
          </a:p>
        </p:txBody>
      </p:sp>
      <p:sp>
        <p:nvSpPr>
          <p:cNvPr id="23" name="slide2_line_15"/>
          <p:cNvSpPr/>
          <p:nvPr/>
        </p:nvSpPr>
        <p:spPr>
          <a:xfrm>
            <a:off x="8366760" y="2964180"/>
            <a:ext cx="3238500" cy="0"/>
          </a:xfrm>
          <a:prstGeom prst="line">
            <a:avLst/>
          </a:prstGeom>
          <a:noFill/>
          <a:ln w="22860">
            <a:solidFill>
              <a:srgbClr val="176C4B"/>
            </a:solidFill>
            <a:prstDash val="solid"/>
            <a:headEnd type="none"/>
            <a:tailEnd type="none"/>
          </a:ln>
        </p:spPr>
        <p:txBody>
          <a:bodyPr/>
          <a:p/>
        </p:txBody>
      </p:sp>
      <p:sp>
        <p:nvSpPr>
          <p:cNvPr id="24" name="slide2_text_16"/>
          <p:cNvSpPr txBox="1"/>
          <p:nvPr/>
        </p:nvSpPr>
        <p:spPr>
          <a:xfrm>
            <a:off x="8366760" y="3223260"/>
            <a:ext cx="3238500" cy="345948"/>
          </a:xfrm>
          <a:prstGeom prst="rect">
            <a:avLst/>
          </a:prstGeom>
          <a:noFill/>
          <a:ln/>
        </p:spPr>
        <p:txBody>
          <a:bodyPr wrap="square" lIns="0" tIns="0" rIns="0" bIns="0" rtlCol="0" anchor="t"/>
          <a:lstStyle/>
          <a:p>
            <a:pPr algn="l" indent="0" marL="0">
              <a:lnSpc>
                <a:spcPct val="100000"/>
              </a:lnSpc>
              <a:buNone/>
            </a:pPr>
            <a:r>
              <a:rPr lang="en-US" sz="2100" b="1" dirty="0">
                <a:solidFill>
                  <a:srgbClr val="176C4B"/>
                </a:solidFill>
                <a:latin typeface="Arial" pitchFamily="34" charset="0"/>
                <a:ea typeface="Arial" pitchFamily="34" charset="-122"/>
                <a:cs typeface="Arial" pitchFamily="34" charset="-120"/>
              </a:rPr>
              <a:t>One shared process</a:t>
            </a:r>
            <a:endParaRPr lang="en-US" sz="2100" dirty="0"/>
          </a:p>
        </p:txBody>
      </p:sp>
      <p:sp>
        <p:nvSpPr>
          <p:cNvPr id="25" name="slide2_text_17"/>
          <p:cNvSpPr txBox="1"/>
          <p:nvPr/>
        </p:nvSpPr>
        <p:spPr>
          <a:xfrm>
            <a:off x="8366760" y="3695700"/>
            <a:ext cx="3162300" cy="316992"/>
          </a:xfrm>
          <a:prstGeom prst="rect">
            <a:avLst/>
          </a:prstGeom>
          <a:noFill/>
          <a:ln/>
        </p:spPr>
        <p:txBody>
          <a:bodyPr wrap="square" lIns="0" tIns="0" rIns="0" bIns="0" rtlCol="0" anchor="t"/>
          <a:lstStyle/>
          <a:p>
            <a:pPr algn="l" indent="0" marL="0">
              <a:lnSpc>
                <a:spcPct val="100000"/>
              </a:lnSpc>
              <a:buNone/>
            </a:pPr>
            <a:r>
              <a:rPr lang="en-US" sz="1800" dirty="0">
                <a:solidFill>
                  <a:srgbClr val="152F27"/>
                </a:solidFill>
                <a:latin typeface="Arial" pitchFamily="34" charset="0"/>
                <a:ea typeface="Arial" pitchFamily="34" charset="-122"/>
                <a:cs typeface="Arial" pitchFamily="34" charset="-120"/>
              </a:rPr>
              <a:t>We centralized creation across</a:t>
            </a:r>
            <a:endParaRPr lang="en-US" sz="1800" dirty="0"/>
          </a:p>
        </p:txBody>
      </p:sp>
      <p:sp>
        <p:nvSpPr>
          <p:cNvPr id="26" name="slide2_text_17"/>
          <p:cNvSpPr txBox="1"/>
          <p:nvPr/>
        </p:nvSpPr>
        <p:spPr>
          <a:xfrm>
            <a:off x="8366760" y="3997452"/>
            <a:ext cx="3162300" cy="316992"/>
          </a:xfrm>
          <a:prstGeom prst="rect">
            <a:avLst/>
          </a:prstGeom>
          <a:noFill/>
          <a:ln/>
        </p:spPr>
        <p:txBody>
          <a:bodyPr wrap="square" lIns="0" tIns="0" rIns="0" bIns="0" rtlCol="0" anchor="t"/>
          <a:lstStyle/>
          <a:p>
            <a:pPr algn="l" indent="0" marL="0">
              <a:lnSpc>
                <a:spcPct val="100000"/>
              </a:lnSpc>
              <a:buNone/>
            </a:pPr>
            <a:r>
              <a:rPr lang="en-US" sz="1800" dirty="0">
                <a:solidFill>
                  <a:srgbClr val="152F27"/>
                </a:solidFill>
                <a:latin typeface="Arial" pitchFamily="34" charset="0"/>
                <a:ea typeface="Arial" pitchFamily="34" charset="-122"/>
                <a:cs typeface="Arial" pitchFamily="34" charset="-120"/>
              </a:rPr>
              <a:t>three people. I owned Cash</a:t>
            </a:r>
            <a:endParaRPr lang="en-US" sz="1800" dirty="0"/>
          </a:p>
        </p:txBody>
      </p:sp>
      <p:sp>
        <p:nvSpPr>
          <p:cNvPr id="27" name="slide2_text_17"/>
          <p:cNvSpPr txBox="1"/>
          <p:nvPr/>
        </p:nvSpPr>
        <p:spPr>
          <a:xfrm>
            <a:off x="8366760" y="4299204"/>
            <a:ext cx="3162300" cy="316992"/>
          </a:xfrm>
          <a:prstGeom prst="rect">
            <a:avLst/>
          </a:prstGeom>
          <a:noFill/>
          <a:ln/>
        </p:spPr>
        <p:txBody>
          <a:bodyPr wrap="square" lIns="0" tIns="0" rIns="0" bIns="0" rtlCol="0" anchor="t"/>
          <a:lstStyle/>
          <a:p>
            <a:pPr algn="l" indent="0" marL="0">
              <a:lnSpc>
                <a:spcPct val="100000"/>
              </a:lnSpc>
              <a:buNone/>
            </a:pPr>
            <a:r>
              <a:rPr lang="en-US" sz="1800" dirty="0">
                <a:solidFill>
                  <a:srgbClr val="152F27"/>
                </a:solidFill>
                <a:latin typeface="Arial" pitchFamily="34" charset="0"/>
                <a:ea typeface="Arial" pitchFamily="34" charset="-122"/>
                <a:cs typeface="Arial" pitchFamily="34" charset="-120"/>
              </a:rPr>
              <a:t>App’s accounts.</a:t>
            </a:r>
            <a:endParaRPr lang="en-US" sz="1800" dirty="0"/>
          </a:p>
        </p:txBody>
      </p:sp>
      <p:sp>
        <p:nvSpPr>
          <p:cNvPr id="28" name="slide2_text_18"/>
          <p:cNvSpPr txBox="1"/>
          <p:nvPr/>
        </p:nvSpPr>
        <p:spPr>
          <a:xfrm>
            <a:off x="594360" y="5638800"/>
            <a:ext cx="10820400" cy="289255"/>
          </a:xfrm>
          <a:prstGeom prst="rect">
            <a:avLst/>
          </a:prstGeom>
          <a:noFill/>
          <a:ln/>
        </p:spPr>
        <p:txBody>
          <a:bodyPr wrap="square" lIns="0" tIns="0" rIns="0" bIns="0" rtlCol="0" anchor="t"/>
          <a:lstStyle/>
          <a:p>
            <a:pPr algn="l" indent="0" marL="0">
              <a:lnSpc>
                <a:spcPct val="100000"/>
              </a:lnSpc>
              <a:buNone/>
            </a:pPr>
            <a:r>
              <a:rPr lang="en-US" sz="1740" dirty="0">
                <a:solidFill>
                  <a:srgbClr val="586B62"/>
                </a:solidFill>
                <a:latin typeface="Arial" pitchFamily="34" charset="0"/>
                <a:ea typeface="Arial" pitchFamily="34" charset="-122"/>
                <a:cs typeface="Arial" pitchFamily="34" charset="-120"/>
              </a:rPr>
              <a:t>I started with Cash App, then took on broader account creation work across Block.</a:t>
            </a:r>
            <a:endParaRPr lang="en-US" sz="1740" dirty="0"/>
          </a:p>
        </p:txBody>
      </p:sp>
      <p:sp>
        <p:nvSpPr>
          <p:cNvPr id="29" name="slide2_line_19"/>
          <p:cNvSpPr/>
          <p:nvPr/>
        </p:nvSpPr>
        <p:spPr>
          <a:xfrm>
            <a:off x="579120" y="6301740"/>
            <a:ext cx="11033760" cy="0"/>
          </a:xfrm>
          <a:prstGeom prst="line">
            <a:avLst/>
          </a:prstGeom>
          <a:noFill/>
          <a:ln w="7620">
            <a:solidFill>
              <a:srgbClr val="D2DCD3"/>
            </a:solidFill>
            <a:prstDash val="solid"/>
            <a:headEnd type="none"/>
            <a:tailEnd type="none"/>
          </a:ln>
        </p:spPr>
        <p:txBody>
          <a:bodyPr/>
          <a:p/>
        </p:txBody>
      </p:sp>
      <p:sp>
        <p:nvSpPr>
          <p:cNvPr id="30" name="slide2_text_20"/>
          <p:cNvSpPr txBox="1"/>
          <p:nvPr/>
        </p:nvSpPr>
        <p:spPr>
          <a:xfrm>
            <a:off x="594360" y="6446520"/>
            <a:ext cx="6096000" cy="144780"/>
          </a:xfrm>
          <a:prstGeom prst="rect">
            <a:avLst/>
          </a:prstGeom>
          <a:noFill/>
          <a:ln/>
        </p:spPr>
        <p:txBody>
          <a:bodyPr wrap="square" lIns="0" tIns="0" rIns="0" bIns="0" rtlCol="0" anchor="t"/>
          <a:lstStyle/>
          <a:p>
            <a:pPr algn="l" indent="0" marL="0">
              <a:lnSpc>
                <a:spcPct val="100000"/>
              </a:lnSpc>
              <a:buNone/>
            </a:pPr>
            <a:r>
              <a:rPr lang="en-US" sz="1020" dirty="0">
                <a:solidFill>
                  <a:srgbClr val="586B62"/>
                </a:solidFill>
                <a:latin typeface="Arial" pitchFamily="34" charset="0"/>
                <a:ea typeface="Arial" pitchFamily="34" charset="-122"/>
                <a:cs typeface="Arial" pitchFamily="34" charset="-120"/>
              </a:rPr>
              <a:t>FRANKLIN WAGGONER / LAUNCHPAD</a:t>
            </a:r>
            <a:endParaRPr lang="en-US" sz="1020" dirty="0"/>
          </a:p>
        </p:txBody>
      </p:sp>
      <p:sp>
        <p:nvSpPr>
          <p:cNvPr id="31" name="slide2_text_21"/>
          <p:cNvSpPr txBox="1"/>
          <p:nvPr/>
        </p:nvSpPr>
        <p:spPr>
          <a:xfrm>
            <a:off x="10591800" y="6438900"/>
            <a:ext cx="1021080" cy="144780"/>
          </a:xfrm>
          <a:prstGeom prst="rect">
            <a:avLst/>
          </a:prstGeom>
          <a:noFill/>
          <a:ln/>
        </p:spPr>
        <p:txBody>
          <a:bodyPr wrap="square" lIns="0" tIns="0" rIns="0" bIns="0" rtlCol="0" anchor="t"/>
          <a:lstStyle/>
          <a:p>
            <a:pPr algn="r" indent="0" marL="0">
              <a:lnSpc>
                <a:spcPct val="100000"/>
              </a:lnSpc>
              <a:buNone/>
            </a:pPr>
            <a:r>
              <a:rPr lang="en-US" sz="1020" dirty="0">
                <a:solidFill>
                  <a:srgbClr val="586B62"/>
                </a:solidFill>
                <a:latin typeface="Arial" pitchFamily="34" charset="0"/>
                <a:ea typeface="Arial" pitchFamily="34" charset="-122"/>
                <a:cs typeface="Arial" pitchFamily="34" charset="-120"/>
              </a:rPr>
              <a:t>02 / 12</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4"/>
        </a:solidFill>
      </p:bgPr>
    </p:bg>
    <p:spTree>
      <p:nvGrpSpPr>
        <p:cNvPr id="1" name=""/>
        <p:cNvGrpSpPr/>
        <p:nvPr/>
      </p:nvGrpSpPr>
      <p:grpSpPr>
        <a:xfrm>
          <a:off x="0" y="0"/>
          <a:ext cx="0" cy="0"/>
          <a:chOff x="0" y="0"/>
          <a:chExt cx="0" cy="0"/>
        </a:xfrm>
      </p:grpSpPr>
      <p:sp>
        <p:nvSpPr>
          <p:cNvPr id="2" name="slide3_text_0"/>
          <p:cNvSpPr txBox="1"/>
          <p:nvPr/>
        </p:nvSpPr>
        <p:spPr>
          <a:xfrm>
            <a:off x="579120" y="533400"/>
            <a:ext cx="11033760" cy="459638"/>
          </a:xfrm>
          <a:prstGeom prst="rect">
            <a:avLst/>
          </a:prstGeom>
          <a:noFill/>
          <a:ln/>
        </p:spPr>
        <p:txBody>
          <a:bodyPr wrap="none" lIns="0" tIns="0" rIns="0" bIns="0" rtlCol="0" anchor="t">
            <a:noAutofit/>
          </a:bodyPr>
          <a:lstStyle/>
          <a:p>
            <a:pPr algn="l" indent="0" marL="0">
              <a:lnSpc>
                <a:spcPct val="100000"/>
              </a:lnSpc>
              <a:buNone/>
            </a:pPr>
            <a:r>
              <a:rPr lang="en-US" sz="3240" b="1" dirty="0">
                <a:solidFill>
                  <a:srgbClr val="152F27"/>
                </a:solidFill>
                <a:latin typeface="Arial" pitchFamily="34" charset="0"/>
                <a:ea typeface="Arial" pitchFamily="34" charset="-122"/>
                <a:cs typeface="Arial" pitchFamily="34" charset="-120"/>
              </a:rPr>
              <a:t>The script created accounts. I ran the process.</a:t>
            </a:r>
            <a:endParaRPr lang="en-US" sz="3240" dirty="0"/>
          </a:p>
        </p:txBody>
      </p:sp>
      <p:sp>
        <p:nvSpPr>
          <p:cNvPr id="3" name="slide3_text_1"/>
          <p:cNvSpPr txBox="1"/>
          <p:nvPr/>
        </p:nvSpPr>
        <p:spPr>
          <a:xfrm>
            <a:off x="594360" y="1165860"/>
            <a:ext cx="10881360" cy="288341"/>
          </a:xfrm>
          <a:prstGeom prst="rect">
            <a:avLst/>
          </a:prstGeom>
          <a:noFill/>
          <a:ln/>
        </p:spPr>
        <p:txBody>
          <a:bodyPr wrap="square" lIns="0" tIns="0" rIns="0" bIns="0" rtlCol="0" anchor="t"/>
          <a:lstStyle/>
          <a:p>
            <a:pPr algn="l" indent="0" marL="0">
              <a:lnSpc>
                <a:spcPct val="100000"/>
              </a:lnSpc>
              <a:buNone/>
            </a:pPr>
            <a:r>
              <a:rPr lang="en-US" sz="1680" dirty="0">
                <a:solidFill>
                  <a:srgbClr val="586B62"/>
                </a:solidFill>
                <a:latin typeface="Arial" pitchFamily="34" charset="0"/>
                <a:ea typeface="Arial" pitchFamily="34" charset="-122"/>
                <a:cs typeface="Arial" pitchFamily="34" charset="-120"/>
              </a:rPr>
              <a:t>Workday supplied the records. I handled the repeated steps and resolved the failures.</a:t>
            </a:r>
            <a:endParaRPr lang="en-US" sz="1680" dirty="0"/>
          </a:p>
        </p:txBody>
      </p:sp>
      <p:sp>
        <p:nvSpPr>
          <p:cNvPr id="4" name="slide3_rect_2"/>
          <p:cNvSpPr/>
          <p:nvPr/>
        </p:nvSpPr>
        <p:spPr>
          <a:xfrm>
            <a:off x="579120" y="2164080"/>
            <a:ext cx="1950720" cy="1097280"/>
          </a:xfrm>
          <a:prstGeom prst="roundRect">
            <a:avLst>
              <a:gd name="adj" fmla="val 5556"/>
            </a:avLst>
          </a:prstGeom>
          <a:solidFill>
            <a:srgbClr val="FFFFFF"/>
          </a:solidFill>
          <a:ln w="12192">
            <a:solidFill>
              <a:srgbClr val="D2DCD3"/>
            </a:solidFill>
            <a:prstDash val="solid"/>
          </a:ln>
        </p:spPr>
        <p:txBody>
          <a:bodyPr/>
          <a:p/>
        </p:txBody>
      </p:sp>
      <p:sp>
        <p:nvSpPr>
          <p:cNvPr id="5" name="slide3_text_3"/>
          <p:cNvSpPr txBox="1"/>
          <p:nvPr/>
        </p:nvSpPr>
        <p:spPr>
          <a:xfrm>
            <a:off x="762000" y="2346960"/>
            <a:ext cx="1584960" cy="245669"/>
          </a:xfrm>
          <a:prstGeom prst="rect">
            <a:avLst/>
          </a:prstGeom>
          <a:noFill/>
          <a:ln/>
        </p:spPr>
        <p:txBody>
          <a:bodyPr wrap="square" lIns="0" tIns="0" rIns="0" bIns="0" rtlCol="0" anchor="t"/>
          <a:lstStyle/>
          <a:p>
            <a:pPr algn="l" indent="0" marL="0">
              <a:lnSpc>
                <a:spcPct val="100000"/>
              </a:lnSpc>
              <a:buNone/>
            </a:pPr>
            <a:r>
              <a:rPr lang="en-US" sz="1620" b="1" dirty="0">
                <a:solidFill>
                  <a:srgbClr val="152F27"/>
                </a:solidFill>
                <a:latin typeface="Arial" pitchFamily="34" charset="0"/>
                <a:ea typeface="Arial" pitchFamily="34" charset="-122"/>
                <a:cs typeface="Arial" pitchFamily="34" charset="-120"/>
              </a:rPr>
              <a:t>Workday report</a:t>
            </a:r>
            <a:endParaRPr lang="en-US" sz="1620" dirty="0"/>
          </a:p>
        </p:txBody>
      </p:sp>
      <p:sp>
        <p:nvSpPr>
          <p:cNvPr id="6" name="slide3_text_4"/>
          <p:cNvSpPr txBox="1"/>
          <p:nvPr/>
        </p:nvSpPr>
        <p:spPr>
          <a:xfrm>
            <a:off x="762000" y="2638349"/>
            <a:ext cx="158496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Source records</a:t>
            </a:r>
            <a:endParaRPr lang="en-US" sz="1380" dirty="0"/>
          </a:p>
        </p:txBody>
      </p:sp>
      <p:sp>
        <p:nvSpPr>
          <p:cNvPr id="7" name="slide3_rect_5"/>
          <p:cNvSpPr/>
          <p:nvPr/>
        </p:nvSpPr>
        <p:spPr>
          <a:xfrm>
            <a:off x="2849880" y="2164080"/>
            <a:ext cx="1950720" cy="1097280"/>
          </a:xfrm>
          <a:prstGeom prst="roundRect">
            <a:avLst>
              <a:gd name="adj" fmla="val 5556"/>
            </a:avLst>
          </a:prstGeom>
          <a:solidFill>
            <a:srgbClr val="FFFFFF"/>
          </a:solidFill>
          <a:ln w="12192">
            <a:solidFill>
              <a:srgbClr val="D2DCD3"/>
            </a:solidFill>
            <a:prstDash val="solid"/>
          </a:ln>
        </p:spPr>
        <p:txBody>
          <a:bodyPr/>
          <a:p/>
        </p:txBody>
      </p:sp>
      <p:sp>
        <p:nvSpPr>
          <p:cNvPr id="8" name="slide3_text_6"/>
          <p:cNvSpPr txBox="1"/>
          <p:nvPr/>
        </p:nvSpPr>
        <p:spPr>
          <a:xfrm>
            <a:off x="3032760" y="2346960"/>
            <a:ext cx="1584960" cy="245669"/>
          </a:xfrm>
          <a:prstGeom prst="rect">
            <a:avLst/>
          </a:prstGeom>
          <a:noFill/>
          <a:ln/>
        </p:spPr>
        <p:txBody>
          <a:bodyPr wrap="none" lIns="0" tIns="0" rIns="0" bIns="0" rtlCol="0" anchor="t">
            <a:noAutofit/>
          </a:bodyPr>
          <a:lstStyle/>
          <a:p>
            <a:pPr algn="l" indent="0" marL="0">
              <a:lnSpc>
                <a:spcPct val="100000"/>
              </a:lnSpc>
              <a:buNone/>
            </a:pPr>
            <a:r>
              <a:rPr lang="en-US" sz="1620" b="1" dirty="0">
                <a:solidFill>
                  <a:srgbClr val="152F27"/>
                </a:solidFill>
                <a:latin typeface="Arial" pitchFamily="34" charset="0"/>
                <a:ea typeface="Arial" pitchFamily="34" charset="-122"/>
                <a:cs typeface="Arial" pitchFamily="34" charset="-120"/>
              </a:rPr>
              <a:t>I prepare input</a:t>
            </a:r>
            <a:endParaRPr lang="en-US" sz="1620" dirty="0"/>
          </a:p>
        </p:txBody>
      </p:sp>
      <p:sp>
        <p:nvSpPr>
          <p:cNvPr id="10" name="slide3_text_7"/>
          <p:cNvSpPr txBox="1"/>
          <p:nvPr/>
        </p:nvSpPr>
        <p:spPr>
          <a:xfrm>
            <a:off x="3032760" y="2638349"/>
            <a:ext cx="1584960" cy="225552"/>
          </a:xfrm>
          <a:prstGeom prst="rect">
            <a:avLst/>
          </a:prstGeom>
          <a:noFill/>
          <a:ln/>
        </p:spPr>
        <p:txBody>
          <a:bodyPr wrap="none" lIns="0" tIns="0" rIns="0" bIns="0" rtlCol="0" anchor="t">
            <a:noAutofit/>
          </a:bodyPr>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Name, worker type</a:t>
            </a:r>
            <a:endParaRPr lang="en-US" sz="1380" dirty="0"/>
          </a:p>
        </p:txBody>
      </p:sp>
      <p:sp>
        <p:nvSpPr>
          <p:cNvPr id="12" name="slide3_rect_8"/>
          <p:cNvSpPr/>
          <p:nvPr/>
        </p:nvSpPr>
        <p:spPr>
          <a:xfrm>
            <a:off x="5120640" y="2164080"/>
            <a:ext cx="1950720" cy="1097280"/>
          </a:xfrm>
          <a:prstGeom prst="roundRect">
            <a:avLst>
              <a:gd name="adj" fmla="val 5556"/>
            </a:avLst>
          </a:prstGeom>
          <a:solidFill>
            <a:srgbClr val="FFFFFF"/>
          </a:solidFill>
          <a:ln w="12192">
            <a:solidFill>
              <a:srgbClr val="D2DCD3"/>
            </a:solidFill>
            <a:prstDash val="solid"/>
          </a:ln>
        </p:spPr>
        <p:txBody>
          <a:bodyPr/>
          <a:p/>
        </p:txBody>
      </p:sp>
      <p:sp>
        <p:nvSpPr>
          <p:cNvPr id="13" name="slide3_text_9"/>
          <p:cNvSpPr txBox="1"/>
          <p:nvPr/>
        </p:nvSpPr>
        <p:spPr>
          <a:xfrm>
            <a:off x="5303520" y="2346960"/>
            <a:ext cx="1584960" cy="245669"/>
          </a:xfrm>
          <a:prstGeom prst="rect">
            <a:avLst/>
          </a:prstGeom>
          <a:noFill/>
          <a:ln/>
        </p:spPr>
        <p:txBody>
          <a:bodyPr wrap="none" lIns="0" tIns="0" rIns="0" bIns="0" rtlCol="0" anchor="t">
            <a:noAutofit/>
          </a:bodyPr>
          <a:lstStyle/>
          <a:p>
            <a:pPr algn="l" indent="0" marL="0">
              <a:lnSpc>
                <a:spcPct val="100000"/>
              </a:lnSpc>
              <a:buNone/>
            </a:pPr>
            <a:r>
              <a:rPr lang="en-US" sz="1620" b="1" dirty="0">
                <a:solidFill>
                  <a:srgbClr val="152F27"/>
                </a:solidFill>
                <a:latin typeface="Arial" pitchFamily="34" charset="0"/>
                <a:ea typeface="Arial" pitchFamily="34" charset="-122"/>
                <a:cs typeface="Arial" pitchFamily="34" charset="-120"/>
              </a:rPr>
              <a:t>Ruby script</a:t>
            </a:r>
            <a:endParaRPr lang="en-US" sz="1620" dirty="0"/>
          </a:p>
        </p:txBody>
      </p:sp>
      <p:sp>
        <p:nvSpPr>
          <p:cNvPr id="14" name="slide3_text_10"/>
          <p:cNvSpPr txBox="1"/>
          <p:nvPr/>
        </p:nvSpPr>
        <p:spPr>
          <a:xfrm>
            <a:off x="5303520" y="2638349"/>
            <a:ext cx="158496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Registry API</a:t>
            </a:r>
            <a:endParaRPr lang="en-US" sz="1380" dirty="0"/>
          </a:p>
        </p:txBody>
      </p:sp>
      <p:sp>
        <p:nvSpPr>
          <p:cNvPr id="15" name="slide3_rect_11"/>
          <p:cNvSpPr/>
          <p:nvPr/>
        </p:nvSpPr>
        <p:spPr>
          <a:xfrm>
            <a:off x="7391400" y="2164080"/>
            <a:ext cx="1950720" cy="1097280"/>
          </a:xfrm>
          <a:prstGeom prst="roundRect">
            <a:avLst>
              <a:gd name="adj" fmla="val 5556"/>
            </a:avLst>
          </a:prstGeom>
          <a:solidFill>
            <a:srgbClr val="FFFFFF"/>
          </a:solidFill>
          <a:ln w="12192">
            <a:solidFill>
              <a:srgbClr val="D2DCD3"/>
            </a:solidFill>
            <a:prstDash val="solid"/>
          </a:ln>
        </p:spPr>
        <p:txBody>
          <a:bodyPr/>
          <a:p/>
        </p:txBody>
      </p:sp>
      <p:sp>
        <p:nvSpPr>
          <p:cNvPr id="16" name="slide3_text_12"/>
          <p:cNvSpPr txBox="1"/>
          <p:nvPr/>
        </p:nvSpPr>
        <p:spPr>
          <a:xfrm>
            <a:off x="7574280" y="2346960"/>
            <a:ext cx="1584960" cy="245669"/>
          </a:xfrm>
          <a:prstGeom prst="rect">
            <a:avLst/>
          </a:prstGeom>
          <a:noFill/>
          <a:ln/>
        </p:spPr>
        <p:txBody>
          <a:bodyPr wrap="square" lIns="0" tIns="0" rIns="0" bIns="0" rtlCol="0" anchor="t"/>
          <a:lstStyle/>
          <a:p>
            <a:pPr algn="l" indent="0" marL="0">
              <a:lnSpc>
                <a:spcPct val="100000"/>
              </a:lnSpc>
              <a:buNone/>
            </a:pPr>
            <a:r>
              <a:rPr lang="en-US" sz="1620" b="1" dirty="0">
                <a:solidFill>
                  <a:srgbClr val="152F27"/>
                </a:solidFill>
                <a:latin typeface="Arial" pitchFamily="34" charset="0"/>
                <a:ea typeface="Arial" pitchFamily="34" charset="-122"/>
                <a:cs typeface="Arial" pitchFamily="34" charset="-120"/>
              </a:rPr>
              <a:t>Registry</a:t>
            </a:r>
            <a:endParaRPr lang="en-US" sz="1620" dirty="0"/>
          </a:p>
        </p:txBody>
      </p:sp>
      <p:sp>
        <p:nvSpPr>
          <p:cNvPr id="17" name="slide3_text_13"/>
          <p:cNvSpPr txBox="1"/>
          <p:nvPr/>
        </p:nvSpPr>
        <p:spPr>
          <a:xfrm>
            <a:off x="7574280" y="2638349"/>
            <a:ext cx="158496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LDAP identity</a:t>
            </a:r>
            <a:endParaRPr lang="en-US" sz="1380" dirty="0"/>
          </a:p>
        </p:txBody>
      </p:sp>
      <p:sp>
        <p:nvSpPr>
          <p:cNvPr id="18" name="slide3_rect_14"/>
          <p:cNvSpPr/>
          <p:nvPr/>
        </p:nvSpPr>
        <p:spPr>
          <a:xfrm>
            <a:off x="9662160" y="2164080"/>
            <a:ext cx="1950720" cy="1097280"/>
          </a:xfrm>
          <a:prstGeom prst="roundRect">
            <a:avLst>
              <a:gd name="adj" fmla="val 5556"/>
            </a:avLst>
          </a:prstGeom>
          <a:solidFill>
            <a:srgbClr val="FFFFFF"/>
          </a:solidFill>
          <a:ln w="12192">
            <a:solidFill>
              <a:srgbClr val="D2DCD3"/>
            </a:solidFill>
            <a:prstDash val="solid"/>
          </a:ln>
        </p:spPr>
        <p:txBody>
          <a:bodyPr/>
          <a:p/>
        </p:txBody>
      </p:sp>
      <p:sp>
        <p:nvSpPr>
          <p:cNvPr id="19" name="slide3_text_15"/>
          <p:cNvSpPr txBox="1"/>
          <p:nvPr/>
        </p:nvSpPr>
        <p:spPr>
          <a:xfrm>
            <a:off x="9845040" y="2346960"/>
            <a:ext cx="1584960" cy="245669"/>
          </a:xfrm>
          <a:prstGeom prst="rect">
            <a:avLst/>
          </a:prstGeom>
          <a:noFill/>
          <a:ln/>
        </p:spPr>
        <p:txBody>
          <a:bodyPr wrap="square" lIns="0" tIns="0" rIns="0" bIns="0" rtlCol="0" anchor="t"/>
          <a:lstStyle/>
          <a:p>
            <a:pPr algn="l" indent="0" marL="0">
              <a:lnSpc>
                <a:spcPct val="100000"/>
              </a:lnSpc>
              <a:buNone/>
            </a:pPr>
            <a:r>
              <a:rPr lang="en-US" sz="1620" b="1" dirty="0">
                <a:solidFill>
                  <a:srgbClr val="152F27"/>
                </a:solidFill>
                <a:latin typeface="Arial" pitchFamily="34" charset="0"/>
                <a:ea typeface="Arial" pitchFamily="34" charset="-122"/>
                <a:cs typeface="Arial" pitchFamily="34" charset="-120"/>
              </a:rPr>
              <a:t>Google</a:t>
            </a:r>
            <a:endParaRPr lang="en-US" sz="1620" dirty="0"/>
          </a:p>
        </p:txBody>
      </p:sp>
      <p:sp>
        <p:nvSpPr>
          <p:cNvPr id="20" name="slide3_text_15"/>
          <p:cNvSpPr txBox="1"/>
          <p:nvPr/>
        </p:nvSpPr>
        <p:spPr>
          <a:xfrm>
            <a:off x="9845040" y="2577389"/>
            <a:ext cx="1584960" cy="245669"/>
          </a:xfrm>
          <a:prstGeom prst="rect">
            <a:avLst/>
          </a:prstGeom>
          <a:noFill/>
          <a:ln/>
        </p:spPr>
        <p:txBody>
          <a:bodyPr wrap="square" lIns="0" tIns="0" rIns="0" bIns="0" rtlCol="0" anchor="t"/>
          <a:lstStyle/>
          <a:p>
            <a:pPr algn="l" indent="0" marL="0">
              <a:lnSpc>
                <a:spcPct val="100000"/>
              </a:lnSpc>
              <a:buNone/>
            </a:pPr>
            <a:r>
              <a:rPr lang="en-US" sz="1620" b="1" dirty="0">
                <a:solidFill>
                  <a:srgbClr val="152F27"/>
                </a:solidFill>
                <a:latin typeface="Arial" pitchFamily="34" charset="0"/>
                <a:ea typeface="Arial" pitchFamily="34" charset="-122"/>
                <a:cs typeface="Arial" pitchFamily="34" charset="-120"/>
              </a:rPr>
              <a:t>Workspace</a:t>
            </a:r>
            <a:endParaRPr lang="en-US" sz="1620" dirty="0"/>
          </a:p>
        </p:txBody>
      </p:sp>
      <p:sp>
        <p:nvSpPr>
          <p:cNvPr id="21" name="slide3_text_16"/>
          <p:cNvSpPr txBox="1"/>
          <p:nvPr/>
        </p:nvSpPr>
        <p:spPr>
          <a:xfrm>
            <a:off x="9845040" y="2868778"/>
            <a:ext cx="158496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Account creation</a:t>
            </a:r>
            <a:endParaRPr lang="en-US" sz="1380" dirty="0"/>
          </a:p>
        </p:txBody>
      </p:sp>
      <p:sp>
        <p:nvSpPr>
          <p:cNvPr id="22" name="slide3_line_17"/>
          <p:cNvSpPr/>
          <p:nvPr/>
        </p:nvSpPr>
        <p:spPr>
          <a:xfrm>
            <a:off x="2598420" y="2712720"/>
            <a:ext cx="83820" cy="0"/>
          </a:xfrm>
          <a:prstGeom prst="line">
            <a:avLst/>
          </a:prstGeom>
          <a:noFill/>
          <a:ln w="22860">
            <a:solidFill>
              <a:srgbClr val="9AAA9E"/>
            </a:solidFill>
            <a:prstDash val="solid"/>
            <a:headEnd type="none"/>
            <a:tailEnd type="none"/>
          </a:ln>
        </p:spPr>
        <p:txBody>
          <a:bodyPr/>
          <a:p/>
        </p:txBody>
      </p:sp>
      <p:sp>
        <p:nvSpPr>
          <p:cNvPr id="23" name="slide3_poly_18"/>
          <p:cNvSpPr/>
          <p:nvPr/>
        </p:nvSpPr>
        <p:spPr>
          <a:xfrm>
            <a:off x="2682240" y="2667000"/>
            <a:ext cx="91440" cy="91440"/>
          </a:xfrm>
          <a:custGeom>
            <a:avLst/>
            <a:gdLst/>
            <a:ahLst/>
            <a:cxnLst/>
            <a:rect l="l" t="t" r="r" b="b"/>
            <a:pathLst>
              <a:path w="91440" h="91440">
                <a:moveTo>
                  <a:pt x="91440" y="45720"/>
                </a:moveTo>
                <a:lnTo>
                  <a:pt x="0" y="91440"/>
                </a:lnTo>
                <a:lnTo>
                  <a:pt x="0" y="0"/>
                </a:lnTo>
                <a:close/>
              </a:path>
            </a:pathLst>
          </a:custGeom>
          <a:solidFill>
            <a:srgbClr val="9AAA9E"/>
          </a:solidFill>
          <a:ln w="12700">
            <a:solidFill>
              <a:srgbClr val="9AAA9E">
                <a:alpha val="0"/>
              </a:srgbClr>
            </a:solidFill>
            <a:prstDash val="solid"/>
          </a:ln>
        </p:spPr>
        <p:txBody>
          <a:bodyPr/>
          <a:p/>
        </p:txBody>
      </p:sp>
      <p:sp>
        <p:nvSpPr>
          <p:cNvPr id="24" name="slide3_line_19"/>
          <p:cNvSpPr/>
          <p:nvPr/>
        </p:nvSpPr>
        <p:spPr>
          <a:xfrm>
            <a:off x="4869180" y="2712720"/>
            <a:ext cx="83820" cy="0"/>
          </a:xfrm>
          <a:prstGeom prst="line">
            <a:avLst/>
          </a:prstGeom>
          <a:noFill/>
          <a:ln w="22860">
            <a:solidFill>
              <a:srgbClr val="9AAA9E"/>
            </a:solidFill>
            <a:prstDash val="solid"/>
            <a:headEnd type="none"/>
            <a:tailEnd type="none"/>
          </a:ln>
        </p:spPr>
        <p:txBody>
          <a:bodyPr/>
          <a:p/>
        </p:txBody>
      </p:sp>
      <p:sp>
        <p:nvSpPr>
          <p:cNvPr id="25" name="slide3_poly_20"/>
          <p:cNvSpPr/>
          <p:nvPr/>
        </p:nvSpPr>
        <p:spPr>
          <a:xfrm>
            <a:off x="4953000" y="2667000"/>
            <a:ext cx="91440" cy="91440"/>
          </a:xfrm>
          <a:custGeom>
            <a:avLst/>
            <a:gdLst/>
            <a:ahLst/>
            <a:cxnLst/>
            <a:rect l="l" t="t" r="r" b="b"/>
            <a:pathLst>
              <a:path w="91440" h="91440">
                <a:moveTo>
                  <a:pt x="91440" y="45720"/>
                </a:moveTo>
                <a:lnTo>
                  <a:pt x="0" y="91440"/>
                </a:lnTo>
                <a:lnTo>
                  <a:pt x="0" y="0"/>
                </a:lnTo>
                <a:close/>
              </a:path>
            </a:pathLst>
          </a:custGeom>
          <a:solidFill>
            <a:srgbClr val="9AAA9E"/>
          </a:solidFill>
          <a:ln w="12700">
            <a:solidFill>
              <a:srgbClr val="9AAA9E">
                <a:alpha val="0"/>
              </a:srgbClr>
            </a:solidFill>
            <a:prstDash val="solid"/>
          </a:ln>
        </p:spPr>
        <p:txBody>
          <a:bodyPr/>
          <a:p/>
        </p:txBody>
      </p:sp>
      <p:sp>
        <p:nvSpPr>
          <p:cNvPr id="26" name="slide3_line_21"/>
          <p:cNvSpPr/>
          <p:nvPr/>
        </p:nvSpPr>
        <p:spPr>
          <a:xfrm>
            <a:off x="7139940" y="2712720"/>
            <a:ext cx="83820" cy="0"/>
          </a:xfrm>
          <a:prstGeom prst="line">
            <a:avLst/>
          </a:prstGeom>
          <a:noFill/>
          <a:ln w="22860">
            <a:solidFill>
              <a:srgbClr val="9AAA9E"/>
            </a:solidFill>
            <a:prstDash val="solid"/>
            <a:headEnd type="none"/>
            <a:tailEnd type="none"/>
          </a:ln>
        </p:spPr>
        <p:txBody>
          <a:bodyPr/>
          <a:p/>
        </p:txBody>
      </p:sp>
      <p:sp>
        <p:nvSpPr>
          <p:cNvPr id="27" name="slide3_poly_22"/>
          <p:cNvSpPr/>
          <p:nvPr/>
        </p:nvSpPr>
        <p:spPr>
          <a:xfrm>
            <a:off x="7223760" y="2667000"/>
            <a:ext cx="91440" cy="91440"/>
          </a:xfrm>
          <a:custGeom>
            <a:avLst/>
            <a:gdLst/>
            <a:ahLst/>
            <a:cxnLst/>
            <a:rect l="l" t="t" r="r" b="b"/>
            <a:pathLst>
              <a:path w="91440" h="91440">
                <a:moveTo>
                  <a:pt x="91440" y="45720"/>
                </a:moveTo>
                <a:lnTo>
                  <a:pt x="0" y="91440"/>
                </a:lnTo>
                <a:lnTo>
                  <a:pt x="0" y="0"/>
                </a:lnTo>
                <a:close/>
              </a:path>
            </a:pathLst>
          </a:custGeom>
          <a:solidFill>
            <a:srgbClr val="9AAA9E"/>
          </a:solidFill>
          <a:ln w="12700">
            <a:solidFill>
              <a:srgbClr val="9AAA9E">
                <a:alpha val="0"/>
              </a:srgbClr>
            </a:solidFill>
            <a:prstDash val="solid"/>
          </a:ln>
        </p:spPr>
        <p:txBody>
          <a:bodyPr/>
          <a:p/>
        </p:txBody>
      </p:sp>
      <p:sp>
        <p:nvSpPr>
          <p:cNvPr id="28" name="slide3_line_23"/>
          <p:cNvSpPr/>
          <p:nvPr/>
        </p:nvSpPr>
        <p:spPr>
          <a:xfrm>
            <a:off x="9410700" y="2712720"/>
            <a:ext cx="83820" cy="0"/>
          </a:xfrm>
          <a:prstGeom prst="line">
            <a:avLst/>
          </a:prstGeom>
          <a:noFill/>
          <a:ln w="22860">
            <a:solidFill>
              <a:srgbClr val="9AAA9E"/>
            </a:solidFill>
            <a:prstDash val="solid"/>
            <a:headEnd type="none"/>
            <a:tailEnd type="none"/>
          </a:ln>
        </p:spPr>
        <p:txBody>
          <a:bodyPr/>
          <a:p/>
        </p:txBody>
      </p:sp>
      <p:sp>
        <p:nvSpPr>
          <p:cNvPr id="29" name="slide3_poly_24"/>
          <p:cNvSpPr/>
          <p:nvPr/>
        </p:nvSpPr>
        <p:spPr>
          <a:xfrm>
            <a:off x="9494520" y="2667000"/>
            <a:ext cx="91440" cy="91440"/>
          </a:xfrm>
          <a:custGeom>
            <a:avLst/>
            <a:gdLst/>
            <a:ahLst/>
            <a:cxnLst/>
            <a:rect l="l" t="t" r="r" b="b"/>
            <a:pathLst>
              <a:path w="91440" h="91440">
                <a:moveTo>
                  <a:pt x="91440" y="45720"/>
                </a:moveTo>
                <a:lnTo>
                  <a:pt x="0" y="91440"/>
                </a:lnTo>
                <a:lnTo>
                  <a:pt x="0" y="0"/>
                </a:lnTo>
                <a:close/>
              </a:path>
            </a:pathLst>
          </a:custGeom>
          <a:solidFill>
            <a:srgbClr val="9AAA9E"/>
          </a:solidFill>
          <a:ln w="12700">
            <a:solidFill>
              <a:srgbClr val="9AAA9E">
                <a:alpha val="0"/>
              </a:srgbClr>
            </a:solidFill>
            <a:prstDash val="solid"/>
          </a:ln>
        </p:spPr>
        <p:txBody>
          <a:bodyPr/>
          <a:p/>
        </p:txBody>
      </p:sp>
      <p:sp>
        <p:nvSpPr>
          <p:cNvPr id="30" name="slide3_line_25"/>
          <p:cNvSpPr/>
          <p:nvPr/>
        </p:nvSpPr>
        <p:spPr>
          <a:xfrm>
            <a:off x="579120" y="3680460"/>
            <a:ext cx="11033760" cy="0"/>
          </a:xfrm>
          <a:prstGeom prst="line">
            <a:avLst/>
          </a:prstGeom>
          <a:noFill/>
          <a:ln w="15240">
            <a:solidFill>
              <a:srgbClr val="D2DCD3"/>
            </a:solidFill>
            <a:prstDash val="solid"/>
            <a:headEnd type="none"/>
            <a:tailEnd type="none"/>
          </a:ln>
        </p:spPr>
        <p:txBody>
          <a:bodyPr/>
          <a:p/>
        </p:txBody>
      </p:sp>
      <p:sp>
        <p:nvSpPr>
          <p:cNvPr id="31" name="slide3_text_26"/>
          <p:cNvSpPr txBox="1"/>
          <p:nvPr/>
        </p:nvSpPr>
        <p:spPr>
          <a:xfrm>
            <a:off x="594360" y="3985260"/>
            <a:ext cx="6377940" cy="317602"/>
          </a:xfrm>
          <a:prstGeom prst="rect">
            <a:avLst/>
          </a:prstGeom>
          <a:noFill/>
          <a:ln/>
        </p:spPr>
        <p:txBody>
          <a:bodyPr wrap="square" lIns="0" tIns="0" rIns="0" bIns="0" rtlCol="0" anchor="t"/>
          <a:lstStyle/>
          <a:p>
            <a:pPr algn="l" indent="0" marL="0">
              <a:lnSpc>
                <a:spcPct val="100000"/>
              </a:lnSpc>
              <a:buNone/>
            </a:pPr>
            <a:r>
              <a:rPr lang="en-US" sz="1920" b="1" dirty="0">
                <a:solidFill>
                  <a:srgbClr val="152F27"/>
                </a:solidFill>
                <a:latin typeface="Arial" pitchFamily="34" charset="0"/>
                <a:ea typeface="Arial" pitchFamily="34" charset="-122"/>
                <a:cs typeface="Arial" pitchFamily="34" charset="-120"/>
              </a:rPr>
              <a:t>The work around the script</a:t>
            </a:r>
            <a:endParaRPr lang="en-US" sz="1920" dirty="0"/>
          </a:p>
        </p:txBody>
      </p:sp>
      <p:sp>
        <p:nvSpPr>
          <p:cNvPr id="32" name="slide3_text_27"/>
          <p:cNvSpPr txBox="1"/>
          <p:nvPr/>
        </p:nvSpPr>
        <p:spPr>
          <a:xfrm>
            <a:off x="594360" y="4434840"/>
            <a:ext cx="6324600" cy="302514"/>
          </a:xfrm>
          <a:prstGeom prst="rect">
            <a:avLst/>
          </a:prstGeom>
          <a:noFill/>
          <a:ln/>
        </p:spPr>
        <p:txBody>
          <a:bodyPr wrap="square" lIns="0" tIns="0" rIns="0" bIns="0" rtlCol="0" anchor="t"/>
          <a:lstStyle/>
          <a:p>
            <a:pPr algn="l" indent="0" marL="0">
              <a:lnSpc>
                <a:spcPct val="100000"/>
              </a:lnSpc>
              <a:buNone/>
            </a:pPr>
            <a:r>
              <a:rPr lang="en-US" sz="1740" dirty="0">
                <a:solidFill>
                  <a:srgbClr val="152F27"/>
                </a:solidFill>
                <a:latin typeface="Arial" pitchFamily="34" charset="0"/>
                <a:ea typeface="Arial" pitchFamily="34" charset="-122"/>
                <a:cs typeface="Arial" pitchFamily="34" charset="-120"/>
              </a:rPr>
              <a:t>I copied records, ran commands, resolved naming conflicts, and</a:t>
            </a:r>
            <a:endParaRPr lang="en-US" sz="1740" dirty="0"/>
          </a:p>
        </p:txBody>
      </p:sp>
      <p:sp>
        <p:nvSpPr>
          <p:cNvPr id="33" name="slide3_text_27"/>
          <p:cNvSpPr txBox="1"/>
          <p:nvPr/>
        </p:nvSpPr>
        <p:spPr>
          <a:xfrm>
            <a:off x="594360" y="4722114"/>
            <a:ext cx="6324600" cy="302514"/>
          </a:xfrm>
          <a:prstGeom prst="rect">
            <a:avLst/>
          </a:prstGeom>
          <a:noFill/>
          <a:ln/>
        </p:spPr>
        <p:txBody>
          <a:bodyPr wrap="square" lIns="0" tIns="0" rIns="0" bIns="0" rtlCol="0" anchor="t"/>
          <a:lstStyle/>
          <a:p>
            <a:pPr algn="l" indent="0" marL="0">
              <a:lnSpc>
                <a:spcPct val="100000"/>
              </a:lnSpc>
              <a:buNone/>
            </a:pPr>
            <a:r>
              <a:rPr lang="en-US" sz="1740" dirty="0">
                <a:solidFill>
                  <a:srgbClr val="152F27"/>
                </a:solidFill>
                <a:latin typeface="Arial" pitchFamily="34" charset="0"/>
                <a:ea typeface="Arial" pitchFamily="34" charset="-122"/>
                <a:cs typeface="Arial" pitchFamily="34" charset="-120"/>
              </a:rPr>
              <a:t>reran failed entries. I also prepared the remote credential</a:t>
            </a:r>
            <a:endParaRPr lang="en-US" sz="1740" dirty="0"/>
          </a:p>
        </p:txBody>
      </p:sp>
      <p:sp>
        <p:nvSpPr>
          <p:cNvPr id="34" name="slide3_text_27"/>
          <p:cNvSpPr txBox="1"/>
          <p:nvPr/>
        </p:nvSpPr>
        <p:spPr>
          <a:xfrm>
            <a:off x="594360" y="5009388"/>
            <a:ext cx="6324600" cy="302514"/>
          </a:xfrm>
          <a:prstGeom prst="rect">
            <a:avLst/>
          </a:prstGeom>
          <a:noFill/>
          <a:ln/>
        </p:spPr>
        <p:txBody>
          <a:bodyPr wrap="square" lIns="0" tIns="0" rIns="0" bIns="0" rtlCol="0" anchor="t"/>
          <a:lstStyle/>
          <a:p>
            <a:pPr algn="l" indent="0" marL="0">
              <a:lnSpc>
                <a:spcPct val="100000"/>
              </a:lnSpc>
              <a:buNone/>
            </a:pPr>
            <a:r>
              <a:rPr lang="en-US" sz="1740" dirty="0">
                <a:solidFill>
                  <a:srgbClr val="152F27"/>
                </a:solidFill>
                <a:latin typeface="Arial" pitchFamily="34" charset="0"/>
                <a:ea typeface="Arial" pitchFamily="34" charset="-122"/>
                <a:cs typeface="Arial" pitchFamily="34" charset="-120"/>
              </a:rPr>
              <a:t>handoff.</a:t>
            </a:r>
            <a:endParaRPr lang="en-US" sz="1740" dirty="0"/>
          </a:p>
        </p:txBody>
      </p:sp>
      <p:sp>
        <p:nvSpPr>
          <p:cNvPr id="35" name="slide3_line_28"/>
          <p:cNvSpPr/>
          <p:nvPr/>
        </p:nvSpPr>
        <p:spPr>
          <a:xfrm>
            <a:off x="7338060" y="3985260"/>
            <a:ext cx="0" cy="1805940"/>
          </a:xfrm>
          <a:prstGeom prst="line">
            <a:avLst/>
          </a:prstGeom>
          <a:noFill/>
          <a:ln w="15240">
            <a:solidFill>
              <a:srgbClr val="D2DCD3"/>
            </a:solidFill>
            <a:prstDash val="solid"/>
            <a:headEnd type="none"/>
            <a:tailEnd type="none"/>
          </a:ln>
        </p:spPr>
        <p:txBody>
          <a:bodyPr/>
          <a:p/>
        </p:txBody>
      </p:sp>
      <p:sp>
        <p:nvSpPr>
          <p:cNvPr id="36" name="slide3_text_29"/>
          <p:cNvSpPr txBox="1"/>
          <p:nvPr/>
        </p:nvSpPr>
        <p:spPr>
          <a:xfrm>
            <a:off x="7680960" y="3985260"/>
            <a:ext cx="3733800" cy="308153"/>
          </a:xfrm>
          <a:prstGeom prst="rect">
            <a:avLst/>
          </a:prstGeom>
          <a:noFill/>
          <a:ln/>
        </p:spPr>
        <p:txBody>
          <a:bodyPr wrap="square" lIns="0" tIns="0" rIns="0" bIns="0" rtlCol="0" anchor="t"/>
          <a:lstStyle/>
          <a:p>
            <a:pPr algn="l" indent="0" marL="0">
              <a:lnSpc>
                <a:spcPct val="100000"/>
              </a:lnSpc>
              <a:buNone/>
            </a:pPr>
            <a:r>
              <a:rPr lang="en-US" sz="1860" b="1" dirty="0">
                <a:solidFill>
                  <a:srgbClr val="152F27"/>
                </a:solidFill>
                <a:latin typeface="Arial" pitchFamily="34" charset="0"/>
                <a:ea typeface="Arial" pitchFamily="34" charset="-122"/>
                <a:cs typeface="Arial" pitchFamily="34" charset="-120"/>
              </a:rPr>
              <a:t>Same LDAP, separate BPO</a:t>
            </a:r>
            <a:endParaRPr lang="en-US" sz="1860" dirty="0"/>
          </a:p>
        </p:txBody>
      </p:sp>
      <p:sp>
        <p:nvSpPr>
          <p:cNvPr id="37" name="slide3_text_29"/>
          <p:cNvSpPr txBox="1"/>
          <p:nvPr/>
        </p:nvSpPr>
        <p:spPr>
          <a:xfrm>
            <a:off x="7680960" y="4278173"/>
            <a:ext cx="3733800" cy="308153"/>
          </a:xfrm>
          <a:prstGeom prst="rect">
            <a:avLst/>
          </a:prstGeom>
          <a:noFill/>
          <a:ln/>
        </p:spPr>
        <p:txBody>
          <a:bodyPr wrap="square" lIns="0" tIns="0" rIns="0" bIns="0" rtlCol="0" anchor="t"/>
          <a:lstStyle/>
          <a:p>
            <a:pPr algn="l" indent="0" marL="0">
              <a:lnSpc>
                <a:spcPct val="100000"/>
              </a:lnSpc>
              <a:buNone/>
            </a:pPr>
            <a:r>
              <a:rPr lang="en-US" sz="1860" b="1" dirty="0">
                <a:solidFill>
                  <a:srgbClr val="152F27"/>
                </a:solidFill>
                <a:latin typeface="Arial" pitchFamily="34" charset="0"/>
                <a:ea typeface="Arial" pitchFamily="34" charset="-122"/>
                <a:cs typeface="Arial" pitchFamily="34" charset="-120"/>
              </a:rPr>
              <a:t>Workspace</a:t>
            </a:r>
            <a:endParaRPr lang="en-US" sz="1860" dirty="0"/>
          </a:p>
        </p:txBody>
      </p:sp>
      <p:sp>
        <p:nvSpPr>
          <p:cNvPr id="38" name="slide3_text_30"/>
          <p:cNvSpPr txBox="1"/>
          <p:nvPr/>
        </p:nvSpPr>
        <p:spPr>
          <a:xfrm>
            <a:off x="7680960" y="4709160"/>
            <a:ext cx="3733800" cy="278587"/>
          </a:xfrm>
          <a:prstGeom prst="rect">
            <a:avLst/>
          </a:prstGeom>
          <a:noFill/>
          <a:ln/>
        </p:spPr>
        <p:txBody>
          <a:bodyPr wrap="square" lIns="0" tIns="0" rIns="0" bIns="0" rtlCol="0" anchor="t"/>
          <a:lstStyle/>
          <a:p>
            <a:pPr algn="l" indent="0" marL="0">
              <a:lnSpc>
                <a:spcPct val="100000"/>
              </a:lnSpc>
              <a:buNone/>
            </a:pPr>
            <a:r>
              <a:rPr lang="en-US" sz="1620" dirty="0">
                <a:solidFill>
                  <a:srgbClr val="586B62"/>
                </a:solidFill>
                <a:latin typeface="Arial" pitchFamily="34" charset="0"/>
                <a:ea typeface="Arial" pitchFamily="34" charset="-122"/>
                <a:cs typeface="Arial" pitchFamily="34" charset="-120"/>
              </a:rPr>
              <a:t>Worker type flags identified employees,</a:t>
            </a:r>
            <a:endParaRPr lang="en-US" sz="1620" dirty="0"/>
          </a:p>
        </p:txBody>
      </p:sp>
      <p:sp>
        <p:nvSpPr>
          <p:cNvPr id="39" name="slide3_text_30"/>
          <p:cNvSpPr txBox="1"/>
          <p:nvPr/>
        </p:nvSpPr>
        <p:spPr>
          <a:xfrm>
            <a:off x="7680960" y="4972507"/>
            <a:ext cx="3733800" cy="278587"/>
          </a:xfrm>
          <a:prstGeom prst="rect">
            <a:avLst/>
          </a:prstGeom>
          <a:noFill/>
          <a:ln/>
        </p:spPr>
        <p:txBody>
          <a:bodyPr wrap="square" lIns="0" tIns="0" rIns="0" bIns="0" rtlCol="0" anchor="t"/>
          <a:lstStyle/>
          <a:p>
            <a:pPr algn="l" indent="0" marL="0">
              <a:lnSpc>
                <a:spcPct val="100000"/>
              </a:lnSpc>
              <a:buNone/>
            </a:pPr>
            <a:r>
              <a:rPr lang="en-US" sz="1620" dirty="0">
                <a:solidFill>
                  <a:srgbClr val="586B62"/>
                </a:solidFill>
                <a:latin typeface="Arial" pitchFamily="34" charset="0"/>
                <a:ea typeface="Arial" pitchFamily="34" charset="-122"/>
                <a:cs typeface="Arial" pitchFamily="34" charset="-120"/>
              </a:rPr>
              <a:t>vendors, contractors and BPO workers.</a:t>
            </a:r>
            <a:endParaRPr lang="en-US" sz="1620" dirty="0"/>
          </a:p>
        </p:txBody>
      </p:sp>
      <p:sp>
        <p:nvSpPr>
          <p:cNvPr id="40" name="slide3_line_31"/>
          <p:cNvSpPr/>
          <p:nvPr/>
        </p:nvSpPr>
        <p:spPr>
          <a:xfrm>
            <a:off x="579120" y="6301740"/>
            <a:ext cx="11033760" cy="0"/>
          </a:xfrm>
          <a:prstGeom prst="line">
            <a:avLst/>
          </a:prstGeom>
          <a:noFill/>
          <a:ln w="7620">
            <a:solidFill>
              <a:srgbClr val="D2DCD3"/>
            </a:solidFill>
            <a:prstDash val="solid"/>
            <a:headEnd type="none"/>
            <a:tailEnd type="none"/>
          </a:ln>
        </p:spPr>
        <p:txBody>
          <a:bodyPr/>
          <a:p/>
        </p:txBody>
      </p:sp>
      <p:sp>
        <p:nvSpPr>
          <p:cNvPr id="41" name="slide3_text_32"/>
          <p:cNvSpPr txBox="1"/>
          <p:nvPr/>
        </p:nvSpPr>
        <p:spPr>
          <a:xfrm>
            <a:off x="594360" y="6446520"/>
            <a:ext cx="6096000" cy="144780"/>
          </a:xfrm>
          <a:prstGeom prst="rect">
            <a:avLst/>
          </a:prstGeom>
          <a:noFill/>
          <a:ln/>
        </p:spPr>
        <p:txBody>
          <a:bodyPr wrap="square" lIns="0" tIns="0" rIns="0" bIns="0" rtlCol="0" anchor="t"/>
          <a:lstStyle/>
          <a:p>
            <a:pPr algn="l" indent="0" marL="0">
              <a:lnSpc>
                <a:spcPct val="100000"/>
              </a:lnSpc>
              <a:buNone/>
            </a:pPr>
            <a:r>
              <a:rPr lang="en-US" sz="1020" dirty="0">
                <a:solidFill>
                  <a:srgbClr val="586B62"/>
                </a:solidFill>
                <a:latin typeface="Arial" pitchFamily="34" charset="0"/>
                <a:ea typeface="Arial" pitchFamily="34" charset="-122"/>
                <a:cs typeface="Arial" pitchFamily="34" charset="-120"/>
              </a:rPr>
              <a:t>FRANKLIN WAGGONER / LAUNCHPAD</a:t>
            </a:r>
            <a:endParaRPr lang="en-US" sz="1020" dirty="0"/>
          </a:p>
        </p:txBody>
      </p:sp>
      <p:sp>
        <p:nvSpPr>
          <p:cNvPr id="42" name="slide3_text_33"/>
          <p:cNvSpPr txBox="1"/>
          <p:nvPr/>
        </p:nvSpPr>
        <p:spPr>
          <a:xfrm>
            <a:off x="10591800" y="6438900"/>
            <a:ext cx="1021080" cy="144780"/>
          </a:xfrm>
          <a:prstGeom prst="rect">
            <a:avLst/>
          </a:prstGeom>
          <a:noFill/>
          <a:ln/>
        </p:spPr>
        <p:txBody>
          <a:bodyPr wrap="square" lIns="0" tIns="0" rIns="0" bIns="0" rtlCol="0" anchor="t"/>
          <a:lstStyle/>
          <a:p>
            <a:pPr algn="r" indent="0" marL="0">
              <a:lnSpc>
                <a:spcPct val="100000"/>
              </a:lnSpc>
              <a:buNone/>
            </a:pPr>
            <a:r>
              <a:rPr lang="en-US" sz="1020" dirty="0">
                <a:solidFill>
                  <a:srgbClr val="586B62"/>
                </a:solidFill>
                <a:latin typeface="Arial" pitchFamily="34" charset="0"/>
                <a:ea typeface="Arial" pitchFamily="34" charset="-122"/>
                <a:cs typeface="Arial" pitchFamily="34" charset="-120"/>
              </a:rPr>
              <a:t>03 / 12</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4"/>
        </a:solidFill>
      </p:bgPr>
    </p:bg>
    <p:spTree>
      <p:nvGrpSpPr>
        <p:cNvPr id="1" name=""/>
        <p:cNvGrpSpPr/>
        <p:nvPr/>
      </p:nvGrpSpPr>
      <p:grpSpPr>
        <a:xfrm>
          <a:off x="0" y="0"/>
          <a:ext cx="0" cy="0"/>
          <a:chOff x="0" y="0"/>
          <a:chExt cx="0" cy="0"/>
        </a:xfrm>
      </p:grpSpPr>
      <p:sp>
        <p:nvSpPr>
          <p:cNvPr id="2" name="slide4_text_0"/>
          <p:cNvSpPr txBox="1"/>
          <p:nvPr/>
        </p:nvSpPr>
        <p:spPr>
          <a:xfrm>
            <a:off x="579120" y="533400"/>
            <a:ext cx="11033760" cy="459638"/>
          </a:xfrm>
          <a:prstGeom prst="rect">
            <a:avLst/>
          </a:prstGeom>
          <a:noFill/>
          <a:ln/>
        </p:spPr>
        <p:txBody>
          <a:bodyPr wrap="square" lIns="0" tIns="0" rIns="0" bIns="0" rtlCol="0" anchor="t"/>
          <a:lstStyle/>
          <a:p>
            <a:pPr algn="l" indent="0" marL="0">
              <a:lnSpc>
                <a:spcPct val="100000"/>
              </a:lnSpc>
              <a:buNone/>
            </a:pPr>
            <a:r>
              <a:rPr lang="en-US" sz="3240" b="1" dirty="0">
                <a:solidFill>
                  <a:srgbClr val="152F27"/>
                </a:solidFill>
                <a:latin typeface="Arial" pitchFamily="34" charset="0"/>
                <a:ea typeface="Arial" pitchFamily="34" charset="-122"/>
                <a:cs typeface="Arial" pitchFamily="34" charset="-120"/>
              </a:rPr>
              <a:t>My first change removed repeated data entry.</a:t>
            </a:r>
            <a:endParaRPr lang="en-US" sz="3240" dirty="0"/>
          </a:p>
        </p:txBody>
      </p:sp>
      <p:sp>
        <p:nvSpPr>
          <p:cNvPr id="3" name="slide4_text_1"/>
          <p:cNvSpPr txBox="1"/>
          <p:nvPr/>
        </p:nvSpPr>
        <p:spPr>
          <a:xfrm>
            <a:off x="594360" y="1165860"/>
            <a:ext cx="10881360" cy="288341"/>
          </a:xfrm>
          <a:prstGeom prst="rect">
            <a:avLst/>
          </a:prstGeom>
          <a:noFill/>
          <a:ln/>
        </p:spPr>
        <p:txBody>
          <a:bodyPr wrap="none" lIns="0" tIns="0" rIns="0" bIns="0" rtlCol="0" anchor="t">
            <a:noAutofit/>
          </a:bodyPr>
          <a:lstStyle/>
          <a:p>
            <a:pPr algn="l" indent="0" marL="0">
              <a:lnSpc>
                <a:spcPct val="100000"/>
              </a:lnSpc>
              <a:buNone/>
            </a:pPr>
            <a:r>
              <a:rPr lang="en-US" sz="1680" dirty="0">
                <a:solidFill>
                  <a:srgbClr val="586B62"/>
                </a:solidFill>
                <a:latin typeface="Arial" pitchFamily="34" charset="0"/>
                <a:ea typeface="Arial" pitchFamily="34" charset="-122"/>
                <a:cs typeface="Arial" pitchFamily="34" charset="-120"/>
              </a:rPr>
              <a:t>I implemented a CSV wrapper to run the existing Ruby script for each person.</a:t>
            </a:r>
            <a:endParaRPr lang="en-US" sz="1680" dirty="0"/>
          </a:p>
        </p:txBody>
      </p:sp>
      <p:sp>
        <p:nvSpPr>
          <p:cNvPr id="4" name="slide4_text_2"/>
          <p:cNvSpPr txBox="1"/>
          <p:nvPr/>
        </p:nvSpPr>
        <p:spPr>
          <a:xfrm>
            <a:off x="594360" y="2301240"/>
            <a:ext cx="1104900" cy="308153"/>
          </a:xfrm>
          <a:prstGeom prst="rect">
            <a:avLst/>
          </a:prstGeom>
          <a:noFill/>
          <a:ln/>
        </p:spPr>
        <p:txBody>
          <a:bodyPr wrap="square" lIns="0" tIns="0" rIns="0" bIns="0" rtlCol="0" anchor="t"/>
          <a:lstStyle/>
          <a:p>
            <a:pPr algn="l" indent="0" marL="0">
              <a:lnSpc>
                <a:spcPct val="100000"/>
              </a:lnSpc>
              <a:buNone/>
            </a:pPr>
            <a:r>
              <a:rPr lang="en-US" sz="1860" b="1" dirty="0">
                <a:solidFill>
                  <a:srgbClr val="586B62"/>
                </a:solidFill>
                <a:latin typeface="Arial" pitchFamily="34" charset="0"/>
                <a:ea typeface="Arial" pitchFamily="34" charset="-122"/>
                <a:cs typeface="Arial" pitchFamily="34" charset="-120"/>
              </a:rPr>
              <a:t>Before</a:t>
            </a:r>
            <a:endParaRPr lang="en-US" sz="1860" dirty="0"/>
          </a:p>
        </p:txBody>
      </p:sp>
      <p:sp>
        <p:nvSpPr>
          <p:cNvPr id="5" name="slide4_rect_3"/>
          <p:cNvSpPr/>
          <p:nvPr/>
        </p:nvSpPr>
        <p:spPr>
          <a:xfrm>
            <a:off x="1958340" y="2179320"/>
            <a:ext cx="2194560" cy="1143000"/>
          </a:xfrm>
          <a:prstGeom prst="roundRect">
            <a:avLst>
              <a:gd name="adj" fmla="val 5333"/>
            </a:avLst>
          </a:prstGeom>
          <a:solidFill>
            <a:srgbClr val="FFFFFF"/>
          </a:solidFill>
          <a:ln w="12192">
            <a:solidFill>
              <a:srgbClr val="D2DCD3"/>
            </a:solidFill>
            <a:prstDash val="solid"/>
          </a:ln>
        </p:spPr>
        <p:txBody>
          <a:bodyPr/>
          <a:p/>
        </p:txBody>
      </p:sp>
      <p:sp>
        <p:nvSpPr>
          <p:cNvPr id="6" name="slide4_text_4"/>
          <p:cNvSpPr txBox="1"/>
          <p:nvPr/>
        </p:nvSpPr>
        <p:spPr>
          <a:xfrm>
            <a:off x="2141220" y="2362200"/>
            <a:ext cx="1828800" cy="254203"/>
          </a:xfrm>
          <a:prstGeom prst="rect">
            <a:avLst/>
          </a:prstGeom>
          <a:noFill/>
          <a:ln/>
        </p:spPr>
        <p:txBody>
          <a:bodyPr wrap="square" lIns="0" tIns="0" rIns="0" bIns="0" rtlCol="0" anchor="t"/>
          <a:lstStyle/>
          <a:p>
            <a:pPr algn="l" indent="0" marL="0">
              <a:lnSpc>
                <a:spcPct val="100000"/>
              </a:lnSpc>
              <a:buNone/>
            </a:pPr>
            <a:r>
              <a:rPr lang="en-US" sz="1680" b="1" dirty="0">
                <a:solidFill>
                  <a:srgbClr val="152F27"/>
                </a:solidFill>
                <a:latin typeface="Arial" pitchFamily="34" charset="0"/>
                <a:ea typeface="Arial" pitchFamily="34" charset="-122"/>
                <a:cs typeface="Arial" pitchFamily="34" charset="-120"/>
              </a:rPr>
              <a:t>Copy a name</a:t>
            </a:r>
            <a:endParaRPr lang="en-US" sz="1680" dirty="0"/>
          </a:p>
        </p:txBody>
      </p:sp>
      <p:sp>
        <p:nvSpPr>
          <p:cNvPr id="7" name="slide4_text_5"/>
          <p:cNvSpPr txBox="1"/>
          <p:nvPr/>
        </p:nvSpPr>
        <p:spPr>
          <a:xfrm>
            <a:off x="2141220" y="2662123"/>
            <a:ext cx="182880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One person</a:t>
            </a:r>
            <a:endParaRPr lang="en-US" sz="1380" dirty="0"/>
          </a:p>
        </p:txBody>
      </p:sp>
      <p:sp>
        <p:nvSpPr>
          <p:cNvPr id="8" name="slide4_line_6"/>
          <p:cNvSpPr/>
          <p:nvPr/>
        </p:nvSpPr>
        <p:spPr>
          <a:xfrm>
            <a:off x="4229100" y="2750820"/>
            <a:ext cx="45720" cy="0"/>
          </a:xfrm>
          <a:prstGeom prst="line">
            <a:avLst/>
          </a:prstGeom>
          <a:noFill/>
          <a:ln w="22860">
            <a:solidFill>
              <a:srgbClr val="9AAA9E"/>
            </a:solidFill>
            <a:prstDash val="solid"/>
            <a:headEnd type="none"/>
            <a:tailEnd type="none"/>
          </a:ln>
        </p:spPr>
        <p:txBody>
          <a:bodyPr/>
          <a:p/>
        </p:txBody>
      </p:sp>
      <p:sp>
        <p:nvSpPr>
          <p:cNvPr id="9" name="slide4_poly_7"/>
          <p:cNvSpPr/>
          <p:nvPr/>
        </p:nvSpPr>
        <p:spPr>
          <a:xfrm>
            <a:off x="4274820" y="2705100"/>
            <a:ext cx="91440" cy="91440"/>
          </a:xfrm>
          <a:custGeom>
            <a:avLst/>
            <a:gdLst/>
            <a:ahLst/>
            <a:cxnLst/>
            <a:rect l="l" t="t" r="r" b="b"/>
            <a:pathLst>
              <a:path w="91440" h="91440">
                <a:moveTo>
                  <a:pt x="91440" y="45720"/>
                </a:moveTo>
                <a:lnTo>
                  <a:pt x="0" y="91440"/>
                </a:lnTo>
                <a:lnTo>
                  <a:pt x="0" y="0"/>
                </a:lnTo>
                <a:close/>
              </a:path>
            </a:pathLst>
          </a:custGeom>
          <a:solidFill>
            <a:srgbClr val="9AAA9E"/>
          </a:solidFill>
          <a:ln w="12700">
            <a:solidFill>
              <a:srgbClr val="9AAA9E">
                <a:alpha val="0"/>
              </a:srgbClr>
            </a:solidFill>
            <a:prstDash val="solid"/>
          </a:ln>
        </p:spPr>
        <p:txBody>
          <a:bodyPr/>
          <a:p/>
        </p:txBody>
      </p:sp>
      <p:sp>
        <p:nvSpPr>
          <p:cNvPr id="10" name="slide4_rect_8"/>
          <p:cNvSpPr/>
          <p:nvPr/>
        </p:nvSpPr>
        <p:spPr>
          <a:xfrm>
            <a:off x="4442460" y="2179320"/>
            <a:ext cx="2194560" cy="1143000"/>
          </a:xfrm>
          <a:prstGeom prst="roundRect">
            <a:avLst>
              <a:gd name="adj" fmla="val 5333"/>
            </a:avLst>
          </a:prstGeom>
          <a:solidFill>
            <a:srgbClr val="FFFFFF"/>
          </a:solidFill>
          <a:ln w="12192">
            <a:solidFill>
              <a:srgbClr val="D2DCD3"/>
            </a:solidFill>
            <a:prstDash val="solid"/>
          </a:ln>
        </p:spPr>
        <p:txBody>
          <a:bodyPr/>
          <a:p/>
        </p:txBody>
      </p:sp>
      <p:sp>
        <p:nvSpPr>
          <p:cNvPr id="11" name="slide4_text_9"/>
          <p:cNvSpPr txBox="1"/>
          <p:nvPr/>
        </p:nvSpPr>
        <p:spPr>
          <a:xfrm>
            <a:off x="4625340" y="2362200"/>
            <a:ext cx="1828800" cy="254203"/>
          </a:xfrm>
          <a:prstGeom prst="rect">
            <a:avLst/>
          </a:prstGeom>
          <a:noFill/>
          <a:ln/>
        </p:spPr>
        <p:txBody>
          <a:bodyPr wrap="square" lIns="0" tIns="0" rIns="0" bIns="0" rtlCol="0" anchor="t"/>
          <a:lstStyle/>
          <a:p>
            <a:pPr algn="l" indent="0" marL="0">
              <a:lnSpc>
                <a:spcPct val="100000"/>
              </a:lnSpc>
              <a:buNone/>
            </a:pPr>
            <a:r>
              <a:rPr lang="en-US" sz="1680" b="1" dirty="0">
                <a:solidFill>
                  <a:srgbClr val="152F27"/>
                </a:solidFill>
                <a:latin typeface="Arial" pitchFamily="34" charset="0"/>
                <a:ea typeface="Arial" pitchFamily="34" charset="-122"/>
                <a:cs typeface="Arial" pitchFamily="34" charset="-120"/>
              </a:rPr>
              <a:t>Run a command</a:t>
            </a:r>
            <a:endParaRPr lang="en-US" sz="1680" dirty="0"/>
          </a:p>
        </p:txBody>
      </p:sp>
      <p:sp>
        <p:nvSpPr>
          <p:cNvPr id="12" name="slide4_text_10"/>
          <p:cNvSpPr txBox="1"/>
          <p:nvPr/>
        </p:nvSpPr>
        <p:spPr>
          <a:xfrm>
            <a:off x="4625340" y="2662123"/>
            <a:ext cx="182880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One account</a:t>
            </a:r>
            <a:endParaRPr lang="en-US" sz="1380" dirty="0"/>
          </a:p>
        </p:txBody>
      </p:sp>
      <p:sp>
        <p:nvSpPr>
          <p:cNvPr id="13" name="slide4_line_11"/>
          <p:cNvSpPr/>
          <p:nvPr/>
        </p:nvSpPr>
        <p:spPr>
          <a:xfrm>
            <a:off x="6713220" y="2750820"/>
            <a:ext cx="45720" cy="0"/>
          </a:xfrm>
          <a:prstGeom prst="line">
            <a:avLst/>
          </a:prstGeom>
          <a:noFill/>
          <a:ln w="22860">
            <a:solidFill>
              <a:srgbClr val="9AAA9E"/>
            </a:solidFill>
            <a:prstDash val="solid"/>
            <a:headEnd type="none"/>
            <a:tailEnd type="none"/>
          </a:ln>
        </p:spPr>
        <p:txBody>
          <a:bodyPr/>
          <a:p/>
        </p:txBody>
      </p:sp>
      <p:sp>
        <p:nvSpPr>
          <p:cNvPr id="14" name="slide4_poly_12"/>
          <p:cNvSpPr/>
          <p:nvPr/>
        </p:nvSpPr>
        <p:spPr>
          <a:xfrm>
            <a:off x="6758940" y="2705100"/>
            <a:ext cx="91440" cy="91440"/>
          </a:xfrm>
          <a:custGeom>
            <a:avLst/>
            <a:gdLst/>
            <a:ahLst/>
            <a:cxnLst/>
            <a:rect l="l" t="t" r="r" b="b"/>
            <a:pathLst>
              <a:path w="91440" h="91440">
                <a:moveTo>
                  <a:pt x="91440" y="45720"/>
                </a:moveTo>
                <a:lnTo>
                  <a:pt x="0" y="91440"/>
                </a:lnTo>
                <a:lnTo>
                  <a:pt x="0" y="0"/>
                </a:lnTo>
                <a:close/>
              </a:path>
            </a:pathLst>
          </a:custGeom>
          <a:solidFill>
            <a:srgbClr val="9AAA9E"/>
          </a:solidFill>
          <a:ln w="12700">
            <a:solidFill>
              <a:srgbClr val="9AAA9E">
                <a:alpha val="0"/>
              </a:srgbClr>
            </a:solidFill>
            <a:prstDash val="solid"/>
          </a:ln>
        </p:spPr>
        <p:txBody>
          <a:bodyPr/>
          <a:p/>
        </p:txBody>
      </p:sp>
      <p:sp>
        <p:nvSpPr>
          <p:cNvPr id="15" name="slide4_rect_13"/>
          <p:cNvSpPr/>
          <p:nvPr/>
        </p:nvSpPr>
        <p:spPr>
          <a:xfrm>
            <a:off x="6926580" y="2179320"/>
            <a:ext cx="2194560" cy="1143000"/>
          </a:xfrm>
          <a:prstGeom prst="roundRect">
            <a:avLst>
              <a:gd name="adj" fmla="val 5333"/>
            </a:avLst>
          </a:prstGeom>
          <a:solidFill>
            <a:srgbClr val="FFFFFF"/>
          </a:solidFill>
          <a:ln w="12192">
            <a:solidFill>
              <a:srgbClr val="D2DCD3"/>
            </a:solidFill>
            <a:prstDash val="solid"/>
          </a:ln>
        </p:spPr>
        <p:txBody>
          <a:bodyPr/>
          <a:p/>
        </p:txBody>
      </p:sp>
      <p:sp>
        <p:nvSpPr>
          <p:cNvPr id="16" name="slide4_text_14"/>
          <p:cNvSpPr txBox="1"/>
          <p:nvPr/>
        </p:nvSpPr>
        <p:spPr>
          <a:xfrm>
            <a:off x="7109460" y="2362200"/>
            <a:ext cx="1828800" cy="254203"/>
          </a:xfrm>
          <a:prstGeom prst="rect">
            <a:avLst/>
          </a:prstGeom>
          <a:noFill/>
          <a:ln/>
        </p:spPr>
        <p:txBody>
          <a:bodyPr wrap="square" lIns="0" tIns="0" rIns="0" bIns="0" rtlCol="0" anchor="t"/>
          <a:lstStyle/>
          <a:p>
            <a:pPr algn="l" indent="0" marL="0">
              <a:lnSpc>
                <a:spcPct val="100000"/>
              </a:lnSpc>
              <a:buNone/>
            </a:pPr>
            <a:r>
              <a:rPr lang="en-US" sz="1680" b="1" dirty="0">
                <a:solidFill>
                  <a:srgbClr val="152F27"/>
                </a:solidFill>
                <a:latin typeface="Arial" pitchFamily="34" charset="0"/>
                <a:ea typeface="Arial" pitchFamily="34" charset="-122"/>
                <a:cs typeface="Arial" pitchFamily="34" charset="-120"/>
              </a:rPr>
              <a:t>Resolve errors</a:t>
            </a:r>
            <a:endParaRPr lang="en-US" sz="1680" dirty="0"/>
          </a:p>
        </p:txBody>
      </p:sp>
      <p:sp>
        <p:nvSpPr>
          <p:cNvPr id="17" name="slide4_text_15"/>
          <p:cNvSpPr txBox="1"/>
          <p:nvPr/>
        </p:nvSpPr>
        <p:spPr>
          <a:xfrm>
            <a:off x="7109460" y="2662123"/>
            <a:ext cx="182880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When needed</a:t>
            </a:r>
            <a:endParaRPr lang="en-US" sz="1380" dirty="0"/>
          </a:p>
        </p:txBody>
      </p:sp>
      <p:sp>
        <p:nvSpPr>
          <p:cNvPr id="18" name="slide4_line_16"/>
          <p:cNvSpPr/>
          <p:nvPr/>
        </p:nvSpPr>
        <p:spPr>
          <a:xfrm>
            <a:off x="9197340" y="2750820"/>
            <a:ext cx="45720" cy="0"/>
          </a:xfrm>
          <a:prstGeom prst="line">
            <a:avLst/>
          </a:prstGeom>
          <a:noFill/>
          <a:ln w="22860">
            <a:solidFill>
              <a:srgbClr val="9AAA9E"/>
            </a:solidFill>
            <a:prstDash val="solid"/>
            <a:headEnd type="none"/>
            <a:tailEnd type="none"/>
          </a:ln>
        </p:spPr>
        <p:txBody>
          <a:bodyPr/>
          <a:p/>
        </p:txBody>
      </p:sp>
      <p:sp>
        <p:nvSpPr>
          <p:cNvPr id="19" name="slide4_poly_17"/>
          <p:cNvSpPr/>
          <p:nvPr/>
        </p:nvSpPr>
        <p:spPr>
          <a:xfrm>
            <a:off x="9243060" y="2705100"/>
            <a:ext cx="91440" cy="91440"/>
          </a:xfrm>
          <a:custGeom>
            <a:avLst/>
            <a:gdLst/>
            <a:ahLst/>
            <a:cxnLst/>
            <a:rect l="l" t="t" r="r" b="b"/>
            <a:pathLst>
              <a:path w="91440" h="91440">
                <a:moveTo>
                  <a:pt x="91440" y="45720"/>
                </a:moveTo>
                <a:lnTo>
                  <a:pt x="0" y="91440"/>
                </a:lnTo>
                <a:lnTo>
                  <a:pt x="0" y="0"/>
                </a:lnTo>
                <a:close/>
              </a:path>
            </a:pathLst>
          </a:custGeom>
          <a:solidFill>
            <a:srgbClr val="9AAA9E"/>
          </a:solidFill>
          <a:ln w="12700">
            <a:solidFill>
              <a:srgbClr val="9AAA9E">
                <a:alpha val="0"/>
              </a:srgbClr>
            </a:solidFill>
            <a:prstDash val="solid"/>
          </a:ln>
        </p:spPr>
        <p:txBody>
          <a:bodyPr/>
          <a:p/>
        </p:txBody>
      </p:sp>
      <p:sp>
        <p:nvSpPr>
          <p:cNvPr id="20" name="slide4_rect_18"/>
          <p:cNvSpPr/>
          <p:nvPr/>
        </p:nvSpPr>
        <p:spPr>
          <a:xfrm>
            <a:off x="9410700" y="2179320"/>
            <a:ext cx="2194560" cy="1143000"/>
          </a:xfrm>
          <a:prstGeom prst="roundRect">
            <a:avLst>
              <a:gd name="adj" fmla="val 5333"/>
            </a:avLst>
          </a:prstGeom>
          <a:solidFill>
            <a:srgbClr val="FFFFFF"/>
          </a:solidFill>
          <a:ln w="12192">
            <a:solidFill>
              <a:srgbClr val="D2DCD3"/>
            </a:solidFill>
            <a:prstDash val="solid"/>
          </a:ln>
        </p:spPr>
        <p:txBody>
          <a:bodyPr/>
          <a:p/>
        </p:txBody>
      </p:sp>
      <p:sp>
        <p:nvSpPr>
          <p:cNvPr id="21" name="slide4_text_19"/>
          <p:cNvSpPr txBox="1"/>
          <p:nvPr/>
        </p:nvSpPr>
        <p:spPr>
          <a:xfrm>
            <a:off x="9593580" y="2362200"/>
            <a:ext cx="1828800" cy="254203"/>
          </a:xfrm>
          <a:prstGeom prst="rect">
            <a:avLst/>
          </a:prstGeom>
          <a:noFill/>
          <a:ln/>
        </p:spPr>
        <p:txBody>
          <a:bodyPr wrap="square" lIns="0" tIns="0" rIns="0" bIns="0" rtlCol="0" anchor="t"/>
          <a:lstStyle/>
          <a:p>
            <a:pPr algn="l" indent="0" marL="0">
              <a:lnSpc>
                <a:spcPct val="100000"/>
              </a:lnSpc>
              <a:buNone/>
            </a:pPr>
            <a:r>
              <a:rPr lang="en-US" sz="1680" b="1" dirty="0">
                <a:solidFill>
                  <a:srgbClr val="152F27"/>
                </a:solidFill>
                <a:latin typeface="Arial" pitchFamily="34" charset="0"/>
                <a:ea typeface="Arial" pitchFamily="34" charset="-122"/>
                <a:cs typeface="Arial" pitchFamily="34" charset="-120"/>
              </a:rPr>
              <a:t>Repeat</a:t>
            </a:r>
            <a:endParaRPr lang="en-US" sz="1680" dirty="0"/>
          </a:p>
        </p:txBody>
      </p:sp>
      <p:sp>
        <p:nvSpPr>
          <p:cNvPr id="22" name="slide4_text_20"/>
          <p:cNvSpPr txBox="1"/>
          <p:nvPr/>
        </p:nvSpPr>
        <p:spPr>
          <a:xfrm>
            <a:off x="9593580" y="2662123"/>
            <a:ext cx="182880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Next person</a:t>
            </a:r>
            <a:endParaRPr lang="en-US" sz="1380" dirty="0"/>
          </a:p>
        </p:txBody>
      </p:sp>
      <p:sp>
        <p:nvSpPr>
          <p:cNvPr id="23" name="slide4_text_21"/>
          <p:cNvSpPr txBox="1"/>
          <p:nvPr/>
        </p:nvSpPr>
        <p:spPr>
          <a:xfrm>
            <a:off x="594360" y="4046220"/>
            <a:ext cx="1104900" cy="308153"/>
          </a:xfrm>
          <a:prstGeom prst="rect">
            <a:avLst/>
          </a:prstGeom>
          <a:noFill/>
          <a:ln/>
        </p:spPr>
        <p:txBody>
          <a:bodyPr wrap="square" lIns="0" tIns="0" rIns="0" bIns="0" rtlCol="0" anchor="t"/>
          <a:lstStyle/>
          <a:p>
            <a:pPr algn="l" indent="0" marL="0">
              <a:lnSpc>
                <a:spcPct val="100000"/>
              </a:lnSpc>
              <a:buNone/>
            </a:pPr>
            <a:r>
              <a:rPr lang="en-US" sz="1860" b="1" dirty="0">
                <a:solidFill>
                  <a:srgbClr val="176C4B"/>
                </a:solidFill>
                <a:latin typeface="Arial" pitchFamily="34" charset="0"/>
                <a:ea typeface="Arial" pitchFamily="34" charset="-122"/>
                <a:cs typeface="Arial" pitchFamily="34" charset="-120"/>
              </a:rPr>
              <a:t>After</a:t>
            </a:r>
            <a:endParaRPr lang="en-US" sz="1860" dirty="0"/>
          </a:p>
        </p:txBody>
      </p:sp>
      <p:sp>
        <p:nvSpPr>
          <p:cNvPr id="24" name="slide4_rect_22"/>
          <p:cNvSpPr/>
          <p:nvPr/>
        </p:nvSpPr>
        <p:spPr>
          <a:xfrm>
            <a:off x="1958340" y="3924300"/>
            <a:ext cx="2194560" cy="1143000"/>
          </a:xfrm>
          <a:prstGeom prst="roundRect">
            <a:avLst>
              <a:gd name="adj" fmla="val 5333"/>
            </a:avLst>
          </a:prstGeom>
          <a:solidFill>
            <a:srgbClr val="FFFFFF"/>
          </a:solidFill>
          <a:ln w="12192">
            <a:solidFill>
              <a:srgbClr val="D2DCD3"/>
            </a:solidFill>
            <a:prstDash val="solid"/>
          </a:ln>
        </p:spPr>
        <p:txBody>
          <a:bodyPr/>
          <a:p/>
        </p:txBody>
      </p:sp>
      <p:sp>
        <p:nvSpPr>
          <p:cNvPr id="25" name="slide4_text_23"/>
          <p:cNvSpPr txBox="1"/>
          <p:nvPr/>
        </p:nvSpPr>
        <p:spPr>
          <a:xfrm>
            <a:off x="2141220" y="4107180"/>
            <a:ext cx="1828800" cy="254203"/>
          </a:xfrm>
          <a:prstGeom prst="rect">
            <a:avLst/>
          </a:prstGeom>
          <a:noFill/>
          <a:ln/>
        </p:spPr>
        <p:txBody>
          <a:bodyPr wrap="square" lIns="0" tIns="0" rIns="0" bIns="0" rtlCol="0" anchor="t"/>
          <a:lstStyle/>
          <a:p>
            <a:pPr algn="l" indent="0" marL="0">
              <a:lnSpc>
                <a:spcPct val="100000"/>
              </a:lnSpc>
              <a:buNone/>
            </a:pPr>
            <a:r>
              <a:rPr lang="en-US" sz="1680" b="1" dirty="0">
                <a:solidFill>
                  <a:srgbClr val="152F27"/>
                </a:solidFill>
                <a:latin typeface="Arial" pitchFamily="34" charset="0"/>
                <a:ea typeface="Arial" pitchFamily="34" charset="-122"/>
                <a:cs typeface="Arial" pitchFamily="34" charset="-120"/>
              </a:rPr>
              <a:t>Workday rows</a:t>
            </a:r>
            <a:endParaRPr lang="en-US" sz="1680" dirty="0"/>
          </a:p>
        </p:txBody>
      </p:sp>
      <p:sp>
        <p:nvSpPr>
          <p:cNvPr id="26" name="slide4_text_24"/>
          <p:cNvSpPr txBox="1"/>
          <p:nvPr/>
        </p:nvSpPr>
        <p:spPr>
          <a:xfrm>
            <a:off x="2141220" y="4407103"/>
            <a:ext cx="182880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Source records</a:t>
            </a:r>
            <a:endParaRPr lang="en-US" sz="1380" dirty="0"/>
          </a:p>
        </p:txBody>
      </p:sp>
      <p:sp>
        <p:nvSpPr>
          <p:cNvPr id="27" name="slide4_line_25"/>
          <p:cNvSpPr/>
          <p:nvPr/>
        </p:nvSpPr>
        <p:spPr>
          <a:xfrm>
            <a:off x="4229100" y="4495800"/>
            <a:ext cx="45720" cy="0"/>
          </a:xfrm>
          <a:prstGeom prst="line">
            <a:avLst/>
          </a:prstGeom>
          <a:noFill/>
          <a:ln w="22860">
            <a:solidFill>
              <a:srgbClr val="9AAA9E"/>
            </a:solidFill>
            <a:prstDash val="solid"/>
            <a:headEnd type="none"/>
            <a:tailEnd type="none"/>
          </a:ln>
        </p:spPr>
        <p:txBody>
          <a:bodyPr/>
          <a:p/>
        </p:txBody>
      </p:sp>
      <p:sp>
        <p:nvSpPr>
          <p:cNvPr id="28" name="slide4_poly_26"/>
          <p:cNvSpPr/>
          <p:nvPr/>
        </p:nvSpPr>
        <p:spPr>
          <a:xfrm>
            <a:off x="4274820" y="4450080"/>
            <a:ext cx="91440" cy="91440"/>
          </a:xfrm>
          <a:custGeom>
            <a:avLst/>
            <a:gdLst/>
            <a:ahLst/>
            <a:cxnLst/>
            <a:rect l="l" t="t" r="r" b="b"/>
            <a:pathLst>
              <a:path w="91440" h="91440">
                <a:moveTo>
                  <a:pt x="91440" y="45720"/>
                </a:moveTo>
                <a:lnTo>
                  <a:pt x="0" y="91440"/>
                </a:lnTo>
                <a:lnTo>
                  <a:pt x="0" y="0"/>
                </a:lnTo>
                <a:close/>
              </a:path>
            </a:pathLst>
          </a:custGeom>
          <a:solidFill>
            <a:srgbClr val="9AAA9E"/>
          </a:solidFill>
          <a:ln w="12700">
            <a:solidFill>
              <a:srgbClr val="9AAA9E">
                <a:alpha val="0"/>
              </a:srgbClr>
            </a:solidFill>
            <a:prstDash val="solid"/>
          </a:ln>
        </p:spPr>
        <p:txBody>
          <a:bodyPr/>
          <a:p/>
        </p:txBody>
      </p:sp>
      <p:sp>
        <p:nvSpPr>
          <p:cNvPr id="29" name="slide4_rect_27"/>
          <p:cNvSpPr/>
          <p:nvPr/>
        </p:nvSpPr>
        <p:spPr>
          <a:xfrm>
            <a:off x="4442460" y="3924300"/>
            <a:ext cx="2194560" cy="1143000"/>
          </a:xfrm>
          <a:prstGeom prst="roundRect">
            <a:avLst>
              <a:gd name="adj" fmla="val 5333"/>
            </a:avLst>
          </a:prstGeom>
          <a:solidFill>
            <a:srgbClr val="E4F0E6"/>
          </a:solidFill>
          <a:ln w="12192">
            <a:solidFill>
              <a:srgbClr val="176C4B"/>
            </a:solidFill>
            <a:prstDash val="solid"/>
          </a:ln>
        </p:spPr>
        <p:txBody>
          <a:bodyPr/>
          <a:p/>
        </p:txBody>
      </p:sp>
      <p:sp>
        <p:nvSpPr>
          <p:cNvPr id="30" name="slide4_text_28"/>
          <p:cNvSpPr txBox="1"/>
          <p:nvPr/>
        </p:nvSpPr>
        <p:spPr>
          <a:xfrm>
            <a:off x="4625340" y="4107180"/>
            <a:ext cx="1828800" cy="254203"/>
          </a:xfrm>
          <a:prstGeom prst="rect">
            <a:avLst/>
          </a:prstGeom>
          <a:noFill/>
          <a:ln/>
        </p:spPr>
        <p:txBody>
          <a:bodyPr wrap="square" lIns="0" tIns="0" rIns="0" bIns="0" rtlCol="0" anchor="t"/>
          <a:lstStyle/>
          <a:p>
            <a:pPr algn="l" indent="0" marL="0">
              <a:lnSpc>
                <a:spcPct val="100000"/>
              </a:lnSpc>
              <a:buNone/>
            </a:pPr>
            <a:r>
              <a:rPr lang="en-US" sz="1680" b="1" dirty="0">
                <a:solidFill>
                  <a:srgbClr val="176C4B"/>
                </a:solidFill>
                <a:latin typeface="Arial" pitchFamily="34" charset="0"/>
                <a:ea typeface="Arial" pitchFamily="34" charset="-122"/>
                <a:cs typeface="Arial" pitchFamily="34" charset="-120"/>
              </a:rPr>
              <a:t>One CSV</a:t>
            </a:r>
            <a:endParaRPr lang="en-US" sz="1680" dirty="0"/>
          </a:p>
        </p:txBody>
      </p:sp>
      <p:sp>
        <p:nvSpPr>
          <p:cNvPr id="31" name="slide4_text_29"/>
          <p:cNvSpPr txBox="1"/>
          <p:nvPr/>
        </p:nvSpPr>
        <p:spPr>
          <a:xfrm>
            <a:off x="4625340" y="4407103"/>
            <a:ext cx="182880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Bulk input</a:t>
            </a:r>
            <a:endParaRPr lang="en-US" sz="1380" dirty="0"/>
          </a:p>
        </p:txBody>
      </p:sp>
      <p:sp>
        <p:nvSpPr>
          <p:cNvPr id="32" name="slide4_line_30"/>
          <p:cNvSpPr/>
          <p:nvPr/>
        </p:nvSpPr>
        <p:spPr>
          <a:xfrm>
            <a:off x="6713220" y="4495800"/>
            <a:ext cx="45720" cy="0"/>
          </a:xfrm>
          <a:prstGeom prst="line">
            <a:avLst/>
          </a:prstGeom>
          <a:noFill/>
          <a:ln w="22860">
            <a:solidFill>
              <a:srgbClr val="9AAA9E"/>
            </a:solidFill>
            <a:prstDash val="solid"/>
            <a:headEnd type="none"/>
            <a:tailEnd type="none"/>
          </a:ln>
        </p:spPr>
        <p:txBody>
          <a:bodyPr/>
          <a:p/>
        </p:txBody>
      </p:sp>
      <p:sp>
        <p:nvSpPr>
          <p:cNvPr id="33" name="slide4_poly_31"/>
          <p:cNvSpPr/>
          <p:nvPr/>
        </p:nvSpPr>
        <p:spPr>
          <a:xfrm>
            <a:off x="6758940" y="4450080"/>
            <a:ext cx="91440" cy="91440"/>
          </a:xfrm>
          <a:custGeom>
            <a:avLst/>
            <a:gdLst/>
            <a:ahLst/>
            <a:cxnLst/>
            <a:rect l="l" t="t" r="r" b="b"/>
            <a:pathLst>
              <a:path w="91440" h="91440">
                <a:moveTo>
                  <a:pt x="91440" y="45720"/>
                </a:moveTo>
                <a:lnTo>
                  <a:pt x="0" y="91440"/>
                </a:lnTo>
                <a:lnTo>
                  <a:pt x="0" y="0"/>
                </a:lnTo>
                <a:close/>
              </a:path>
            </a:pathLst>
          </a:custGeom>
          <a:solidFill>
            <a:srgbClr val="9AAA9E"/>
          </a:solidFill>
          <a:ln w="12700">
            <a:solidFill>
              <a:srgbClr val="9AAA9E">
                <a:alpha val="0"/>
              </a:srgbClr>
            </a:solidFill>
            <a:prstDash val="solid"/>
          </a:ln>
        </p:spPr>
        <p:txBody>
          <a:bodyPr/>
          <a:p/>
        </p:txBody>
      </p:sp>
      <p:sp>
        <p:nvSpPr>
          <p:cNvPr id="34" name="slide4_rect_32"/>
          <p:cNvSpPr/>
          <p:nvPr/>
        </p:nvSpPr>
        <p:spPr>
          <a:xfrm>
            <a:off x="6926580" y="3924300"/>
            <a:ext cx="2194560" cy="1143000"/>
          </a:xfrm>
          <a:prstGeom prst="roundRect">
            <a:avLst>
              <a:gd name="adj" fmla="val 5333"/>
            </a:avLst>
          </a:prstGeom>
          <a:solidFill>
            <a:srgbClr val="FFFFFF"/>
          </a:solidFill>
          <a:ln w="12192">
            <a:solidFill>
              <a:srgbClr val="D2DCD3"/>
            </a:solidFill>
            <a:prstDash val="solid"/>
          </a:ln>
        </p:spPr>
        <p:txBody>
          <a:bodyPr/>
          <a:p/>
        </p:txBody>
      </p:sp>
      <p:sp>
        <p:nvSpPr>
          <p:cNvPr id="35" name="slide4_text_33"/>
          <p:cNvSpPr txBox="1"/>
          <p:nvPr/>
        </p:nvSpPr>
        <p:spPr>
          <a:xfrm>
            <a:off x="7109460" y="4107180"/>
            <a:ext cx="1828800" cy="254203"/>
          </a:xfrm>
          <a:prstGeom prst="rect">
            <a:avLst/>
          </a:prstGeom>
          <a:noFill/>
          <a:ln/>
        </p:spPr>
        <p:txBody>
          <a:bodyPr wrap="none" lIns="0" tIns="0" rIns="0" bIns="0" rtlCol="0" anchor="t">
            <a:noAutofit/>
          </a:bodyPr>
          <a:lstStyle/>
          <a:p>
            <a:pPr algn="l" indent="0" marL="0">
              <a:lnSpc>
                <a:spcPct val="100000"/>
              </a:lnSpc>
              <a:buNone/>
            </a:pPr>
            <a:r>
              <a:rPr lang="en-US" sz="1680" b="1" dirty="0">
                <a:solidFill>
                  <a:srgbClr val="152F27"/>
                </a:solidFill>
                <a:latin typeface="Arial" pitchFamily="34" charset="0"/>
                <a:ea typeface="Arial" pitchFamily="34" charset="-122"/>
                <a:cs typeface="Arial" pitchFamily="34" charset="-120"/>
              </a:rPr>
              <a:t>Ruby script</a:t>
            </a:r>
            <a:endParaRPr lang="en-US" sz="1680" dirty="0"/>
          </a:p>
        </p:txBody>
      </p:sp>
      <p:sp>
        <p:nvSpPr>
          <p:cNvPr id="36" name="slide4_text_34"/>
          <p:cNvSpPr txBox="1"/>
          <p:nvPr/>
        </p:nvSpPr>
        <p:spPr>
          <a:xfrm>
            <a:off x="7109460" y="4407103"/>
            <a:ext cx="182880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Each person in turn</a:t>
            </a:r>
            <a:endParaRPr lang="en-US" sz="1380" dirty="0"/>
          </a:p>
        </p:txBody>
      </p:sp>
      <p:sp>
        <p:nvSpPr>
          <p:cNvPr id="37" name="slide4_line_35"/>
          <p:cNvSpPr/>
          <p:nvPr/>
        </p:nvSpPr>
        <p:spPr>
          <a:xfrm>
            <a:off x="9197340" y="4495800"/>
            <a:ext cx="45720" cy="0"/>
          </a:xfrm>
          <a:prstGeom prst="line">
            <a:avLst/>
          </a:prstGeom>
          <a:noFill/>
          <a:ln w="22860">
            <a:solidFill>
              <a:srgbClr val="9AAA9E"/>
            </a:solidFill>
            <a:prstDash val="solid"/>
            <a:headEnd type="none"/>
            <a:tailEnd type="none"/>
          </a:ln>
        </p:spPr>
        <p:txBody>
          <a:bodyPr/>
          <a:p/>
        </p:txBody>
      </p:sp>
      <p:sp>
        <p:nvSpPr>
          <p:cNvPr id="38" name="slide4_poly_36"/>
          <p:cNvSpPr/>
          <p:nvPr/>
        </p:nvSpPr>
        <p:spPr>
          <a:xfrm>
            <a:off x="9243060" y="4450080"/>
            <a:ext cx="91440" cy="91440"/>
          </a:xfrm>
          <a:custGeom>
            <a:avLst/>
            <a:gdLst/>
            <a:ahLst/>
            <a:cxnLst/>
            <a:rect l="l" t="t" r="r" b="b"/>
            <a:pathLst>
              <a:path w="91440" h="91440">
                <a:moveTo>
                  <a:pt x="91440" y="45720"/>
                </a:moveTo>
                <a:lnTo>
                  <a:pt x="0" y="91440"/>
                </a:lnTo>
                <a:lnTo>
                  <a:pt x="0" y="0"/>
                </a:lnTo>
                <a:close/>
              </a:path>
            </a:pathLst>
          </a:custGeom>
          <a:solidFill>
            <a:srgbClr val="9AAA9E"/>
          </a:solidFill>
          <a:ln w="12700">
            <a:solidFill>
              <a:srgbClr val="9AAA9E">
                <a:alpha val="0"/>
              </a:srgbClr>
            </a:solidFill>
            <a:prstDash val="solid"/>
          </a:ln>
        </p:spPr>
        <p:txBody>
          <a:bodyPr/>
          <a:p/>
        </p:txBody>
      </p:sp>
      <p:sp>
        <p:nvSpPr>
          <p:cNvPr id="39" name="slide4_rect_37"/>
          <p:cNvSpPr/>
          <p:nvPr/>
        </p:nvSpPr>
        <p:spPr>
          <a:xfrm>
            <a:off x="9410700" y="3924300"/>
            <a:ext cx="2194560" cy="1143000"/>
          </a:xfrm>
          <a:prstGeom prst="roundRect">
            <a:avLst>
              <a:gd name="adj" fmla="val 5333"/>
            </a:avLst>
          </a:prstGeom>
          <a:solidFill>
            <a:srgbClr val="FFFFFF"/>
          </a:solidFill>
          <a:ln w="12192">
            <a:solidFill>
              <a:srgbClr val="D2DCD3"/>
            </a:solidFill>
            <a:prstDash val="solid"/>
          </a:ln>
        </p:spPr>
        <p:txBody>
          <a:bodyPr/>
          <a:p/>
        </p:txBody>
      </p:sp>
      <p:sp>
        <p:nvSpPr>
          <p:cNvPr id="40" name="slide4_text_38"/>
          <p:cNvSpPr txBox="1"/>
          <p:nvPr/>
        </p:nvSpPr>
        <p:spPr>
          <a:xfrm>
            <a:off x="9593580" y="4107180"/>
            <a:ext cx="1828800" cy="254203"/>
          </a:xfrm>
          <a:prstGeom prst="rect">
            <a:avLst/>
          </a:prstGeom>
          <a:noFill/>
          <a:ln/>
        </p:spPr>
        <p:txBody>
          <a:bodyPr wrap="square" lIns="0" tIns="0" rIns="0" bIns="0" rtlCol="0" anchor="t"/>
          <a:lstStyle/>
          <a:p>
            <a:pPr algn="l" indent="0" marL="0">
              <a:lnSpc>
                <a:spcPct val="100000"/>
              </a:lnSpc>
              <a:buNone/>
            </a:pPr>
            <a:r>
              <a:rPr lang="en-US" sz="1680" b="1" dirty="0">
                <a:solidFill>
                  <a:srgbClr val="152F27"/>
                </a:solidFill>
                <a:latin typeface="Arial" pitchFamily="34" charset="0"/>
                <a:ea typeface="Arial" pitchFamily="34" charset="-122"/>
                <a:cs typeface="Arial" pitchFamily="34" charset="-120"/>
              </a:rPr>
              <a:t>Review errors</a:t>
            </a:r>
            <a:endParaRPr lang="en-US" sz="1680" dirty="0"/>
          </a:p>
        </p:txBody>
      </p:sp>
      <p:sp>
        <p:nvSpPr>
          <p:cNvPr id="41" name="slide4_text_39"/>
          <p:cNvSpPr txBox="1"/>
          <p:nvPr/>
        </p:nvSpPr>
        <p:spPr>
          <a:xfrm>
            <a:off x="9593580" y="4407103"/>
            <a:ext cx="182880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Records needing</a:t>
            </a:r>
            <a:endParaRPr lang="en-US" sz="1380" dirty="0"/>
          </a:p>
        </p:txBody>
      </p:sp>
      <p:sp>
        <p:nvSpPr>
          <p:cNvPr id="42" name="slide4_text_39"/>
          <p:cNvSpPr txBox="1"/>
          <p:nvPr/>
        </p:nvSpPr>
        <p:spPr>
          <a:xfrm>
            <a:off x="9593580" y="4617415"/>
            <a:ext cx="182880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attention</a:t>
            </a:r>
            <a:endParaRPr lang="en-US" sz="1380" dirty="0"/>
          </a:p>
        </p:txBody>
      </p:sp>
      <p:sp>
        <p:nvSpPr>
          <p:cNvPr id="43" name="slide4_line_40"/>
          <p:cNvSpPr/>
          <p:nvPr/>
        </p:nvSpPr>
        <p:spPr>
          <a:xfrm>
            <a:off x="579120" y="5577840"/>
            <a:ext cx="11033760" cy="0"/>
          </a:xfrm>
          <a:prstGeom prst="line">
            <a:avLst/>
          </a:prstGeom>
          <a:noFill/>
          <a:ln w="15240">
            <a:solidFill>
              <a:srgbClr val="D2DCD3"/>
            </a:solidFill>
            <a:prstDash val="solid"/>
            <a:headEnd type="none"/>
            <a:tailEnd type="none"/>
          </a:ln>
        </p:spPr>
        <p:txBody>
          <a:bodyPr/>
          <a:p/>
        </p:txBody>
      </p:sp>
      <p:sp>
        <p:nvSpPr>
          <p:cNvPr id="44" name="slide4_text_41"/>
          <p:cNvSpPr txBox="1"/>
          <p:nvPr/>
        </p:nvSpPr>
        <p:spPr>
          <a:xfrm>
            <a:off x="594360" y="5760720"/>
            <a:ext cx="10820400" cy="279806"/>
          </a:xfrm>
          <a:prstGeom prst="rect">
            <a:avLst/>
          </a:prstGeom>
          <a:noFill/>
          <a:ln/>
        </p:spPr>
        <p:txBody>
          <a:bodyPr wrap="square" lIns="0" tIns="0" rIns="0" bIns="0" rtlCol="0" anchor="t"/>
          <a:lstStyle/>
          <a:p>
            <a:pPr algn="l" indent="0" marL="0">
              <a:lnSpc>
                <a:spcPct val="100000"/>
              </a:lnSpc>
              <a:buNone/>
            </a:pPr>
            <a:r>
              <a:rPr lang="en-US" sz="1680" dirty="0">
                <a:solidFill>
                  <a:srgbClr val="586B62"/>
                </a:solidFill>
                <a:latin typeface="Arial" pitchFamily="34" charset="0"/>
                <a:ea typeface="Arial" pitchFamily="34" charset="-122"/>
                <a:cs typeface="Arial" pitchFamily="34" charset="-120"/>
              </a:rPr>
              <a:t>Batch input removed repeated entry while preserving the existing account creation logic.</a:t>
            </a:r>
            <a:endParaRPr lang="en-US" sz="1680" dirty="0"/>
          </a:p>
        </p:txBody>
      </p:sp>
      <p:sp>
        <p:nvSpPr>
          <p:cNvPr id="45" name="slide4_line_42"/>
          <p:cNvSpPr/>
          <p:nvPr/>
        </p:nvSpPr>
        <p:spPr>
          <a:xfrm>
            <a:off x="579120" y="6301740"/>
            <a:ext cx="11033760" cy="0"/>
          </a:xfrm>
          <a:prstGeom prst="line">
            <a:avLst/>
          </a:prstGeom>
          <a:noFill/>
          <a:ln w="7620">
            <a:solidFill>
              <a:srgbClr val="D2DCD3"/>
            </a:solidFill>
            <a:prstDash val="solid"/>
            <a:headEnd type="none"/>
            <a:tailEnd type="none"/>
          </a:ln>
        </p:spPr>
        <p:txBody>
          <a:bodyPr/>
          <a:p/>
        </p:txBody>
      </p:sp>
      <p:sp>
        <p:nvSpPr>
          <p:cNvPr id="46" name="slide4_text_43"/>
          <p:cNvSpPr txBox="1"/>
          <p:nvPr/>
        </p:nvSpPr>
        <p:spPr>
          <a:xfrm>
            <a:off x="594360" y="6446520"/>
            <a:ext cx="6096000" cy="144780"/>
          </a:xfrm>
          <a:prstGeom prst="rect">
            <a:avLst/>
          </a:prstGeom>
          <a:noFill/>
          <a:ln/>
        </p:spPr>
        <p:txBody>
          <a:bodyPr wrap="square" lIns="0" tIns="0" rIns="0" bIns="0" rtlCol="0" anchor="t"/>
          <a:lstStyle/>
          <a:p>
            <a:pPr algn="l" indent="0" marL="0">
              <a:lnSpc>
                <a:spcPct val="100000"/>
              </a:lnSpc>
              <a:buNone/>
            </a:pPr>
            <a:r>
              <a:rPr lang="en-US" sz="1020" dirty="0">
                <a:solidFill>
                  <a:srgbClr val="586B62"/>
                </a:solidFill>
                <a:latin typeface="Arial" pitchFamily="34" charset="0"/>
                <a:ea typeface="Arial" pitchFamily="34" charset="-122"/>
                <a:cs typeface="Arial" pitchFamily="34" charset="-120"/>
              </a:rPr>
              <a:t>FRANKLIN WAGGONER / LAUNCHPAD</a:t>
            </a:r>
            <a:endParaRPr lang="en-US" sz="1020" dirty="0"/>
          </a:p>
        </p:txBody>
      </p:sp>
      <p:sp>
        <p:nvSpPr>
          <p:cNvPr id="47" name="slide4_text_44"/>
          <p:cNvSpPr txBox="1"/>
          <p:nvPr/>
        </p:nvSpPr>
        <p:spPr>
          <a:xfrm>
            <a:off x="10591800" y="6438900"/>
            <a:ext cx="1021080" cy="144780"/>
          </a:xfrm>
          <a:prstGeom prst="rect">
            <a:avLst/>
          </a:prstGeom>
          <a:noFill/>
          <a:ln/>
        </p:spPr>
        <p:txBody>
          <a:bodyPr wrap="square" lIns="0" tIns="0" rIns="0" bIns="0" rtlCol="0" anchor="t"/>
          <a:lstStyle/>
          <a:p>
            <a:pPr algn="r" indent="0" marL="0">
              <a:lnSpc>
                <a:spcPct val="100000"/>
              </a:lnSpc>
              <a:buNone/>
            </a:pPr>
            <a:r>
              <a:rPr lang="en-US" sz="1020" dirty="0">
                <a:solidFill>
                  <a:srgbClr val="586B62"/>
                </a:solidFill>
                <a:latin typeface="Arial" pitchFamily="34" charset="0"/>
                <a:ea typeface="Arial" pitchFamily="34" charset="-122"/>
                <a:cs typeface="Arial" pitchFamily="34" charset="-120"/>
              </a:rPr>
              <a:t>04 / 12</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4"/>
        </a:solidFill>
      </p:bgPr>
    </p:bg>
    <p:spTree>
      <p:nvGrpSpPr>
        <p:cNvPr id="1" name=""/>
        <p:cNvGrpSpPr/>
        <p:nvPr/>
      </p:nvGrpSpPr>
      <p:grpSpPr>
        <a:xfrm>
          <a:off x="0" y="0"/>
          <a:ext cx="0" cy="0"/>
          <a:chOff x="0" y="0"/>
          <a:chExt cx="0" cy="0"/>
        </a:xfrm>
      </p:grpSpPr>
      <p:sp>
        <p:nvSpPr>
          <p:cNvPr id="2" name="slide5_text_0"/>
          <p:cNvSpPr txBox="1"/>
          <p:nvPr/>
        </p:nvSpPr>
        <p:spPr>
          <a:xfrm>
            <a:off x="579120" y="533400"/>
            <a:ext cx="11033760" cy="459638"/>
          </a:xfrm>
          <a:prstGeom prst="rect">
            <a:avLst/>
          </a:prstGeom>
          <a:noFill/>
          <a:ln/>
        </p:spPr>
        <p:txBody>
          <a:bodyPr wrap="square" lIns="0" tIns="0" rIns="0" bIns="0" rtlCol="0" anchor="t"/>
          <a:lstStyle/>
          <a:p>
            <a:pPr algn="l" indent="0" marL="0">
              <a:lnSpc>
                <a:spcPct val="100000"/>
              </a:lnSpc>
              <a:buNone/>
            </a:pPr>
            <a:r>
              <a:rPr lang="en-US" sz="3240" b="1" dirty="0">
                <a:solidFill>
                  <a:srgbClr val="152F27"/>
                </a:solidFill>
                <a:latin typeface="Arial" pitchFamily="34" charset="0"/>
                <a:ea typeface="Arial" pitchFamily="34" charset="-122"/>
                <a:cs typeface="Arial" pitchFamily="34" charset="-120"/>
              </a:rPr>
              <a:t>Launchpad brought Workday into the interface.</a:t>
            </a:r>
            <a:endParaRPr lang="en-US" sz="3240" dirty="0"/>
          </a:p>
        </p:txBody>
      </p:sp>
      <p:sp>
        <p:nvSpPr>
          <p:cNvPr id="3" name="slide5_text_1"/>
          <p:cNvSpPr txBox="1"/>
          <p:nvPr/>
        </p:nvSpPr>
        <p:spPr>
          <a:xfrm>
            <a:off x="594360" y="1165860"/>
            <a:ext cx="10881360" cy="288341"/>
          </a:xfrm>
          <a:prstGeom prst="rect">
            <a:avLst/>
          </a:prstGeom>
          <a:noFill/>
          <a:ln/>
        </p:spPr>
        <p:txBody>
          <a:bodyPr wrap="square" lIns="0" tIns="0" rIns="0" bIns="0" rtlCol="0" anchor="t"/>
          <a:lstStyle/>
          <a:p>
            <a:pPr algn="l" indent="0" marL="0">
              <a:lnSpc>
                <a:spcPct val="100000"/>
              </a:lnSpc>
              <a:buNone/>
            </a:pPr>
            <a:r>
              <a:rPr lang="en-US" sz="1680" dirty="0">
                <a:solidFill>
                  <a:srgbClr val="586B62"/>
                </a:solidFill>
                <a:latin typeface="Arial" pitchFamily="34" charset="0"/>
                <a:ea typeface="Arial" pitchFamily="34" charset="-122"/>
                <a:cs typeface="Arial" pitchFamily="34" charset="-120"/>
              </a:rPr>
              <a:t>I partnered with engineering to replace copied records with a shared account creation view.</a:t>
            </a:r>
            <a:endParaRPr lang="en-US" sz="1680" dirty="0"/>
          </a:p>
        </p:txBody>
      </p:sp>
      <p:sp>
        <p:nvSpPr>
          <p:cNvPr id="4" name="slide5_rect_2"/>
          <p:cNvSpPr/>
          <p:nvPr/>
        </p:nvSpPr>
        <p:spPr>
          <a:xfrm>
            <a:off x="579120" y="2232660"/>
            <a:ext cx="2301240" cy="1219200"/>
          </a:xfrm>
          <a:prstGeom prst="roundRect">
            <a:avLst>
              <a:gd name="adj" fmla="val 5000"/>
            </a:avLst>
          </a:prstGeom>
          <a:solidFill>
            <a:srgbClr val="FFFFFF"/>
          </a:solidFill>
          <a:ln w="12192">
            <a:solidFill>
              <a:srgbClr val="D2DCD3"/>
            </a:solidFill>
            <a:prstDash val="solid"/>
          </a:ln>
        </p:spPr>
        <p:txBody>
          <a:bodyPr/>
          <a:p/>
        </p:txBody>
      </p:sp>
      <p:sp>
        <p:nvSpPr>
          <p:cNvPr id="5" name="slide5_text_3"/>
          <p:cNvSpPr txBox="1"/>
          <p:nvPr/>
        </p:nvSpPr>
        <p:spPr>
          <a:xfrm>
            <a:off x="762000" y="2415540"/>
            <a:ext cx="1935480" cy="271272"/>
          </a:xfrm>
          <a:prstGeom prst="rect">
            <a:avLst/>
          </a:prstGeom>
          <a:noFill/>
          <a:ln/>
        </p:spPr>
        <p:txBody>
          <a:bodyPr wrap="square" lIns="0" tIns="0" rIns="0" bIns="0" rtlCol="0" anchor="t"/>
          <a:lstStyle/>
          <a:p>
            <a:pPr algn="l" indent="0" marL="0">
              <a:lnSpc>
                <a:spcPct val="100000"/>
              </a:lnSpc>
              <a:buNone/>
            </a:pPr>
            <a:r>
              <a:rPr lang="en-US" sz="1800" b="1" dirty="0">
                <a:solidFill>
                  <a:srgbClr val="152F27"/>
                </a:solidFill>
                <a:latin typeface="Arial" pitchFamily="34" charset="0"/>
                <a:ea typeface="Arial" pitchFamily="34" charset="-122"/>
                <a:cs typeface="Arial" pitchFamily="34" charset="-120"/>
              </a:rPr>
              <a:t>Workday</a:t>
            </a:r>
            <a:endParaRPr lang="en-US" sz="1800" dirty="0"/>
          </a:p>
        </p:txBody>
      </p:sp>
      <p:sp>
        <p:nvSpPr>
          <p:cNvPr id="6" name="slide5_text_4"/>
          <p:cNvSpPr txBox="1"/>
          <p:nvPr/>
        </p:nvSpPr>
        <p:spPr>
          <a:xfrm>
            <a:off x="762000" y="2732532"/>
            <a:ext cx="193548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Upcoming hires</a:t>
            </a:r>
            <a:endParaRPr lang="en-US" sz="1380" dirty="0"/>
          </a:p>
        </p:txBody>
      </p:sp>
      <p:sp>
        <p:nvSpPr>
          <p:cNvPr id="7" name="slide5_line_5"/>
          <p:cNvSpPr/>
          <p:nvPr/>
        </p:nvSpPr>
        <p:spPr>
          <a:xfrm>
            <a:off x="2971800" y="2842260"/>
            <a:ext cx="335280" cy="0"/>
          </a:xfrm>
          <a:prstGeom prst="line">
            <a:avLst/>
          </a:prstGeom>
          <a:noFill/>
          <a:ln w="22860">
            <a:solidFill>
              <a:srgbClr val="9AAA9E"/>
            </a:solidFill>
            <a:prstDash val="solid"/>
            <a:headEnd type="none"/>
            <a:tailEnd type="none"/>
          </a:ln>
        </p:spPr>
        <p:txBody>
          <a:bodyPr/>
          <a:p/>
        </p:txBody>
      </p:sp>
      <p:sp>
        <p:nvSpPr>
          <p:cNvPr id="8" name="slide5_poly_6"/>
          <p:cNvSpPr/>
          <p:nvPr/>
        </p:nvSpPr>
        <p:spPr>
          <a:xfrm>
            <a:off x="3307080" y="2796540"/>
            <a:ext cx="91440" cy="91440"/>
          </a:xfrm>
          <a:custGeom>
            <a:avLst/>
            <a:gdLst/>
            <a:ahLst/>
            <a:cxnLst/>
            <a:rect l="l" t="t" r="r" b="b"/>
            <a:pathLst>
              <a:path w="91440" h="91440">
                <a:moveTo>
                  <a:pt x="91440" y="45720"/>
                </a:moveTo>
                <a:lnTo>
                  <a:pt x="0" y="91440"/>
                </a:lnTo>
                <a:lnTo>
                  <a:pt x="0" y="0"/>
                </a:lnTo>
                <a:close/>
              </a:path>
            </a:pathLst>
          </a:custGeom>
          <a:solidFill>
            <a:srgbClr val="9AAA9E"/>
          </a:solidFill>
          <a:ln w="12700">
            <a:solidFill>
              <a:srgbClr val="9AAA9E">
                <a:alpha val="0"/>
              </a:srgbClr>
            </a:solidFill>
            <a:prstDash val="solid"/>
          </a:ln>
        </p:spPr>
        <p:txBody>
          <a:bodyPr/>
          <a:p/>
        </p:txBody>
      </p:sp>
      <p:sp>
        <p:nvSpPr>
          <p:cNvPr id="9" name="slide5_rect_7"/>
          <p:cNvSpPr/>
          <p:nvPr/>
        </p:nvSpPr>
        <p:spPr>
          <a:xfrm>
            <a:off x="3489960" y="2232660"/>
            <a:ext cx="2301240" cy="1219200"/>
          </a:xfrm>
          <a:prstGeom prst="roundRect">
            <a:avLst>
              <a:gd name="adj" fmla="val 5000"/>
            </a:avLst>
          </a:prstGeom>
          <a:solidFill>
            <a:srgbClr val="E4F0E6"/>
          </a:solidFill>
          <a:ln w="12192">
            <a:solidFill>
              <a:srgbClr val="176C4B"/>
            </a:solidFill>
            <a:prstDash val="solid"/>
          </a:ln>
        </p:spPr>
        <p:txBody>
          <a:bodyPr/>
          <a:p/>
        </p:txBody>
      </p:sp>
      <p:sp>
        <p:nvSpPr>
          <p:cNvPr id="10" name="slide5_text_8"/>
          <p:cNvSpPr txBox="1"/>
          <p:nvPr/>
        </p:nvSpPr>
        <p:spPr>
          <a:xfrm>
            <a:off x="3672840" y="2415540"/>
            <a:ext cx="1935480" cy="271272"/>
          </a:xfrm>
          <a:prstGeom prst="rect">
            <a:avLst/>
          </a:prstGeom>
          <a:noFill/>
          <a:ln/>
        </p:spPr>
        <p:txBody>
          <a:bodyPr wrap="square" lIns="0" tIns="0" rIns="0" bIns="0" rtlCol="0" anchor="t"/>
          <a:lstStyle/>
          <a:p>
            <a:pPr algn="l" indent="0" marL="0">
              <a:lnSpc>
                <a:spcPct val="100000"/>
              </a:lnSpc>
              <a:buNone/>
            </a:pPr>
            <a:r>
              <a:rPr lang="en-US" sz="1800" b="1" dirty="0">
                <a:solidFill>
                  <a:srgbClr val="176C4B"/>
                </a:solidFill>
                <a:latin typeface="Arial" pitchFamily="34" charset="0"/>
                <a:ea typeface="Arial" pitchFamily="34" charset="-122"/>
                <a:cs typeface="Arial" pitchFamily="34" charset="-120"/>
              </a:rPr>
              <a:t>Launchpad GUI</a:t>
            </a:r>
            <a:endParaRPr lang="en-US" sz="1800" dirty="0"/>
          </a:p>
        </p:txBody>
      </p:sp>
      <p:sp>
        <p:nvSpPr>
          <p:cNvPr id="11" name="slide5_text_9"/>
          <p:cNvSpPr txBox="1"/>
          <p:nvPr/>
        </p:nvSpPr>
        <p:spPr>
          <a:xfrm>
            <a:off x="3672840" y="2732532"/>
            <a:ext cx="193548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Records ready to run</a:t>
            </a:r>
            <a:endParaRPr lang="en-US" sz="1380" dirty="0"/>
          </a:p>
        </p:txBody>
      </p:sp>
      <p:sp>
        <p:nvSpPr>
          <p:cNvPr id="12" name="slide5_line_10"/>
          <p:cNvSpPr/>
          <p:nvPr/>
        </p:nvSpPr>
        <p:spPr>
          <a:xfrm>
            <a:off x="5882640" y="2842260"/>
            <a:ext cx="335280" cy="0"/>
          </a:xfrm>
          <a:prstGeom prst="line">
            <a:avLst/>
          </a:prstGeom>
          <a:noFill/>
          <a:ln w="22860">
            <a:solidFill>
              <a:srgbClr val="9AAA9E"/>
            </a:solidFill>
            <a:prstDash val="solid"/>
            <a:headEnd type="none"/>
            <a:tailEnd type="none"/>
          </a:ln>
        </p:spPr>
        <p:txBody>
          <a:bodyPr/>
          <a:p/>
        </p:txBody>
      </p:sp>
      <p:sp>
        <p:nvSpPr>
          <p:cNvPr id="13" name="slide5_poly_11"/>
          <p:cNvSpPr/>
          <p:nvPr/>
        </p:nvSpPr>
        <p:spPr>
          <a:xfrm>
            <a:off x="6217920" y="2796540"/>
            <a:ext cx="91440" cy="91440"/>
          </a:xfrm>
          <a:custGeom>
            <a:avLst/>
            <a:gdLst/>
            <a:ahLst/>
            <a:cxnLst/>
            <a:rect l="l" t="t" r="r" b="b"/>
            <a:pathLst>
              <a:path w="91440" h="91440">
                <a:moveTo>
                  <a:pt x="91440" y="45720"/>
                </a:moveTo>
                <a:lnTo>
                  <a:pt x="0" y="91440"/>
                </a:lnTo>
                <a:lnTo>
                  <a:pt x="0" y="0"/>
                </a:lnTo>
                <a:close/>
              </a:path>
            </a:pathLst>
          </a:custGeom>
          <a:solidFill>
            <a:srgbClr val="9AAA9E"/>
          </a:solidFill>
          <a:ln w="12700">
            <a:solidFill>
              <a:srgbClr val="9AAA9E">
                <a:alpha val="0"/>
              </a:srgbClr>
            </a:solidFill>
            <a:prstDash val="solid"/>
          </a:ln>
        </p:spPr>
        <p:txBody>
          <a:bodyPr/>
          <a:p/>
        </p:txBody>
      </p:sp>
      <p:sp>
        <p:nvSpPr>
          <p:cNvPr id="14" name="slide5_rect_12"/>
          <p:cNvSpPr/>
          <p:nvPr/>
        </p:nvSpPr>
        <p:spPr>
          <a:xfrm>
            <a:off x="6400800" y="2232660"/>
            <a:ext cx="2301240" cy="1219200"/>
          </a:xfrm>
          <a:prstGeom prst="roundRect">
            <a:avLst>
              <a:gd name="adj" fmla="val 5000"/>
            </a:avLst>
          </a:prstGeom>
          <a:solidFill>
            <a:srgbClr val="FFFFFF"/>
          </a:solidFill>
          <a:ln w="12192">
            <a:solidFill>
              <a:srgbClr val="D2DCD3"/>
            </a:solidFill>
            <a:prstDash val="solid"/>
          </a:ln>
        </p:spPr>
        <p:txBody>
          <a:bodyPr/>
          <a:p/>
        </p:txBody>
      </p:sp>
      <p:sp>
        <p:nvSpPr>
          <p:cNvPr id="15" name="slide5_text_13"/>
          <p:cNvSpPr txBox="1"/>
          <p:nvPr/>
        </p:nvSpPr>
        <p:spPr>
          <a:xfrm>
            <a:off x="6583680" y="2415540"/>
            <a:ext cx="1935480" cy="271272"/>
          </a:xfrm>
          <a:prstGeom prst="rect">
            <a:avLst/>
          </a:prstGeom>
          <a:noFill/>
          <a:ln/>
        </p:spPr>
        <p:txBody>
          <a:bodyPr wrap="square" lIns="0" tIns="0" rIns="0" bIns="0" rtlCol="0" anchor="t"/>
          <a:lstStyle/>
          <a:p>
            <a:pPr algn="l" indent="0" marL="0">
              <a:lnSpc>
                <a:spcPct val="100000"/>
              </a:lnSpc>
              <a:buNone/>
            </a:pPr>
            <a:r>
              <a:rPr lang="en-US" sz="1800" b="1" dirty="0">
                <a:solidFill>
                  <a:srgbClr val="152F27"/>
                </a:solidFill>
                <a:latin typeface="Arial" pitchFamily="34" charset="0"/>
                <a:ea typeface="Arial" pitchFamily="34" charset="-122"/>
                <a:cs typeface="Arial" pitchFamily="34" charset="-120"/>
              </a:rPr>
              <a:t>Registry</a:t>
            </a:r>
            <a:endParaRPr lang="en-US" sz="1800" dirty="0"/>
          </a:p>
        </p:txBody>
      </p:sp>
      <p:sp>
        <p:nvSpPr>
          <p:cNvPr id="16" name="slide5_text_14"/>
          <p:cNvSpPr txBox="1"/>
          <p:nvPr/>
        </p:nvSpPr>
        <p:spPr>
          <a:xfrm>
            <a:off x="6583680" y="2732532"/>
            <a:ext cx="193548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Create the identity</a:t>
            </a:r>
            <a:endParaRPr lang="en-US" sz="1380" dirty="0"/>
          </a:p>
        </p:txBody>
      </p:sp>
      <p:sp>
        <p:nvSpPr>
          <p:cNvPr id="17" name="slide5_line_15"/>
          <p:cNvSpPr/>
          <p:nvPr/>
        </p:nvSpPr>
        <p:spPr>
          <a:xfrm>
            <a:off x="8793480" y="2842260"/>
            <a:ext cx="335280" cy="0"/>
          </a:xfrm>
          <a:prstGeom prst="line">
            <a:avLst/>
          </a:prstGeom>
          <a:noFill/>
          <a:ln w="22860">
            <a:solidFill>
              <a:srgbClr val="9AAA9E"/>
            </a:solidFill>
            <a:prstDash val="solid"/>
            <a:headEnd type="none"/>
            <a:tailEnd type="none"/>
          </a:ln>
        </p:spPr>
        <p:txBody>
          <a:bodyPr/>
          <a:p/>
        </p:txBody>
      </p:sp>
      <p:sp>
        <p:nvSpPr>
          <p:cNvPr id="18" name="slide5_poly_16"/>
          <p:cNvSpPr/>
          <p:nvPr/>
        </p:nvSpPr>
        <p:spPr>
          <a:xfrm>
            <a:off x="9128760" y="2796540"/>
            <a:ext cx="91440" cy="91440"/>
          </a:xfrm>
          <a:custGeom>
            <a:avLst/>
            <a:gdLst/>
            <a:ahLst/>
            <a:cxnLst/>
            <a:rect l="l" t="t" r="r" b="b"/>
            <a:pathLst>
              <a:path w="91440" h="91440">
                <a:moveTo>
                  <a:pt x="91440" y="45720"/>
                </a:moveTo>
                <a:lnTo>
                  <a:pt x="0" y="91440"/>
                </a:lnTo>
                <a:lnTo>
                  <a:pt x="0" y="0"/>
                </a:lnTo>
                <a:close/>
              </a:path>
            </a:pathLst>
          </a:custGeom>
          <a:solidFill>
            <a:srgbClr val="9AAA9E"/>
          </a:solidFill>
          <a:ln w="12700">
            <a:solidFill>
              <a:srgbClr val="9AAA9E">
                <a:alpha val="0"/>
              </a:srgbClr>
            </a:solidFill>
            <a:prstDash val="solid"/>
          </a:ln>
        </p:spPr>
        <p:txBody>
          <a:bodyPr/>
          <a:p/>
        </p:txBody>
      </p:sp>
      <p:sp>
        <p:nvSpPr>
          <p:cNvPr id="19" name="slide5_rect_17"/>
          <p:cNvSpPr/>
          <p:nvPr/>
        </p:nvSpPr>
        <p:spPr>
          <a:xfrm>
            <a:off x="9311640" y="2232660"/>
            <a:ext cx="2301240" cy="1219200"/>
          </a:xfrm>
          <a:prstGeom prst="roundRect">
            <a:avLst>
              <a:gd name="adj" fmla="val 5000"/>
            </a:avLst>
          </a:prstGeom>
          <a:solidFill>
            <a:srgbClr val="FFFFFF"/>
          </a:solidFill>
          <a:ln w="12192">
            <a:solidFill>
              <a:srgbClr val="D2DCD3"/>
            </a:solidFill>
            <a:prstDash val="solid"/>
          </a:ln>
        </p:spPr>
        <p:txBody>
          <a:bodyPr/>
          <a:p/>
        </p:txBody>
      </p:sp>
      <p:sp>
        <p:nvSpPr>
          <p:cNvPr id="20" name="slide5_text_18"/>
          <p:cNvSpPr txBox="1"/>
          <p:nvPr/>
        </p:nvSpPr>
        <p:spPr>
          <a:xfrm>
            <a:off x="9494520" y="2415540"/>
            <a:ext cx="1935480" cy="271272"/>
          </a:xfrm>
          <a:prstGeom prst="rect">
            <a:avLst/>
          </a:prstGeom>
          <a:noFill/>
          <a:ln/>
        </p:spPr>
        <p:txBody>
          <a:bodyPr wrap="square" lIns="0" tIns="0" rIns="0" bIns="0" rtlCol="0" anchor="t"/>
          <a:lstStyle/>
          <a:p>
            <a:pPr algn="l" indent="0" marL="0">
              <a:lnSpc>
                <a:spcPct val="100000"/>
              </a:lnSpc>
              <a:buNone/>
            </a:pPr>
            <a:r>
              <a:rPr lang="en-US" sz="1800" b="1" dirty="0">
                <a:solidFill>
                  <a:srgbClr val="152F27"/>
                </a:solidFill>
                <a:latin typeface="Arial" pitchFamily="34" charset="0"/>
                <a:ea typeface="Arial" pitchFamily="34" charset="-122"/>
                <a:cs typeface="Arial" pitchFamily="34" charset="-120"/>
              </a:rPr>
              <a:t>Google</a:t>
            </a:r>
            <a:endParaRPr lang="en-US" sz="1800" dirty="0"/>
          </a:p>
        </p:txBody>
      </p:sp>
      <p:sp>
        <p:nvSpPr>
          <p:cNvPr id="21" name="slide5_text_18"/>
          <p:cNvSpPr txBox="1"/>
          <p:nvPr/>
        </p:nvSpPr>
        <p:spPr>
          <a:xfrm>
            <a:off x="9494520" y="2671572"/>
            <a:ext cx="1935480" cy="271272"/>
          </a:xfrm>
          <a:prstGeom prst="rect">
            <a:avLst/>
          </a:prstGeom>
          <a:noFill/>
          <a:ln/>
        </p:spPr>
        <p:txBody>
          <a:bodyPr wrap="square" lIns="0" tIns="0" rIns="0" bIns="0" rtlCol="0" anchor="t"/>
          <a:lstStyle/>
          <a:p>
            <a:pPr algn="l" indent="0" marL="0">
              <a:lnSpc>
                <a:spcPct val="100000"/>
              </a:lnSpc>
              <a:buNone/>
            </a:pPr>
            <a:r>
              <a:rPr lang="en-US" sz="1800" b="1" dirty="0">
                <a:solidFill>
                  <a:srgbClr val="152F27"/>
                </a:solidFill>
                <a:latin typeface="Arial" pitchFamily="34" charset="0"/>
                <a:ea typeface="Arial" pitchFamily="34" charset="-122"/>
                <a:cs typeface="Arial" pitchFamily="34" charset="-120"/>
              </a:rPr>
              <a:t>Workspace</a:t>
            </a:r>
            <a:endParaRPr lang="en-US" sz="1800" dirty="0"/>
          </a:p>
        </p:txBody>
      </p:sp>
      <p:sp>
        <p:nvSpPr>
          <p:cNvPr id="22" name="slide5_text_19"/>
          <p:cNvSpPr txBox="1"/>
          <p:nvPr/>
        </p:nvSpPr>
        <p:spPr>
          <a:xfrm>
            <a:off x="9494520" y="2988564"/>
            <a:ext cx="193548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Create the account</a:t>
            </a:r>
            <a:endParaRPr lang="en-US" sz="1380" dirty="0"/>
          </a:p>
        </p:txBody>
      </p:sp>
      <p:sp>
        <p:nvSpPr>
          <p:cNvPr id="23" name="slide5_line_20"/>
          <p:cNvSpPr/>
          <p:nvPr/>
        </p:nvSpPr>
        <p:spPr>
          <a:xfrm>
            <a:off x="579120" y="3886200"/>
            <a:ext cx="11033760" cy="0"/>
          </a:xfrm>
          <a:prstGeom prst="line">
            <a:avLst/>
          </a:prstGeom>
          <a:noFill/>
          <a:ln w="15240">
            <a:solidFill>
              <a:srgbClr val="D2DCD3"/>
            </a:solidFill>
            <a:prstDash val="solid"/>
            <a:headEnd type="none"/>
            <a:tailEnd type="none"/>
          </a:ln>
        </p:spPr>
        <p:txBody>
          <a:bodyPr/>
          <a:p/>
        </p:txBody>
      </p:sp>
      <p:sp>
        <p:nvSpPr>
          <p:cNvPr id="24" name="slide5_text_21"/>
          <p:cNvSpPr txBox="1"/>
          <p:nvPr/>
        </p:nvSpPr>
        <p:spPr>
          <a:xfrm>
            <a:off x="594360" y="4175760"/>
            <a:ext cx="1981200" cy="289255"/>
          </a:xfrm>
          <a:prstGeom prst="rect">
            <a:avLst/>
          </a:prstGeom>
          <a:noFill/>
          <a:ln/>
        </p:spPr>
        <p:txBody>
          <a:bodyPr wrap="square" lIns="0" tIns="0" rIns="0" bIns="0" rtlCol="0" anchor="t"/>
          <a:lstStyle/>
          <a:p>
            <a:pPr algn="l" indent="0" marL="0">
              <a:lnSpc>
                <a:spcPct val="100000"/>
              </a:lnSpc>
              <a:buNone/>
            </a:pPr>
            <a:r>
              <a:rPr lang="en-US" sz="1740" b="1" dirty="0">
                <a:solidFill>
                  <a:srgbClr val="152F27"/>
                </a:solidFill>
                <a:latin typeface="Arial" pitchFamily="34" charset="0"/>
                <a:ea typeface="Arial" pitchFamily="34" charset="-122"/>
                <a:cs typeface="Arial" pitchFamily="34" charset="-120"/>
              </a:rPr>
              <a:t>What I still did</a:t>
            </a:r>
            <a:endParaRPr lang="en-US" sz="1740" dirty="0"/>
          </a:p>
        </p:txBody>
      </p:sp>
      <p:sp>
        <p:nvSpPr>
          <p:cNvPr id="25" name="slide5_text_22"/>
          <p:cNvSpPr txBox="1"/>
          <p:nvPr/>
        </p:nvSpPr>
        <p:spPr>
          <a:xfrm>
            <a:off x="3124200" y="4213860"/>
            <a:ext cx="2628900" cy="287045"/>
          </a:xfrm>
          <a:prstGeom prst="rect">
            <a:avLst/>
          </a:prstGeom>
          <a:noFill/>
          <a:ln/>
        </p:spPr>
        <p:txBody>
          <a:bodyPr wrap="square" lIns="0" tIns="0" rIns="0" bIns="0" rtlCol="0" anchor="t"/>
          <a:lstStyle/>
          <a:p>
            <a:pPr algn="l" indent="0" marL="0">
              <a:lnSpc>
                <a:spcPct val="100000"/>
              </a:lnSpc>
              <a:buNone/>
            </a:pPr>
            <a:r>
              <a:rPr lang="en-US" sz="1740" dirty="0">
                <a:solidFill>
                  <a:srgbClr val="152F27"/>
                </a:solidFill>
                <a:latin typeface="Arial" pitchFamily="34" charset="0"/>
                <a:ea typeface="Arial" pitchFamily="34" charset="-122"/>
                <a:cs typeface="Arial" pitchFamily="34" charset="-120"/>
              </a:rPr>
              <a:t>Start one or two</a:t>
            </a:r>
            <a:endParaRPr lang="en-US" sz="1740" dirty="0"/>
          </a:p>
        </p:txBody>
      </p:sp>
      <p:sp>
        <p:nvSpPr>
          <p:cNvPr id="26" name="slide5_line_23"/>
          <p:cNvSpPr/>
          <p:nvPr/>
        </p:nvSpPr>
        <p:spPr>
          <a:xfrm>
            <a:off x="5585460" y="4373880"/>
            <a:ext cx="144780" cy="0"/>
          </a:xfrm>
          <a:prstGeom prst="line">
            <a:avLst/>
          </a:prstGeom>
          <a:noFill/>
          <a:ln w="22860">
            <a:solidFill>
              <a:srgbClr val="9AAA9E"/>
            </a:solidFill>
            <a:prstDash val="solid"/>
            <a:headEnd type="none"/>
            <a:tailEnd type="none"/>
          </a:ln>
        </p:spPr>
        <p:txBody>
          <a:bodyPr/>
          <a:p/>
        </p:txBody>
      </p:sp>
      <p:sp>
        <p:nvSpPr>
          <p:cNvPr id="27" name="slide5_poly_24"/>
          <p:cNvSpPr/>
          <p:nvPr/>
        </p:nvSpPr>
        <p:spPr>
          <a:xfrm>
            <a:off x="5730240" y="4328160"/>
            <a:ext cx="91440" cy="91440"/>
          </a:xfrm>
          <a:custGeom>
            <a:avLst/>
            <a:gdLst/>
            <a:ahLst/>
            <a:cxnLst/>
            <a:rect l="l" t="t" r="r" b="b"/>
            <a:pathLst>
              <a:path w="91440" h="91440">
                <a:moveTo>
                  <a:pt x="91440" y="45720"/>
                </a:moveTo>
                <a:lnTo>
                  <a:pt x="0" y="91440"/>
                </a:lnTo>
                <a:lnTo>
                  <a:pt x="0" y="0"/>
                </a:lnTo>
                <a:close/>
              </a:path>
            </a:pathLst>
          </a:custGeom>
          <a:solidFill>
            <a:srgbClr val="9AAA9E"/>
          </a:solidFill>
          <a:ln w="12700">
            <a:solidFill>
              <a:srgbClr val="9AAA9E">
                <a:alpha val="0"/>
              </a:srgbClr>
            </a:solidFill>
            <a:prstDash val="solid"/>
          </a:ln>
        </p:spPr>
        <p:txBody>
          <a:bodyPr/>
          <a:p/>
        </p:txBody>
      </p:sp>
      <p:sp>
        <p:nvSpPr>
          <p:cNvPr id="28" name="slide5_text_25"/>
          <p:cNvSpPr txBox="1"/>
          <p:nvPr/>
        </p:nvSpPr>
        <p:spPr>
          <a:xfrm>
            <a:off x="5974080" y="4213860"/>
            <a:ext cx="2628900" cy="287045"/>
          </a:xfrm>
          <a:prstGeom prst="rect">
            <a:avLst/>
          </a:prstGeom>
          <a:noFill/>
          <a:ln/>
        </p:spPr>
        <p:txBody>
          <a:bodyPr wrap="square" lIns="0" tIns="0" rIns="0" bIns="0" rtlCol="0" anchor="t"/>
          <a:lstStyle/>
          <a:p>
            <a:pPr algn="l" indent="0" marL="0">
              <a:lnSpc>
                <a:spcPct val="100000"/>
              </a:lnSpc>
              <a:buNone/>
            </a:pPr>
            <a:r>
              <a:rPr lang="en-US" sz="1740" dirty="0">
                <a:solidFill>
                  <a:srgbClr val="152F27"/>
                </a:solidFill>
                <a:latin typeface="Arial" pitchFamily="34" charset="0"/>
                <a:ea typeface="Arial" pitchFamily="34" charset="-122"/>
                <a:cs typeface="Arial" pitchFamily="34" charset="-120"/>
              </a:rPr>
              <a:t>Wait for completion</a:t>
            </a:r>
            <a:endParaRPr lang="en-US" sz="1740" dirty="0"/>
          </a:p>
        </p:txBody>
      </p:sp>
      <p:sp>
        <p:nvSpPr>
          <p:cNvPr id="29" name="slide5_line_26"/>
          <p:cNvSpPr/>
          <p:nvPr/>
        </p:nvSpPr>
        <p:spPr>
          <a:xfrm>
            <a:off x="8435340" y="4373880"/>
            <a:ext cx="144780" cy="0"/>
          </a:xfrm>
          <a:prstGeom prst="line">
            <a:avLst/>
          </a:prstGeom>
          <a:noFill/>
          <a:ln w="22860">
            <a:solidFill>
              <a:srgbClr val="9AAA9E"/>
            </a:solidFill>
            <a:prstDash val="solid"/>
            <a:headEnd type="none"/>
            <a:tailEnd type="none"/>
          </a:ln>
        </p:spPr>
        <p:txBody>
          <a:bodyPr/>
          <a:p/>
        </p:txBody>
      </p:sp>
      <p:sp>
        <p:nvSpPr>
          <p:cNvPr id="30" name="slide5_poly_27"/>
          <p:cNvSpPr/>
          <p:nvPr/>
        </p:nvSpPr>
        <p:spPr>
          <a:xfrm>
            <a:off x="8580120" y="4328160"/>
            <a:ext cx="91440" cy="91440"/>
          </a:xfrm>
          <a:custGeom>
            <a:avLst/>
            <a:gdLst/>
            <a:ahLst/>
            <a:cxnLst/>
            <a:rect l="l" t="t" r="r" b="b"/>
            <a:pathLst>
              <a:path w="91440" h="91440">
                <a:moveTo>
                  <a:pt x="91440" y="45720"/>
                </a:moveTo>
                <a:lnTo>
                  <a:pt x="0" y="91440"/>
                </a:lnTo>
                <a:lnTo>
                  <a:pt x="0" y="0"/>
                </a:lnTo>
                <a:close/>
              </a:path>
            </a:pathLst>
          </a:custGeom>
          <a:solidFill>
            <a:srgbClr val="9AAA9E"/>
          </a:solidFill>
          <a:ln w="12700">
            <a:solidFill>
              <a:srgbClr val="9AAA9E">
                <a:alpha val="0"/>
              </a:srgbClr>
            </a:solidFill>
            <a:prstDash val="solid"/>
          </a:ln>
        </p:spPr>
        <p:txBody>
          <a:bodyPr/>
          <a:p/>
        </p:txBody>
      </p:sp>
      <p:sp>
        <p:nvSpPr>
          <p:cNvPr id="31" name="slide5_text_28"/>
          <p:cNvSpPr txBox="1"/>
          <p:nvPr/>
        </p:nvSpPr>
        <p:spPr>
          <a:xfrm>
            <a:off x="8823960" y="4213860"/>
            <a:ext cx="2628900" cy="287045"/>
          </a:xfrm>
          <a:prstGeom prst="rect">
            <a:avLst/>
          </a:prstGeom>
          <a:noFill/>
          <a:ln/>
        </p:spPr>
        <p:txBody>
          <a:bodyPr wrap="square" lIns="0" tIns="0" rIns="0" bIns="0" rtlCol="0" anchor="t"/>
          <a:lstStyle/>
          <a:p>
            <a:pPr algn="l" indent="0" marL="0">
              <a:lnSpc>
                <a:spcPct val="100000"/>
              </a:lnSpc>
              <a:buNone/>
            </a:pPr>
            <a:r>
              <a:rPr lang="en-US" sz="1740" dirty="0">
                <a:solidFill>
                  <a:srgbClr val="152F27"/>
                </a:solidFill>
                <a:latin typeface="Arial" pitchFamily="34" charset="0"/>
                <a:ea typeface="Arial" pitchFamily="34" charset="-122"/>
                <a:cs typeface="Arial" pitchFamily="34" charset="-120"/>
              </a:rPr>
              <a:t>Start the next records</a:t>
            </a:r>
            <a:endParaRPr lang="en-US" sz="1740" dirty="0"/>
          </a:p>
        </p:txBody>
      </p:sp>
      <p:sp>
        <p:nvSpPr>
          <p:cNvPr id="32" name="slide5_text_29"/>
          <p:cNvSpPr txBox="1"/>
          <p:nvPr/>
        </p:nvSpPr>
        <p:spPr>
          <a:xfrm>
            <a:off x="594360" y="5455920"/>
            <a:ext cx="10668000" cy="289255"/>
          </a:xfrm>
          <a:prstGeom prst="rect">
            <a:avLst/>
          </a:prstGeom>
          <a:noFill/>
          <a:ln/>
        </p:spPr>
        <p:txBody>
          <a:bodyPr wrap="none" lIns="0" tIns="0" rIns="0" bIns="0" rtlCol="0" anchor="t">
            <a:noAutofit/>
          </a:bodyPr>
          <a:lstStyle/>
          <a:p>
            <a:pPr algn="l" indent="0" marL="0">
              <a:lnSpc>
                <a:spcPct val="100000"/>
              </a:lnSpc>
              <a:buNone/>
            </a:pPr>
            <a:r>
              <a:rPr lang="en-US" sz="1740" dirty="0">
                <a:solidFill>
                  <a:srgbClr val="586B62"/>
                </a:solidFill>
                <a:latin typeface="Arial" pitchFamily="34" charset="0"/>
                <a:ea typeface="Arial" pitchFamily="34" charset="-122"/>
                <a:cs typeface="Arial" pitchFamily="34" charset="-120"/>
              </a:rPr>
              <a:t>Race conditions meant I had to wait between account creation runs.</a:t>
            </a:r>
            <a:endParaRPr lang="en-US" sz="1740" dirty="0"/>
          </a:p>
        </p:txBody>
      </p:sp>
      <p:sp>
        <p:nvSpPr>
          <p:cNvPr id="33" name="slide5_line_30"/>
          <p:cNvSpPr/>
          <p:nvPr/>
        </p:nvSpPr>
        <p:spPr>
          <a:xfrm>
            <a:off x="579120" y="6301740"/>
            <a:ext cx="11033760" cy="0"/>
          </a:xfrm>
          <a:prstGeom prst="line">
            <a:avLst/>
          </a:prstGeom>
          <a:noFill/>
          <a:ln w="7620">
            <a:solidFill>
              <a:srgbClr val="D2DCD3"/>
            </a:solidFill>
            <a:prstDash val="solid"/>
            <a:headEnd type="none"/>
            <a:tailEnd type="none"/>
          </a:ln>
        </p:spPr>
        <p:txBody>
          <a:bodyPr/>
          <a:p/>
        </p:txBody>
      </p:sp>
      <p:sp>
        <p:nvSpPr>
          <p:cNvPr id="34" name="slide5_text_31"/>
          <p:cNvSpPr txBox="1"/>
          <p:nvPr/>
        </p:nvSpPr>
        <p:spPr>
          <a:xfrm>
            <a:off x="594360" y="6446520"/>
            <a:ext cx="6096000" cy="144780"/>
          </a:xfrm>
          <a:prstGeom prst="rect">
            <a:avLst/>
          </a:prstGeom>
          <a:noFill/>
          <a:ln/>
        </p:spPr>
        <p:txBody>
          <a:bodyPr wrap="square" lIns="0" tIns="0" rIns="0" bIns="0" rtlCol="0" anchor="t"/>
          <a:lstStyle/>
          <a:p>
            <a:pPr algn="l" indent="0" marL="0">
              <a:lnSpc>
                <a:spcPct val="100000"/>
              </a:lnSpc>
              <a:buNone/>
            </a:pPr>
            <a:r>
              <a:rPr lang="en-US" sz="1020" dirty="0">
                <a:solidFill>
                  <a:srgbClr val="586B62"/>
                </a:solidFill>
                <a:latin typeface="Arial" pitchFamily="34" charset="0"/>
                <a:ea typeface="Arial" pitchFamily="34" charset="-122"/>
                <a:cs typeface="Arial" pitchFamily="34" charset="-120"/>
              </a:rPr>
              <a:t>FRANKLIN WAGGONER / LAUNCHPAD</a:t>
            </a:r>
            <a:endParaRPr lang="en-US" sz="1020" dirty="0"/>
          </a:p>
        </p:txBody>
      </p:sp>
      <p:sp>
        <p:nvSpPr>
          <p:cNvPr id="35" name="slide5_text_32"/>
          <p:cNvSpPr txBox="1"/>
          <p:nvPr/>
        </p:nvSpPr>
        <p:spPr>
          <a:xfrm>
            <a:off x="10591800" y="6438900"/>
            <a:ext cx="1021080" cy="144780"/>
          </a:xfrm>
          <a:prstGeom prst="rect">
            <a:avLst/>
          </a:prstGeom>
          <a:noFill/>
          <a:ln/>
        </p:spPr>
        <p:txBody>
          <a:bodyPr wrap="square" lIns="0" tIns="0" rIns="0" bIns="0" rtlCol="0" anchor="t"/>
          <a:lstStyle/>
          <a:p>
            <a:pPr algn="r" indent="0" marL="0">
              <a:lnSpc>
                <a:spcPct val="100000"/>
              </a:lnSpc>
              <a:buNone/>
            </a:pPr>
            <a:r>
              <a:rPr lang="en-US" sz="1020" dirty="0">
                <a:solidFill>
                  <a:srgbClr val="586B62"/>
                </a:solidFill>
                <a:latin typeface="Arial" pitchFamily="34" charset="0"/>
                <a:ea typeface="Arial" pitchFamily="34" charset="-122"/>
                <a:cs typeface="Arial" pitchFamily="34" charset="-120"/>
              </a:rPr>
              <a:t>05 / 12</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4"/>
        </a:solidFill>
      </p:bgPr>
    </p:bg>
    <p:spTree>
      <p:nvGrpSpPr>
        <p:cNvPr id="1" name=""/>
        <p:cNvGrpSpPr/>
        <p:nvPr/>
      </p:nvGrpSpPr>
      <p:grpSpPr>
        <a:xfrm>
          <a:off x="0" y="0"/>
          <a:ext cx="0" cy="0"/>
          <a:chOff x="0" y="0"/>
          <a:chExt cx="0" cy="0"/>
        </a:xfrm>
      </p:grpSpPr>
      <p:sp>
        <p:nvSpPr>
          <p:cNvPr id="2" name="slide6_text_0"/>
          <p:cNvSpPr txBox="1"/>
          <p:nvPr/>
        </p:nvSpPr>
        <p:spPr>
          <a:xfrm>
            <a:off x="579120" y="533400"/>
            <a:ext cx="11033760" cy="459638"/>
          </a:xfrm>
          <a:prstGeom prst="rect">
            <a:avLst/>
          </a:prstGeom>
          <a:noFill/>
          <a:ln/>
        </p:spPr>
        <p:txBody>
          <a:bodyPr wrap="none" lIns="0" tIns="0" rIns="0" bIns="0" rtlCol="0" anchor="t">
            <a:noAutofit/>
          </a:bodyPr>
          <a:lstStyle/>
          <a:p>
            <a:pPr algn="l" indent="0" marL="0">
              <a:lnSpc>
                <a:spcPct val="100000"/>
              </a:lnSpc>
              <a:buNone/>
            </a:pPr>
            <a:r>
              <a:rPr lang="en-US" sz="3240" b="1" dirty="0">
                <a:solidFill>
                  <a:srgbClr val="176C4B"/>
                </a:solidFill>
                <a:latin typeface="Arial" pitchFamily="34" charset="0"/>
                <a:ea typeface="Arial" pitchFamily="34" charset="-122"/>
                <a:cs typeface="Arial" pitchFamily="34" charset="-120"/>
              </a:rPr>
              <a:t>“Run All”</a:t>
            </a:r>
            <a:r>
              <a:rPr lang="en-US" sz="3240" b="1" dirty="0">
                <a:solidFill>
                  <a:srgbClr val="152F27"/>
                </a:solidFill>
                <a:latin typeface="Arial" pitchFamily="34" charset="0"/>
                <a:ea typeface="Arial" pitchFamily="34" charset="-122"/>
                <a:cs typeface="Arial" pitchFamily="34" charset="-120"/>
              </a:rPr>
              <a:t> started an entire batch.</a:t>
            </a:r>
            <a:endParaRPr lang="en-US" sz="3240" dirty="0"/>
          </a:p>
        </p:txBody>
      </p:sp>
      <p:sp>
        <p:nvSpPr>
          <p:cNvPr id="3" name="slide6_text_1"/>
          <p:cNvSpPr txBox="1"/>
          <p:nvPr/>
        </p:nvSpPr>
        <p:spPr>
          <a:xfrm>
            <a:off x="594360" y="1165860"/>
            <a:ext cx="10881360" cy="288341"/>
          </a:xfrm>
          <a:prstGeom prst="rect">
            <a:avLst/>
          </a:prstGeom>
          <a:noFill/>
          <a:ln/>
        </p:spPr>
        <p:txBody>
          <a:bodyPr wrap="none" lIns="0" tIns="0" rIns="0" bIns="0" rtlCol="0" anchor="t">
            <a:noAutofit/>
          </a:bodyPr>
          <a:lstStyle/>
          <a:p>
            <a:pPr algn="l" indent="0" marL="0">
              <a:lnSpc>
                <a:spcPct val="100000"/>
              </a:lnSpc>
              <a:buNone/>
            </a:pPr>
            <a:r>
              <a:rPr lang="en-US" sz="1680" dirty="0">
                <a:solidFill>
                  <a:srgbClr val="586B62"/>
                </a:solidFill>
                <a:latin typeface="Arial" pitchFamily="34" charset="0"/>
                <a:ea typeface="Arial" pitchFamily="34" charset="-122"/>
                <a:cs typeface="Arial" pitchFamily="34" charset="-120"/>
              </a:rPr>
              <a:t>I partnered with engineering on a batch feature that replaced starting each account individually.</a:t>
            </a:r>
            <a:endParaRPr lang="en-US" sz="1680" dirty="0"/>
          </a:p>
        </p:txBody>
      </p:sp>
      <p:sp>
        <p:nvSpPr>
          <p:cNvPr id="4" name="slide6_rect_2"/>
          <p:cNvSpPr/>
          <p:nvPr/>
        </p:nvSpPr>
        <p:spPr>
          <a:xfrm>
            <a:off x="579120" y="3025140"/>
            <a:ext cx="2476500" cy="1264920"/>
          </a:xfrm>
          <a:prstGeom prst="roundRect">
            <a:avLst>
              <a:gd name="adj" fmla="val 4819"/>
            </a:avLst>
          </a:prstGeom>
          <a:solidFill>
            <a:srgbClr val="FFFFFF"/>
          </a:solidFill>
          <a:ln w="12192">
            <a:solidFill>
              <a:srgbClr val="D2DCD3"/>
            </a:solidFill>
            <a:prstDash val="solid"/>
          </a:ln>
        </p:spPr>
        <p:txBody>
          <a:bodyPr/>
          <a:p/>
        </p:txBody>
      </p:sp>
      <p:sp>
        <p:nvSpPr>
          <p:cNvPr id="5" name="slide6_text_3"/>
          <p:cNvSpPr txBox="1"/>
          <p:nvPr/>
        </p:nvSpPr>
        <p:spPr>
          <a:xfrm>
            <a:off x="762000" y="3208020"/>
            <a:ext cx="2110740" cy="288341"/>
          </a:xfrm>
          <a:prstGeom prst="rect">
            <a:avLst/>
          </a:prstGeom>
          <a:noFill/>
          <a:ln/>
        </p:spPr>
        <p:txBody>
          <a:bodyPr wrap="none" lIns="0" tIns="0" rIns="0" bIns="0" rtlCol="0" anchor="t">
            <a:noAutofit/>
          </a:bodyPr>
          <a:lstStyle/>
          <a:p>
            <a:pPr algn="l" indent="0" marL="0">
              <a:lnSpc>
                <a:spcPct val="100000"/>
              </a:lnSpc>
              <a:buNone/>
            </a:pPr>
            <a:r>
              <a:rPr lang="en-US" sz="1920" b="1" dirty="0">
                <a:solidFill>
                  <a:srgbClr val="176C4B"/>
                </a:solidFill>
                <a:latin typeface="Arial" pitchFamily="34" charset="0"/>
                <a:ea typeface="Arial" pitchFamily="34" charset="-122"/>
                <a:cs typeface="Arial" pitchFamily="34" charset="-120"/>
              </a:rPr>
              <a:t>I select “Run All”</a:t>
            </a:r>
            <a:endParaRPr lang="en-US" sz="1920" dirty="0"/>
          </a:p>
        </p:txBody>
      </p:sp>
      <p:sp>
        <p:nvSpPr>
          <p:cNvPr id="6" name="slide6_text_4"/>
          <p:cNvSpPr txBox="1"/>
          <p:nvPr/>
        </p:nvSpPr>
        <p:spPr>
          <a:xfrm>
            <a:off x="762000" y="3542081"/>
            <a:ext cx="2110740" cy="225552"/>
          </a:xfrm>
          <a:prstGeom prst="rect">
            <a:avLst/>
          </a:prstGeom>
          <a:noFill/>
          <a:ln/>
        </p:spPr>
        <p:txBody>
          <a:bodyPr wrap="none" lIns="0" tIns="0" rIns="0" bIns="0" rtlCol="0" anchor="t">
            <a:noAutofit/>
          </a:bodyPr>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One click starts the batch</a:t>
            </a:r>
            <a:endParaRPr lang="en-US" sz="1380" dirty="0"/>
          </a:p>
        </p:txBody>
      </p:sp>
      <p:sp>
        <p:nvSpPr>
          <p:cNvPr id="7" name="slide6_line_5"/>
          <p:cNvSpPr/>
          <p:nvPr/>
        </p:nvSpPr>
        <p:spPr>
          <a:xfrm>
            <a:off x="3147060" y="3657600"/>
            <a:ext cx="396240" cy="0"/>
          </a:xfrm>
          <a:prstGeom prst="line">
            <a:avLst/>
          </a:prstGeom>
          <a:noFill/>
          <a:ln w="22860">
            <a:solidFill>
              <a:srgbClr val="9AAA9E"/>
            </a:solidFill>
            <a:prstDash val="solid"/>
            <a:headEnd type="none"/>
            <a:tailEnd type="none"/>
          </a:ln>
        </p:spPr>
        <p:txBody>
          <a:bodyPr/>
          <a:p/>
        </p:txBody>
      </p:sp>
      <p:sp>
        <p:nvSpPr>
          <p:cNvPr id="8" name="slide6_poly_6"/>
          <p:cNvSpPr/>
          <p:nvPr/>
        </p:nvSpPr>
        <p:spPr>
          <a:xfrm>
            <a:off x="3543300" y="3604260"/>
            <a:ext cx="106680" cy="106680"/>
          </a:xfrm>
          <a:custGeom>
            <a:avLst/>
            <a:gdLst/>
            <a:ahLst/>
            <a:cxnLst/>
            <a:rect l="l" t="t" r="r" b="b"/>
            <a:pathLst>
              <a:path w="106680" h="106680">
                <a:moveTo>
                  <a:pt x="106680" y="53340"/>
                </a:moveTo>
                <a:lnTo>
                  <a:pt x="0" y="106680"/>
                </a:lnTo>
                <a:lnTo>
                  <a:pt x="0" y="0"/>
                </a:lnTo>
                <a:close/>
              </a:path>
            </a:pathLst>
          </a:custGeom>
          <a:solidFill>
            <a:srgbClr val="9AAA9E"/>
          </a:solidFill>
          <a:ln w="12700">
            <a:solidFill>
              <a:srgbClr val="9AAA9E">
                <a:alpha val="0"/>
              </a:srgbClr>
            </a:solidFill>
            <a:prstDash val="solid"/>
          </a:ln>
        </p:spPr>
        <p:txBody>
          <a:bodyPr/>
          <a:p/>
        </p:txBody>
      </p:sp>
      <p:sp>
        <p:nvSpPr>
          <p:cNvPr id="9" name="slide6_rect_7"/>
          <p:cNvSpPr/>
          <p:nvPr/>
        </p:nvSpPr>
        <p:spPr>
          <a:xfrm>
            <a:off x="3741420" y="3025140"/>
            <a:ext cx="3131820" cy="1264920"/>
          </a:xfrm>
          <a:prstGeom prst="roundRect">
            <a:avLst>
              <a:gd name="adj" fmla="val 4819"/>
            </a:avLst>
          </a:prstGeom>
          <a:solidFill>
            <a:srgbClr val="E4F0E6"/>
          </a:solidFill>
          <a:ln w="12192">
            <a:solidFill>
              <a:srgbClr val="176C4B"/>
            </a:solidFill>
            <a:prstDash val="solid"/>
          </a:ln>
        </p:spPr>
        <p:txBody>
          <a:bodyPr/>
          <a:p/>
        </p:txBody>
      </p:sp>
      <p:sp>
        <p:nvSpPr>
          <p:cNvPr id="10" name="slide6_text_8"/>
          <p:cNvSpPr txBox="1"/>
          <p:nvPr/>
        </p:nvSpPr>
        <p:spPr>
          <a:xfrm>
            <a:off x="3924300" y="3208020"/>
            <a:ext cx="2766060" cy="288341"/>
          </a:xfrm>
          <a:prstGeom prst="rect">
            <a:avLst/>
          </a:prstGeom>
          <a:noFill/>
          <a:ln/>
        </p:spPr>
        <p:txBody>
          <a:bodyPr wrap="square" lIns="0" tIns="0" rIns="0" bIns="0" rtlCol="0" anchor="t"/>
          <a:lstStyle/>
          <a:p>
            <a:pPr algn="l" indent="0" marL="0">
              <a:lnSpc>
                <a:spcPct val="100000"/>
              </a:lnSpc>
              <a:buNone/>
            </a:pPr>
            <a:r>
              <a:rPr lang="en-US" sz="1920" b="1" dirty="0">
                <a:solidFill>
                  <a:srgbClr val="176C4B"/>
                </a:solidFill>
                <a:latin typeface="Arial" pitchFamily="34" charset="0"/>
                <a:ea typeface="Arial" pitchFamily="34" charset="-122"/>
                <a:cs typeface="Arial" pitchFamily="34" charset="-120"/>
              </a:rPr>
              <a:t>Launchpad runs the</a:t>
            </a:r>
            <a:endParaRPr lang="en-US" sz="1920" dirty="0"/>
          </a:p>
        </p:txBody>
      </p:sp>
      <p:sp>
        <p:nvSpPr>
          <p:cNvPr id="11" name="slide6_text_8"/>
          <p:cNvSpPr txBox="1"/>
          <p:nvPr/>
        </p:nvSpPr>
        <p:spPr>
          <a:xfrm>
            <a:off x="3924300" y="3481121"/>
            <a:ext cx="2766060" cy="288341"/>
          </a:xfrm>
          <a:prstGeom prst="rect">
            <a:avLst/>
          </a:prstGeom>
          <a:noFill/>
          <a:ln/>
        </p:spPr>
        <p:txBody>
          <a:bodyPr wrap="square" lIns="0" tIns="0" rIns="0" bIns="0" rtlCol="0" anchor="t"/>
          <a:lstStyle/>
          <a:p>
            <a:pPr algn="l" indent="0" marL="0">
              <a:lnSpc>
                <a:spcPct val="100000"/>
              </a:lnSpc>
              <a:buNone/>
            </a:pPr>
            <a:r>
              <a:rPr lang="en-US" sz="1920" b="1" dirty="0">
                <a:solidFill>
                  <a:srgbClr val="176C4B"/>
                </a:solidFill>
                <a:latin typeface="Arial" pitchFamily="34" charset="0"/>
                <a:ea typeface="Arial" pitchFamily="34" charset="-122"/>
                <a:cs typeface="Arial" pitchFamily="34" charset="-120"/>
              </a:rPr>
              <a:t>cohort</a:t>
            </a:r>
            <a:endParaRPr lang="en-US" sz="1920" dirty="0"/>
          </a:p>
        </p:txBody>
      </p:sp>
      <p:sp>
        <p:nvSpPr>
          <p:cNvPr id="12" name="slide6_text_9"/>
          <p:cNvSpPr txBox="1"/>
          <p:nvPr/>
        </p:nvSpPr>
        <p:spPr>
          <a:xfrm>
            <a:off x="3924300" y="3815182"/>
            <a:ext cx="276606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Account creation proceeds</a:t>
            </a:r>
            <a:endParaRPr lang="en-US" sz="1380" dirty="0"/>
          </a:p>
        </p:txBody>
      </p:sp>
      <p:sp>
        <p:nvSpPr>
          <p:cNvPr id="13" name="slide6_line_10"/>
          <p:cNvSpPr/>
          <p:nvPr/>
        </p:nvSpPr>
        <p:spPr>
          <a:xfrm>
            <a:off x="6873240" y="3657600"/>
            <a:ext cx="556260" cy="0"/>
          </a:xfrm>
          <a:prstGeom prst="line">
            <a:avLst/>
          </a:prstGeom>
          <a:noFill/>
          <a:ln w="22860">
            <a:solidFill>
              <a:srgbClr val="9AAA9E"/>
            </a:solidFill>
            <a:prstDash val="solid"/>
            <a:headEnd type="none"/>
            <a:tailEnd type="none"/>
          </a:ln>
        </p:spPr>
        <p:txBody>
          <a:bodyPr/>
          <a:p/>
        </p:txBody>
      </p:sp>
      <p:sp>
        <p:nvSpPr>
          <p:cNvPr id="14" name="slide6_line_11"/>
          <p:cNvSpPr/>
          <p:nvPr/>
        </p:nvSpPr>
        <p:spPr>
          <a:xfrm>
            <a:off x="7429500" y="2674620"/>
            <a:ext cx="0" cy="1973580"/>
          </a:xfrm>
          <a:prstGeom prst="line">
            <a:avLst/>
          </a:prstGeom>
          <a:noFill/>
          <a:ln w="22860">
            <a:solidFill>
              <a:srgbClr val="9AAA9E"/>
            </a:solidFill>
            <a:prstDash val="solid"/>
            <a:headEnd type="none"/>
            <a:tailEnd type="none"/>
          </a:ln>
        </p:spPr>
        <p:txBody>
          <a:bodyPr/>
          <a:p/>
        </p:txBody>
      </p:sp>
      <p:sp>
        <p:nvSpPr>
          <p:cNvPr id="15" name="slide6_line_12"/>
          <p:cNvSpPr/>
          <p:nvPr/>
        </p:nvSpPr>
        <p:spPr>
          <a:xfrm>
            <a:off x="7429500" y="2674620"/>
            <a:ext cx="396240" cy="0"/>
          </a:xfrm>
          <a:prstGeom prst="line">
            <a:avLst/>
          </a:prstGeom>
          <a:noFill/>
          <a:ln w="22860">
            <a:solidFill>
              <a:srgbClr val="9AAA9E"/>
            </a:solidFill>
            <a:prstDash val="solid"/>
            <a:headEnd type="none"/>
            <a:tailEnd type="none"/>
          </a:ln>
        </p:spPr>
        <p:txBody>
          <a:bodyPr/>
          <a:p/>
        </p:txBody>
      </p:sp>
      <p:sp>
        <p:nvSpPr>
          <p:cNvPr id="16" name="slide6_poly_13"/>
          <p:cNvSpPr/>
          <p:nvPr/>
        </p:nvSpPr>
        <p:spPr>
          <a:xfrm>
            <a:off x="7825740" y="2625090"/>
            <a:ext cx="99060" cy="99060"/>
          </a:xfrm>
          <a:custGeom>
            <a:avLst/>
            <a:gdLst/>
            <a:ahLst/>
            <a:cxnLst/>
            <a:rect l="l" t="t" r="r" b="b"/>
            <a:pathLst>
              <a:path w="99060" h="99060">
                <a:moveTo>
                  <a:pt x="99060" y="49530"/>
                </a:moveTo>
                <a:lnTo>
                  <a:pt x="0" y="99060"/>
                </a:lnTo>
                <a:lnTo>
                  <a:pt x="0" y="0"/>
                </a:lnTo>
                <a:close/>
              </a:path>
            </a:pathLst>
          </a:custGeom>
          <a:solidFill>
            <a:srgbClr val="9AAA9E"/>
          </a:solidFill>
          <a:ln w="12700">
            <a:solidFill>
              <a:srgbClr val="9AAA9E">
                <a:alpha val="0"/>
              </a:srgbClr>
            </a:solidFill>
            <a:prstDash val="solid"/>
          </a:ln>
        </p:spPr>
        <p:txBody>
          <a:bodyPr/>
          <a:p/>
        </p:txBody>
      </p:sp>
      <p:sp>
        <p:nvSpPr>
          <p:cNvPr id="17" name="slide6_line_14"/>
          <p:cNvSpPr/>
          <p:nvPr/>
        </p:nvSpPr>
        <p:spPr>
          <a:xfrm>
            <a:off x="7429500" y="4648200"/>
            <a:ext cx="396240" cy="0"/>
          </a:xfrm>
          <a:prstGeom prst="line">
            <a:avLst/>
          </a:prstGeom>
          <a:noFill/>
          <a:ln w="22860">
            <a:solidFill>
              <a:srgbClr val="9AAA9E"/>
            </a:solidFill>
            <a:prstDash val="solid"/>
            <a:headEnd type="none"/>
            <a:tailEnd type="none"/>
          </a:ln>
        </p:spPr>
        <p:txBody>
          <a:bodyPr/>
          <a:p/>
        </p:txBody>
      </p:sp>
      <p:sp>
        <p:nvSpPr>
          <p:cNvPr id="18" name="slide6_poly_15"/>
          <p:cNvSpPr/>
          <p:nvPr/>
        </p:nvSpPr>
        <p:spPr>
          <a:xfrm>
            <a:off x="7825740" y="4598670"/>
            <a:ext cx="99060" cy="99060"/>
          </a:xfrm>
          <a:custGeom>
            <a:avLst/>
            <a:gdLst/>
            <a:ahLst/>
            <a:cxnLst/>
            <a:rect l="l" t="t" r="r" b="b"/>
            <a:pathLst>
              <a:path w="99060" h="99060">
                <a:moveTo>
                  <a:pt x="99060" y="49530"/>
                </a:moveTo>
                <a:lnTo>
                  <a:pt x="0" y="99060"/>
                </a:lnTo>
                <a:lnTo>
                  <a:pt x="0" y="0"/>
                </a:lnTo>
                <a:close/>
              </a:path>
            </a:pathLst>
          </a:custGeom>
          <a:solidFill>
            <a:srgbClr val="9AAA9E"/>
          </a:solidFill>
          <a:ln w="12700">
            <a:solidFill>
              <a:srgbClr val="9AAA9E">
                <a:alpha val="0"/>
              </a:srgbClr>
            </a:solidFill>
            <a:prstDash val="solid"/>
          </a:ln>
        </p:spPr>
        <p:txBody>
          <a:bodyPr/>
          <a:p/>
        </p:txBody>
      </p:sp>
      <p:sp>
        <p:nvSpPr>
          <p:cNvPr id="19" name="slide6_rect_16"/>
          <p:cNvSpPr/>
          <p:nvPr/>
        </p:nvSpPr>
        <p:spPr>
          <a:xfrm>
            <a:off x="8023860" y="2080260"/>
            <a:ext cx="3589020" cy="1264920"/>
          </a:xfrm>
          <a:prstGeom prst="roundRect">
            <a:avLst>
              <a:gd name="adj" fmla="val 4819"/>
            </a:avLst>
          </a:prstGeom>
          <a:solidFill>
            <a:srgbClr val="E4F0E6"/>
          </a:solidFill>
          <a:ln w="12192">
            <a:solidFill>
              <a:srgbClr val="176C4B"/>
            </a:solidFill>
            <a:prstDash val="solid"/>
          </a:ln>
        </p:spPr>
        <p:txBody>
          <a:bodyPr/>
          <a:p/>
        </p:txBody>
      </p:sp>
      <p:sp>
        <p:nvSpPr>
          <p:cNvPr id="20" name="slide6_text_17"/>
          <p:cNvSpPr txBox="1"/>
          <p:nvPr/>
        </p:nvSpPr>
        <p:spPr>
          <a:xfrm>
            <a:off x="8206740" y="2263140"/>
            <a:ext cx="3223260" cy="288341"/>
          </a:xfrm>
          <a:prstGeom prst="rect">
            <a:avLst/>
          </a:prstGeom>
          <a:noFill/>
          <a:ln/>
        </p:spPr>
        <p:txBody>
          <a:bodyPr wrap="square" lIns="0" tIns="0" rIns="0" bIns="0" rtlCol="0" anchor="t"/>
          <a:lstStyle/>
          <a:p>
            <a:pPr algn="l" indent="0" marL="0">
              <a:lnSpc>
                <a:spcPct val="100000"/>
              </a:lnSpc>
              <a:buNone/>
            </a:pPr>
            <a:r>
              <a:rPr lang="en-US" sz="1920" b="1" dirty="0">
                <a:solidFill>
                  <a:srgbClr val="176C4B"/>
                </a:solidFill>
                <a:latin typeface="Arial" pitchFamily="34" charset="0"/>
                <a:ea typeface="Arial" pitchFamily="34" charset="-122"/>
                <a:cs typeface="Arial" pitchFamily="34" charset="-120"/>
              </a:rPr>
              <a:t>Accounts created</a:t>
            </a:r>
            <a:endParaRPr lang="en-US" sz="1920" dirty="0"/>
          </a:p>
        </p:txBody>
      </p:sp>
      <p:sp>
        <p:nvSpPr>
          <p:cNvPr id="21" name="slide6_text_18"/>
          <p:cNvSpPr txBox="1"/>
          <p:nvPr/>
        </p:nvSpPr>
        <p:spPr>
          <a:xfrm>
            <a:off x="8206740" y="2597201"/>
            <a:ext cx="322326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Onboarding PDFs generated and saved</a:t>
            </a:r>
            <a:endParaRPr lang="en-US" sz="1380" dirty="0"/>
          </a:p>
        </p:txBody>
      </p:sp>
      <p:sp>
        <p:nvSpPr>
          <p:cNvPr id="22" name="slide6_rect_19"/>
          <p:cNvSpPr/>
          <p:nvPr/>
        </p:nvSpPr>
        <p:spPr>
          <a:xfrm>
            <a:off x="8023860" y="4053840"/>
            <a:ext cx="3589020" cy="1264920"/>
          </a:xfrm>
          <a:prstGeom prst="roundRect">
            <a:avLst>
              <a:gd name="adj" fmla="val 4819"/>
            </a:avLst>
          </a:prstGeom>
          <a:solidFill>
            <a:srgbClr val="FFFFFF"/>
          </a:solidFill>
          <a:ln w="12192">
            <a:solidFill>
              <a:srgbClr val="D2DCD3"/>
            </a:solidFill>
            <a:prstDash val="solid"/>
          </a:ln>
        </p:spPr>
        <p:txBody>
          <a:bodyPr/>
          <a:p/>
        </p:txBody>
      </p:sp>
      <p:sp>
        <p:nvSpPr>
          <p:cNvPr id="23" name="slide6_text_20"/>
          <p:cNvSpPr txBox="1"/>
          <p:nvPr/>
        </p:nvSpPr>
        <p:spPr>
          <a:xfrm>
            <a:off x="8206740" y="4236720"/>
            <a:ext cx="3223260" cy="288341"/>
          </a:xfrm>
          <a:prstGeom prst="rect">
            <a:avLst/>
          </a:prstGeom>
          <a:noFill/>
          <a:ln/>
        </p:spPr>
        <p:txBody>
          <a:bodyPr wrap="square" lIns="0" tIns="0" rIns="0" bIns="0" rtlCol="0" anchor="t"/>
          <a:lstStyle/>
          <a:p>
            <a:pPr algn="l" indent="0" marL="0">
              <a:lnSpc>
                <a:spcPct val="100000"/>
              </a:lnSpc>
              <a:buNone/>
            </a:pPr>
            <a:r>
              <a:rPr lang="en-US" sz="1920" b="1" dirty="0">
                <a:solidFill>
                  <a:srgbClr val="152F27"/>
                </a:solidFill>
                <a:latin typeface="Arial" pitchFamily="34" charset="0"/>
                <a:ea typeface="Arial" pitchFamily="34" charset="-122"/>
                <a:cs typeface="Arial" pitchFamily="34" charset="-120"/>
              </a:rPr>
              <a:t>I resolve the errors</a:t>
            </a:r>
            <a:endParaRPr lang="en-US" sz="1920" dirty="0"/>
          </a:p>
        </p:txBody>
      </p:sp>
      <p:sp>
        <p:nvSpPr>
          <p:cNvPr id="24" name="slide6_text_21"/>
          <p:cNvSpPr txBox="1"/>
          <p:nvPr/>
        </p:nvSpPr>
        <p:spPr>
          <a:xfrm>
            <a:off x="8206740" y="4570781"/>
            <a:ext cx="322326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Correct the remaining records</a:t>
            </a:r>
            <a:endParaRPr lang="en-US" sz="1380" dirty="0"/>
          </a:p>
        </p:txBody>
      </p:sp>
      <p:sp>
        <p:nvSpPr>
          <p:cNvPr id="25" name="slide6_text_22"/>
          <p:cNvSpPr txBox="1"/>
          <p:nvPr/>
        </p:nvSpPr>
        <p:spPr>
          <a:xfrm>
            <a:off x="594360" y="5646420"/>
            <a:ext cx="10820400" cy="289255"/>
          </a:xfrm>
          <a:prstGeom prst="rect">
            <a:avLst/>
          </a:prstGeom>
          <a:noFill/>
          <a:ln/>
        </p:spPr>
        <p:txBody>
          <a:bodyPr wrap="square" lIns="0" tIns="0" rIns="0" bIns="0" rtlCol="0" anchor="t"/>
          <a:lstStyle/>
          <a:p>
            <a:pPr algn="l" indent="0" marL="0">
              <a:lnSpc>
                <a:spcPct val="100000"/>
              </a:lnSpc>
              <a:buNone/>
            </a:pPr>
            <a:r>
              <a:rPr lang="en-US" sz="1740" dirty="0">
                <a:solidFill>
                  <a:srgbClr val="586B62"/>
                </a:solidFill>
                <a:latin typeface="Arial" pitchFamily="34" charset="0"/>
                <a:ea typeface="Arial" pitchFamily="34" charset="-122"/>
                <a:cs typeface="Arial" pitchFamily="34" charset="-120"/>
              </a:rPr>
              <a:t>Batch execution let me focus on the records that needed attention.</a:t>
            </a:r>
            <a:endParaRPr lang="en-US" sz="1740" dirty="0"/>
          </a:p>
        </p:txBody>
      </p:sp>
      <p:sp>
        <p:nvSpPr>
          <p:cNvPr id="26" name="slide6_line_23"/>
          <p:cNvSpPr/>
          <p:nvPr/>
        </p:nvSpPr>
        <p:spPr>
          <a:xfrm>
            <a:off x="579120" y="6301740"/>
            <a:ext cx="11033760" cy="0"/>
          </a:xfrm>
          <a:prstGeom prst="line">
            <a:avLst/>
          </a:prstGeom>
          <a:noFill/>
          <a:ln w="7620">
            <a:solidFill>
              <a:srgbClr val="D2DCD3"/>
            </a:solidFill>
            <a:prstDash val="solid"/>
            <a:headEnd type="none"/>
            <a:tailEnd type="none"/>
          </a:ln>
        </p:spPr>
        <p:txBody>
          <a:bodyPr/>
          <a:p/>
        </p:txBody>
      </p:sp>
      <p:sp>
        <p:nvSpPr>
          <p:cNvPr id="27" name="slide6_text_24"/>
          <p:cNvSpPr txBox="1"/>
          <p:nvPr/>
        </p:nvSpPr>
        <p:spPr>
          <a:xfrm>
            <a:off x="594360" y="6446520"/>
            <a:ext cx="6096000" cy="144780"/>
          </a:xfrm>
          <a:prstGeom prst="rect">
            <a:avLst/>
          </a:prstGeom>
          <a:noFill/>
          <a:ln/>
        </p:spPr>
        <p:txBody>
          <a:bodyPr wrap="square" lIns="0" tIns="0" rIns="0" bIns="0" rtlCol="0" anchor="t"/>
          <a:lstStyle/>
          <a:p>
            <a:pPr algn="l" indent="0" marL="0">
              <a:lnSpc>
                <a:spcPct val="100000"/>
              </a:lnSpc>
              <a:buNone/>
            </a:pPr>
            <a:r>
              <a:rPr lang="en-US" sz="1020" dirty="0">
                <a:solidFill>
                  <a:srgbClr val="586B62"/>
                </a:solidFill>
                <a:latin typeface="Arial" pitchFamily="34" charset="0"/>
                <a:ea typeface="Arial" pitchFamily="34" charset="-122"/>
                <a:cs typeface="Arial" pitchFamily="34" charset="-120"/>
              </a:rPr>
              <a:t>FRANKLIN WAGGONER / LAUNCHPAD</a:t>
            </a:r>
            <a:endParaRPr lang="en-US" sz="1020" dirty="0"/>
          </a:p>
        </p:txBody>
      </p:sp>
      <p:sp>
        <p:nvSpPr>
          <p:cNvPr id="28" name="slide6_text_25"/>
          <p:cNvSpPr txBox="1"/>
          <p:nvPr/>
        </p:nvSpPr>
        <p:spPr>
          <a:xfrm>
            <a:off x="10591800" y="6438900"/>
            <a:ext cx="1021080" cy="144780"/>
          </a:xfrm>
          <a:prstGeom prst="rect">
            <a:avLst/>
          </a:prstGeom>
          <a:noFill/>
          <a:ln/>
        </p:spPr>
        <p:txBody>
          <a:bodyPr wrap="square" lIns="0" tIns="0" rIns="0" bIns="0" rtlCol="0" anchor="t"/>
          <a:lstStyle/>
          <a:p>
            <a:pPr algn="r" indent="0" marL="0">
              <a:lnSpc>
                <a:spcPct val="100000"/>
              </a:lnSpc>
              <a:buNone/>
            </a:pPr>
            <a:r>
              <a:rPr lang="en-US" sz="1020" dirty="0">
                <a:solidFill>
                  <a:srgbClr val="586B62"/>
                </a:solidFill>
                <a:latin typeface="Arial" pitchFamily="34" charset="0"/>
                <a:ea typeface="Arial" pitchFamily="34" charset="-122"/>
                <a:cs typeface="Arial" pitchFamily="34" charset="-120"/>
              </a:rPr>
              <a:t>06 / 12</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4"/>
        </a:solidFill>
      </p:bgPr>
    </p:bg>
    <p:spTree>
      <p:nvGrpSpPr>
        <p:cNvPr id="1" name=""/>
        <p:cNvGrpSpPr/>
        <p:nvPr/>
      </p:nvGrpSpPr>
      <p:grpSpPr>
        <a:xfrm>
          <a:off x="0" y="0"/>
          <a:ext cx="0" cy="0"/>
          <a:chOff x="0" y="0"/>
          <a:chExt cx="0" cy="0"/>
        </a:xfrm>
      </p:grpSpPr>
      <p:sp>
        <p:nvSpPr>
          <p:cNvPr id="2" name="slide7_text_0"/>
          <p:cNvSpPr txBox="1"/>
          <p:nvPr/>
        </p:nvSpPr>
        <p:spPr>
          <a:xfrm>
            <a:off x="579120" y="533400"/>
            <a:ext cx="11033760" cy="459638"/>
          </a:xfrm>
          <a:prstGeom prst="rect">
            <a:avLst/>
          </a:prstGeom>
          <a:noFill/>
          <a:ln/>
        </p:spPr>
        <p:txBody>
          <a:bodyPr wrap="square" lIns="0" tIns="0" rIns="0" bIns="0" rtlCol="0" anchor="t"/>
          <a:lstStyle/>
          <a:p>
            <a:pPr algn="l" indent="0" marL="0">
              <a:lnSpc>
                <a:spcPct val="100000"/>
              </a:lnSpc>
              <a:buNone/>
            </a:pPr>
            <a:r>
              <a:rPr lang="en-US" sz="3240" b="1" dirty="0">
                <a:solidFill>
                  <a:srgbClr val="152F27"/>
                </a:solidFill>
                <a:latin typeface="Arial" pitchFamily="34" charset="0"/>
                <a:ea typeface="Arial" pitchFamily="34" charset="-122"/>
                <a:cs typeface="Arial" pitchFamily="34" charset="-120"/>
              </a:rPr>
              <a:t>Launchpad 2.0 scheduled the routine work.</a:t>
            </a:r>
            <a:endParaRPr lang="en-US" sz="3240" dirty="0"/>
          </a:p>
        </p:txBody>
      </p:sp>
      <p:sp>
        <p:nvSpPr>
          <p:cNvPr id="3" name="slide7_text_1"/>
          <p:cNvSpPr txBox="1"/>
          <p:nvPr/>
        </p:nvSpPr>
        <p:spPr>
          <a:xfrm>
            <a:off x="594360" y="1165860"/>
            <a:ext cx="10881360" cy="288341"/>
          </a:xfrm>
          <a:prstGeom prst="rect">
            <a:avLst/>
          </a:prstGeom>
          <a:noFill/>
          <a:ln/>
        </p:spPr>
        <p:txBody>
          <a:bodyPr wrap="square" lIns="0" tIns="0" rIns="0" bIns="0" rtlCol="0" anchor="t"/>
          <a:lstStyle/>
          <a:p>
            <a:pPr algn="l" indent="0" marL="0">
              <a:lnSpc>
                <a:spcPct val="100000"/>
              </a:lnSpc>
              <a:buNone/>
            </a:pPr>
            <a:r>
              <a:rPr lang="en-US" sz="1680" dirty="0">
                <a:solidFill>
                  <a:srgbClr val="586B62"/>
                </a:solidFill>
                <a:latin typeface="Arial" pitchFamily="34" charset="0"/>
                <a:ea typeface="Arial" pitchFamily="34" charset="-122"/>
                <a:cs typeface="Arial" pitchFamily="34" charset="-120"/>
              </a:rPr>
              <a:t>I executed and defined the existing workflow, then shaped the next iteration with the new engineering team.</a:t>
            </a:r>
            <a:endParaRPr lang="en-US" sz="1680" dirty="0"/>
          </a:p>
        </p:txBody>
      </p:sp>
      <p:sp>
        <p:nvSpPr>
          <p:cNvPr id="4" name="slide7_text_2"/>
          <p:cNvSpPr txBox="1"/>
          <p:nvPr/>
        </p:nvSpPr>
        <p:spPr>
          <a:xfrm>
            <a:off x="594360" y="1988820"/>
            <a:ext cx="6858000" cy="279806"/>
          </a:xfrm>
          <a:prstGeom prst="rect">
            <a:avLst/>
          </a:prstGeom>
          <a:noFill/>
          <a:ln/>
        </p:spPr>
        <p:txBody>
          <a:bodyPr wrap="square" lIns="0" tIns="0" rIns="0" bIns="0" rtlCol="0" anchor="t"/>
          <a:lstStyle/>
          <a:p>
            <a:pPr algn="l" indent="0" marL="0">
              <a:lnSpc>
                <a:spcPct val="100000"/>
              </a:lnSpc>
              <a:buNone/>
            </a:pPr>
            <a:r>
              <a:rPr lang="en-US" sz="1680" b="1" dirty="0">
                <a:solidFill>
                  <a:srgbClr val="176C4B"/>
                </a:solidFill>
                <a:latin typeface="Arial" pitchFamily="34" charset="0"/>
                <a:ea typeface="Arial" pitchFamily="34" charset="-122"/>
                <a:cs typeface="Arial" pitchFamily="34" charset="-120"/>
              </a:rPr>
              <a:t>Before the start date</a:t>
            </a:r>
            <a:endParaRPr lang="en-US" sz="1680" dirty="0"/>
          </a:p>
        </p:txBody>
      </p:sp>
      <p:sp>
        <p:nvSpPr>
          <p:cNvPr id="5" name="slide7_rect_3"/>
          <p:cNvSpPr/>
          <p:nvPr/>
        </p:nvSpPr>
        <p:spPr>
          <a:xfrm>
            <a:off x="579120" y="2438400"/>
            <a:ext cx="1950720" cy="1310640"/>
          </a:xfrm>
          <a:prstGeom prst="roundRect">
            <a:avLst>
              <a:gd name="adj" fmla="val 4651"/>
            </a:avLst>
          </a:prstGeom>
          <a:solidFill>
            <a:srgbClr val="FFFFFF"/>
          </a:solidFill>
          <a:ln w="12192">
            <a:solidFill>
              <a:srgbClr val="D2DCD3"/>
            </a:solidFill>
            <a:prstDash val="solid"/>
          </a:ln>
        </p:spPr>
        <p:txBody>
          <a:bodyPr/>
          <a:p/>
        </p:txBody>
      </p:sp>
      <p:sp>
        <p:nvSpPr>
          <p:cNvPr id="6" name="slide7_text_4"/>
          <p:cNvSpPr txBox="1"/>
          <p:nvPr/>
        </p:nvSpPr>
        <p:spPr>
          <a:xfrm>
            <a:off x="762000" y="2621280"/>
            <a:ext cx="1584960" cy="245669"/>
          </a:xfrm>
          <a:prstGeom prst="rect">
            <a:avLst/>
          </a:prstGeom>
          <a:noFill/>
          <a:ln/>
        </p:spPr>
        <p:txBody>
          <a:bodyPr wrap="square" lIns="0" tIns="0" rIns="0" bIns="0" rtlCol="0" anchor="t"/>
          <a:lstStyle/>
          <a:p>
            <a:pPr algn="l" indent="0" marL="0">
              <a:lnSpc>
                <a:spcPct val="100000"/>
              </a:lnSpc>
              <a:buNone/>
            </a:pPr>
            <a:r>
              <a:rPr lang="en-US" sz="1620" b="1" dirty="0">
                <a:solidFill>
                  <a:srgbClr val="152F27"/>
                </a:solidFill>
                <a:latin typeface="Arial" pitchFamily="34" charset="0"/>
                <a:ea typeface="Arial" pitchFamily="34" charset="-122"/>
                <a:cs typeface="Arial" pitchFamily="34" charset="-120"/>
              </a:rPr>
              <a:t>Workday</a:t>
            </a:r>
            <a:endParaRPr lang="en-US" sz="1620" dirty="0"/>
          </a:p>
        </p:txBody>
      </p:sp>
      <p:sp>
        <p:nvSpPr>
          <p:cNvPr id="7" name="slide7_text_5"/>
          <p:cNvSpPr txBox="1"/>
          <p:nvPr/>
        </p:nvSpPr>
        <p:spPr>
          <a:xfrm>
            <a:off x="762000" y="2912669"/>
            <a:ext cx="158496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Source of truth</a:t>
            </a:r>
            <a:endParaRPr lang="en-US" sz="1380" dirty="0"/>
          </a:p>
        </p:txBody>
      </p:sp>
      <p:sp>
        <p:nvSpPr>
          <p:cNvPr id="8" name="slide7_line_6"/>
          <p:cNvSpPr/>
          <p:nvPr/>
        </p:nvSpPr>
        <p:spPr>
          <a:xfrm>
            <a:off x="2613660" y="3093720"/>
            <a:ext cx="60960" cy="0"/>
          </a:xfrm>
          <a:prstGeom prst="line">
            <a:avLst/>
          </a:prstGeom>
          <a:noFill/>
          <a:ln w="22860">
            <a:solidFill>
              <a:srgbClr val="9AAA9E"/>
            </a:solidFill>
            <a:prstDash val="solid"/>
            <a:headEnd type="none"/>
            <a:tailEnd type="none"/>
          </a:ln>
        </p:spPr>
        <p:txBody>
          <a:bodyPr/>
          <a:p/>
        </p:txBody>
      </p:sp>
      <p:sp>
        <p:nvSpPr>
          <p:cNvPr id="9" name="slide7_poly_7"/>
          <p:cNvSpPr/>
          <p:nvPr/>
        </p:nvSpPr>
        <p:spPr>
          <a:xfrm>
            <a:off x="2674620" y="3048000"/>
            <a:ext cx="91440" cy="91440"/>
          </a:xfrm>
          <a:custGeom>
            <a:avLst/>
            <a:gdLst/>
            <a:ahLst/>
            <a:cxnLst/>
            <a:rect l="l" t="t" r="r" b="b"/>
            <a:pathLst>
              <a:path w="91440" h="91440">
                <a:moveTo>
                  <a:pt x="91440" y="45720"/>
                </a:moveTo>
                <a:lnTo>
                  <a:pt x="0" y="91440"/>
                </a:lnTo>
                <a:lnTo>
                  <a:pt x="0" y="0"/>
                </a:lnTo>
                <a:close/>
              </a:path>
            </a:pathLst>
          </a:custGeom>
          <a:solidFill>
            <a:srgbClr val="9AAA9E"/>
          </a:solidFill>
          <a:ln w="12700">
            <a:solidFill>
              <a:srgbClr val="9AAA9E">
                <a:alpha val="0"/>
              </a:srgbClr>
            </a:solidFill>
            <a:prstDash val="solid"/>
          </a:ln>
        </p:spPr>
        <p:txBody>
          <a:bodyPr/>
          <a:p/>
        </p:txBody>
      </p:sp>
      <p:sp>
        <p:nvSpPr>
          <p:cNvPr id="10" name="slide7_rect_8"/>
          <p:cNvSpPr/>
          <p:nvPr/>
        </p:nvSpPr>
        <p:spPr>
          <a:xfrm>
            <a:off x="2849880" y="2438400"/>
            <a:ext cx="1950720" cy="1310640"/>
          </a:xfrm>
          <a:prstGeom prst="roundRect">
            <a:avLst>
              <a:gd name="adj" fmla="val 4651"/>
            </a:avLst>
          </a:prstGeom>
          <a:solidFill>
            <a:srgbClr val="E4F0E6"/>
          </a:solidFill>
          <a:ln w="12192">
            <a:solidFill>
              <a:srgbClr val="176C4B"/>
            </a:solidFill>
            <a:prstDash val="solid"/>
          </a:ln>
        </p:spPr>
        <p:txBody>
          <a:bodyPr/>
          <a:p/>
        </p:txBody>
      </p:sp>
      <p:sp>
        <p:nvSpPr>
          <p:cNvPr id="11" name="slide7_text_9"/>
          <p:cNvSpPr txBox="1"/>
          <p:nvPr/>
        </p:nvSpPr>
        <p:spPr>
          <a:xfrm>
            <a:off x="3032760" y="2621280"/>
            <a:ext cx="1584960" cy="245669"/>
          </a:xfrm>
          <a:prstGeom prst="rect">
            <a:avLst/>
          </a:prstGeom>
          <a:noFill/>
          <a:ln/>
        </p:spPr>
        <p:txBody>
          <a:bodyPr wrap="square" lIns="0" tIns="0" rIns="0" bIns="0" rtlCol="0" anchor="t"/>
          <a:lstStyle/>
          <a:p>
            <a:pPr algn="l" indent="0" marL="0">
              <a:lnSpc>
                <a:spcPct val="100000"/>
              </a:lnSpc>
              <a:buNone/>
            </a:pPr>
            <a:r>
              <a:rPr lang="en-US" sz="1620" b="1" dirty="0">
                <a:solidFill>
                  <a:srgbClr val="176C4B"/>
                </a:solidFill>
                <a:latin typeface="Arial" pitchFamily="34" charset="0"/>
                <a:ea typeface="Arial" pitchFamily="34" charset="-122"/>
                <a:cs typeface="Arial" pitchFamily="34" charset="-120"/>
              </a:rPr>
              <a:t>Launchpad 2.0</a:t>
            </a:r>
            <a:endParaRPr lang="en-US" sz="1620" dirty="0"/>
          </a:p>
        </p:txBody>
      </p:sp>
      <p:sp>
        <p:nvSpPr>
          <p:cNvPr id="12" name="slide7_text_10"/>
          <p:cNvSpPr txBox="1"/>
          <p:nvPr/>
        </p:nvSpPr>
        <p:spPr>
          <a:xfrm>
            <a:off x="3032760" y="2912669"/>
            <a:ext cx="158496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Scheduled creation</a:t>
            </a:r>
            <a:endParaRPr lang="en-US" sz="1380" dirty="0"/>
          </a:p>
        </p:txBody>
      </p:sp>
      <p:sp>
        <p:nvSpPr>
          <p:cNvPr id="13" name="slide7_line_11"/>
          <p:cNvSpPr/>
          <p:nvPr/>
        </p:nvSpPr>
        <p:spPr>
          <a:xfrm>
            <a:off x="4884420" y="3093720"/>
            <a:ext cx="60960" cy="0"/>
          </a:xfrm>
          <a:prstGeom prst="line">
            <a:avLst/>
          </a:prstGeom>
          <a:noFill/>
          <a:ln w="22860">
            <a:solidFill>
              <a:srgbClr val="9AAA9E"/>
            </a:solidFill>
            <a:prstDash val="solid"/>
            <a:headEnd type="none"/>
            <a:tailEnd type="none"/>
          </a:ln>
        </p:spPr>
        <p:txBody>
          <a:bodyPr/>
          <a:p/>
        </p:txBody>
      </p:sp>
      <p:sp>
        <p:nvSpPr>
          <p:cNvPr id="14" name="slide7_poly_12"/>
          <p:cNvSpPr/>
          <p:nvPr/>
        </p:nvSpPr>
        <p:spPr>
          <a:xfrm>
            <a:off x="4945380" y="3048000"/>
            <a:ext cx="91440" cy="91440"/>
          </a:xfrm>
          <a:custGeom>
            <a:avLst/>
            <a:gdLst/>
            <a:ahLst/>
            <a:cxnLst/>
            <a:rect l="l" t="t" r="r" b="b"/>
            <a:pathLst>
              <a:path w="91440" h="91440">
                <a:moveTo>
                  <a:pt x="91440" y="45720"/>
                </a:moveTo>
                <a:lnTo>
                  <a:pt x="0" y="91440"/>
                </a:lnTo>
                <a:lnTo>
                  <a:pt x="0" y="0"/>
                </a:lnTo>
                <a:close/>
              </a:path>
            </a:pathLst>
          </a:custGeom>
          <a:solidFill>
            <a:srgbClr val="9AAA9E"/>
          </a:solidFill>
          <a:ln w="12700">
            <a:solidFill>
              <a:srgbClr val="9AAA9E">
                <a:alpha val="0"/>
              </a:srgbClr>
            </a:solidFill>
            <a:prstDash val="solid"/>
          </a:ln>
        </p:spPr>
        <p:txBody>
          <a:bodyPr/>
          <a:p/>
        </p:txBody>
      </p:sp>
      <p:sp>
        <p:nvSpPr>
          <p:cNvPr id="15" name="slide7_rect_13"/>
          <p:cNvSpPr/>
          <p:nvPr/>
        </p:nvSpPr>
        <p:spPr>
          <a:xfrm>
            <a:off x="5120640" y="2438400"/>
            <a:ext cx="1950720" cy="1310640"/>
          </a:xfrm>
          <a:prstGeom prst="roundRect">
            <a:avLst>
              <a:gd name="adj" fmla="val 4651"/>
            </a:avLst>
          </a:prstGeom>
          <a:solidFill>
            <a:srgbClr val="FFFFFF"/>
          </a:solidFill>
          <a:ln w="12192">
            <a:solidFill>
              <a:srgbClr val="D2DCD3"/>
            </a:solidFill>
            <a:prstDash val="solid"/>
          </a:ln>
        </p:spPr>
        <p:txBody>
          <a:bodyPr/>
          <a:p/>
        </p:txBody>
      </p:sp>
      <p:sp>
        <p:nvSpPr>
          <p:cNvPr id="16" name="slide7_text_14"/>
          <p:cNvSpPr txBox="1"/>
          <p:nvPr/>
        </p:nvSpPr>
        <p:spPr>
          <a:xfrm>
            <a:off x="5303520" y="2621280"/>
            <a:ext cx="1584960" cy="245669"/>
          </a:xfrm>
          <a:prstGeom prst="rect">
            <a:avLst/>
          </a:prstGeom>
          <a:noFill/>
          <a:ln/>
        </p:spPr>
        <p:txBody>
          <a:bodyPr wrap="square" lIns="0" tIns="0" rIns="0" bIns="0" rtlCol="0" anchor="t"/>
          <a:lstStyle/>
          <a:p>
            <a:pPr algn="l" indent="0" marL="0">
              <a:lnSpc>
                <a:spcPct val="100000"/>
              </a:lnSpc>
              <a:buNone/>
            </a:pPr>
            <a:r>
              <a:rPr lang="en-US" sz="1620" b="1" dirty="0">
                <a:solidFill>
                  <a:srgbClr val="152F27"/>
                </a:solidFill>
                <a:latin typeface="Arial" pitchFamily="34" charset="0"/>
                <a:ea typeface="Arial" pitchFamily="34" charset="-122"/>
                <a:cs typeface="Arial" pitchFamily="34" charset="-120"/>
              </a:rPr>
              <a:t>Registry</a:t>
            </a:r>
            <a:endParaRPr lang="en-US" sz="1620" dirty="0"/>
          </a:p>
        </p:txBody>
      </p:sp>
      <p:sp>
        <p:nvSpPr>
          <p:cNvPr id="17" name="slide7_text_15"/>
          <p:cNvSpPr txBox="1"/>
          <p:nvPr/>
        </p:nvSpPr>
        <p:spPr>
          <a:xfrm>
            <a:off x="5303520" y="2912669"/>
            <a:ext cx="158496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Create the identity</a:t>
            </a:r>
            <a:endParaRPr lang="en-US" sz="1380" dirty="0"/>
          </a:p>
        </p:txBody>
      </p:sp>
      <p:sp>
        <p:nvSpPr>
          <p:cNvPr id="18" name="slide7_line_16"/>
          <p:cNvSpPr/>
          <p:nvPr/>
        </p:nvSpPr>
        <p:spPr>
          <a:xfrm>
            <a:off x="7155180" y="3093720"/>
            <a:ext cx="60960" cy="0"/>
          </a:xfrm>
          <a:prstGeom prst="line">
            <a:avLst/>
          </a:prstGeom>
          <a:noFill/>
          <a:ln w="22860">
            <a:solidFill>
              <a:srgbClr val="9AAA9E"/>
            </a:solidFill>
            <a:prstDash val="solid"/>
            <a:headEnd type="none"/>
            <a:tailEnd type="none"/>
          </a:ln>
        </p:spPr>
        <p:txBody>
          <a:bodyPr/>
          <a:p/>
        </p:txBody>
      </p:sp>
      <p:sp>
        <p:nvSpPr>
          <p:cNvPr id="19" name="slide7_poly_17"/>
          <p:cNvSpPr/>
          <p:nvPr/>
        </p:nvSpPr>
        <p:spPr>
          <a:xfrm>
            <a:off x="7216140" y="3048000"/>
            <a:ext cx="91440" cy="91440"/>
          </a:xfrm>
          <a:custGeom>
            <a:avLst/>
            <a:gdLst/>
            <a:ahLst/>
            <a:cxnLst/>
            <a:rect l="l" t="t" r="r" b="b"/>
            <a:pathLst>
              <a:path w="91440" h="91440">
                <a:moveTo>
                  <a:pt x="91440" y="45720"/>
                </a:moveTo>
                <a:lnTo>
                  <a:pt x="0" y="91440"/>
                </a:lnTo>
                <a:lnTo>
                  <a:pt x="0" y="0"/>
                </a:lnTo>
                <a:close/>
              </a:path>
            </a:pathLst>
          </a:custGeom>
          <a:solidFill>
            <a:srgbClr val="9AAA9E"/>
          </a:solidFill>
          <a:ln w="12700">
            <a:solidFill>
              <a:srgbClr val="9AAA9E">
                <a:alpha val="0"/>
              </a:srgbClr>
            </a:solidFill>
            <a:prstDash val="solid"/>
          </a:ln>
        </p:spPr>
        <p:txBody>
          <a:bodyPr/>
          <a:p/>
        </p:txBody>
      </p:sp>
      <p:sp>
        <p:nvSpPr>
          <p:cNvPr id="20" name="slide7_rect_18"/>
          <p:cNvSpPr/>
          <p:nvPr/>
        </p:nvSpPr>
        <p:spPr>
          <a:xfrm>
            <a:off x="7391400" y="2438400"/>
            <a:ext cx="1950720" cy="1310640"/>
          </a:xfrm>
          <a:prstGeom prst="roundRect">
            <a:avLst>
              <a:gd name="adj" fmla="val 4651"/>
            </a:avLst>
          </a:prstGeom>
          <a:solidFill>
            <a:srgbClr val="E4F0E6"/>
          </a:solidFill>
          <a:ln w="12192">
            <a:solidFill>
              <a:srgbClr val="176C4B"/>
            </a:solidFill>
            <a:prstDash val="solid"/>
          </a:ln>
        </p:spPr>
        <p:txBody>
          <a:bodyPr/>
          <a:p/>
        </p:txBody>
      </p:sp>
      <p:sp>
        <p:nvSpPr>
          <p:cNvPr id="21" name="slide7_text_19"/>
          <p:cNvSpPr txBox="1"/>
          <p:nvPr/>
        </p:nvSpPr>
        <p:spPr>
          <a:xfrm>
            <a:off x="7574280" y="2621280"/>
            <a:ext cx="1584960" cy="245669"/>
          </a:xfrm>
          <a:prstGeom prst="rect">
            <a:avLst/>
          </a:prstGeom>
          <a:noFill/>
          <a:ln/>
        </p:spPr>
        <p:txBody>
          <a:bodyPr wrap="square" lIns="0" tIns="0" rIns="0" bIns="0" rtlCol="0" anchor="t"/>
          <a:lstStyle/>
          <a:p>
            <a:pPr algn="l" indent="0" marL="0">
              <a:lnSpc>
                <a:spcPct val="100000"/>
              </a:lnSpc>
              <a:buNone/>
            </a:pPr>
            <a:r>
              <a:rPr lang="en-US" sz="1620" b="1" dirty="0">
                <a:solidFill>
                  <a:srgbClr val="176C4B"/>
                </a:solidFill>
                <a:latin typeface="Arial" pitchFamily="34" charset="0"/>
                <a:ea typeface="Arial" pitchFamily="34" charset="-122"/>
                <a:cs typeface="Arial" pitchFamily="34" charset="-120"/>
              </a:rPr>
              <a:t>Okta</a:t>
            </a:r>
            <a:endParaRPr lang="en-US" sz="1620" dirty="0"/>
          </a:p>
        </p:txBody>
      </p:sp>
      <p:sp>
        <p:nvSpPr>
          <p:cNvPr id="22" name="slide7_text_20"/>
          <p:cNvSpPr txBox="1"/>
          <p:nvPr/>
        </p:nvSpPr>
        <p:spPr>
          <a:xfrm>
            <a:off x="7574280" y="2912669"/>
            <a:ext cx="158496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Activation and</a:t>
            </a:r>
            <a:endParaRPr lang="en-US" sz="1380" dirty="0"/>
          </a:p>
        </p:txBody>
      </p:sp>
      <p:sp>
        <p:nvSpPr>
          <p:cNvPr id="23" name="slide7_text_20"/>
          <p:cNvSpPr txBox="1"/>
          <p:nvPr/>
        </p:nvSpPr>
        <p:spPr>
          <a:xfrm>
            <a:off x="7574280" y="3122981"/>
            <a:ext cx="158496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provisioning</a:t>
            </a:r>
            <a:endParaRPr lang="en-US" sz="1380" dirty="0"/>
          </a:p>
        </p:txBody>
      </p:sp>
      <p:sp>
        <p:nvSpPr>
          <p:cNvPr id="24" name="slide7_line_21"/>
          <p:cNvSpPr/>
          <p:nvPr/>
        </p:nvSpPr>
        <p:spPr>
          <a:xfrm>
            <a:off x="9425940" y="3093720"/>
            <a:ext cx="60960" cy="0"/>
          </a:xfrm>
          <a:prstGeom prst="line">
            <a:avLst/>
          </a:prstGeom>
          <a:noFill/>
          <a:ln w="22860">
            <a:solidFill>
              <a:srgbClr val="9AAA9E"/>
            </a:solidFill>
            <a:prstDash val="solid"/>
            <a:headEnd type="none"/>
            <a:tailEnd type="none"/>
          </a:ln>
        </p:spPr>
        <p:txBody>
          <a:bodyPr/>
          <a:p/>
        </p:txBody>
      </p:sp>
      <p:sp>
        <p:nvSpPr>
          <p:cNvPr id="25" name="slide7_poly_22"/>
          <p:cNvSpPr/>
          <p:nvPr/>
        </p:nvSpPr>
        <p:spPr>
          <a:xfrm>
            <a:off x="9486900" y="3048000"/>
            <a:ext cx="91440" cy="91440"/>
          </a:xfrm>
          <a:custGeom>
            <a:avLst/>
            <a:gdLst/>
            <a:ahLst/>
            <a:cxnLst/>
            <a:rect l="l" t="t" r="r" b="b"/>
            <a:pathLst>
              <a:path w="91440" h="91440">
                <a:moveTo>
                  <a:pt x="91440" y="45720"/>
                </a:moveTo>
                <a:lnTo>
                  <a:pt x="0" y="91440"/>
                </a:lnTo>
                <a:lnTo>
                  <a:pt x="0" y="0"/>
                </a:lnTo>
                <a:close/>
              </a:path>
            </a:pathLst>
          </a:custGeom>
          <a:solidFill>
            <a:srgbClr val="9AAA9E"/>
          </a:solidFill>
          <a:ln w="12700">
            <a:solidFill>
              <a:srgbClr val="9AAA9E">
                <a:alpha val="0"/>
              </a:srgbClr>
            </a:solidFill>
            <a:prstDash val="solid"/>
          </a:ln>
        </p:spPr>
        <p:txBody>
          <a:bodyPr/>
          <a:p/>
        </p:txBody>
      </p:sp>
      <p:sp>
        <p:nvSpPr>
          <p:cNvPr id="26" name="slide7_rect_23"/>
          <p:cNvSpPr/>
          <p:nvPr/>
        </p:nvSpPr>
        <p:spPr>
          <a:xfrm>
            <a:off x="9662160" y="2438400"/>
            <a:ext cx="1950720" cy="1310640"/>
          </a:xfrm>
          <a:prstGeom prst="roundRect">
            <a:avLst>
              <a:gd name="adj" fmla="val 4651"/>
            </a:avLst>
          </a:prstGeom>
          <a:solidFill>
            <a:srgbClr val="FFFFFF"/>
          </a:solidFill>
          <a:ln w="12192">
            <a:solidFill>
              <a:srgbClr val="D2DCD3"/>
            </a:solidFill>
            <a:prstDash val="solid"/>
          </a:ln>
        </p:spPr>
        <p:txBody>
          <a:bodyPr/>
          <a:p/>
        </p:txBody>
      </p:sp>
      <p:sp>
        <p:nvSpPr>
          <p:cNvPr id="27" name="slide7_text_24"/>
          <p:cNvSpPr txBox="1"/>
          <p:nvPr/>
        </p:nvSpPr>
        <p:spPr>
          <a:xfrm>
            <a:off x="9845040" y="2621280"/>
            <a:ext cx="1584960" cy="245669"/>
          </a:xfrm>
          <a:prstGeom prst="rect">
            <a:avLst/>
          </a:prstGeom>
          <a:noFill/>
          <a:ln/>
        </p:spPr>
        <p:txBody>
          <a:bodyPr wrap="square" lIns="0" tIns="0" rIns="0" bIns="0" rtlCol="0" anchor="t"/>
          <a:lstStyle/>
          <a:p>
            <a:pPr algn="l" indent="0" marL="0">
              <a:lnSpc>
                <a:spcPct val="100000"/>
              </a:lnSpc>
              <a:buNone/>
            </a:pPr>
            <a:r>
              <a:rPr lang="en-US" sz="1620" b="1" dirty="0">
                <a:solidFill>
                  <a:srgbClr val="152F27"/>
                </a:solidFill>
                <a:latin typeface="Arial" pitchFamily="34" charset="0"/>
                <a:ea typeface="Arial" pitchFamily="34" charset="-122"/>
                <a:cs typeface="Arial" pitchFamily="34" charset="-120"/>
              </a:rPr>
              <a:t>Applications</a:t>
            </a:r>
            <a:endParaRPr lang="en-US" sz="1620" dirty="0"/>
          </a:p>
        </p:txBody>
      </p:sp>
      <p:sp>
        <p:nvSpPr>
          <p:cNvPr id="28" name="slide7_text_25"/>
          <p:cNvSpPr txBox="1"/>
          <p:nvPr/>
        </p:nvSpPr>
        <p:spPr>
          <a:xfrm>
            <a:off x="9845040" y="2912669"/>
            <a:ext cx="158496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Google Workspace</a:t>
            </a:r>
            <a:endParaRPr lang="en-US" sz="1380" dirty="0"/>
          </a:p>
        </p:txBody>
      </p:sp>
      <p:sp>
        <p:nvSpPr>
          <p:cNvPr id="29" name="slide7_text_25"/>
          <p:cNvSpPr txBox="1"/>
          <p:nvPr/>
        </p:nvSpPr>
        <p:spPr>
          <a:xfrm>
            <a:off x="9845040" y="3122981"/>
            <a:ext cx="158496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and SCIM apps</a:t>
            </a:r>
            <a:endParaRPr lang="en-US" sz="1380" dirty="0"/>
          </a:p>
        </p:txBody>
      </p:sp>
      <p:sp>
        <p:nvSpPr>
          <p:cNvPr id="30" name="slide7_line_26"/>
          <p:cNvSpPr/>
          <p:nvPr/>
        </p:nvSpPr>
        <p:spPr>
          <a:xfrm>
            <a:off x="579120" y="4152900"/>
            <a:ext cx="11033760" cy="0"/>
          </a:xfrm>
          <a:prstGeom prst="line">
            <a:avLst/>
          </a:prstGeom>
          <a:noFill/>
          <a:ln w="15240">
            <a:solidFill>
              <a:srgbClr val="D2DCD3"/>
            </a:solidFill>
            <a:prstDash val="solid"/>
            <a:headEnd type="none"/>
            <a:tailEnd type="none"/>
          </a:ln>
        </p:spPr>
        <p:txBody>
          <a:bodyPr/>
          <a:p/>
        </p:txBody>
      </p:sp>
      <p:sp>
        <p:nvSpPr>
          <p:cNvPr id="31" name="slide7_text_27"/>
          <p:cNvSpPr txBox="1"/>
          <p:nvPr/>
        </p:nvSpPr>
        <p:spPr>
          <a:xfrm>
            <a:off x="594360" y="4434840"/>
            <a:ext cx="5029200" cy="317602"/>
          </a:xfrm>
          <a:prstGeom prst="rect">
            <a:avLst/>
          </a:prstGeom>
          <a:noFill/>
          <a:ln/>
        </p:spPr>
        <p:txBody>
          <a:bodyPr wrap="square" lIns="0" tIns="0" rIns="0" bIns="0" rtlCol="0" anchor="t"/>
          <a:lstStyle/>
          <a:p>
            <a:pPr algn="l" indent="0" marL="0">
              <a:lnSpc>
                <a:spcPct val="100000"/>
              </a:lnSpc>
              <a:buNone/>
            </a:pPr>
            <a:r>
              <a:rPr lang="en-US" sz="1920" b="1" dirty="0">
                <a:solidFill>
                  <a:srgbClr val="152F27"/>
                </a:solidFill>
                <a:latin typeface="Arial" pitchFamily="34" charset="0"/>
                <a:ea typeface="Arial" pitchFamily="34" charset="-122"/>
                <a:cs typeface="Arial" pitchFamily="34" charset="-120"/>
              </a:rPr>
              <a:t>Automation followed the start date.</a:t>
            </a:r>
            <a:endParaRPr lang="en-US" sz="1920" dirty="0"/>
          </a:p>
        </p:txBody>
      </p:sp>
      <p:sp>
        <p:nvSpPr>
          <p:cNvPr id="32" name="slide7_text_28"/>
          <p:cNvSpPr txBox="1"/>
          <p:nvPr/>
        </p:nvSpPr>
        <p:spPr>
          <a:xfrm>
            <a:off x="594360" y="4892040"/>
            <a:ext cx="5029200" cy="302514"/>
          </a:xfrm>
          <a:prstGeom prst="rect">
            <a:avLst/>
          </a:prstGeom>
          <a:noFill/>
          <a:ln/>
        </p:spPr>
        <p:txBody>
          <a:bodyPr wrap="square" lIns="0" tIns="0" rIns="0" bIns="0" rtlCol="0" anchor="t"/>
          <a:lstStyle/>
          <a:p>
            <a:pPr algn="l" indent="0" marL="0">
              <a:lnSpc>
                <a:spcPct val="100000"/>
              </a:lnSpc>
              <a:buNone/>
            </a:pPr>
            <a:r>
              <a:rPr lang="en-US" sz="1740" dirty="0">
                <a:solidFill>
                  <a:srgbClr val="152F27"/>
                </a:solidFill>
                <a:latin typeface="Arial" pitchFamily="34" charset="0"/>
                <a:ea typeface="Arial" pitchFamily="34" charset="-122"/>
                <a:cs typeface="Arial" pitchFamily="34" charset="-120"/>
              </a:rPr>
              <a:t>Upcoming hires ran automatically. Improved</a:t>
            </a:r>
            <a:endParaRPr lang="en-US" sz="1740" dirty="0"/>
          </a:p>
        </p:txBody>
      </p:sp>
      <p:sp>
        <p:nvSpPr>
          <p:cNvPr id="33" name="slide7_text_28"/>
          <p:cNvSpPr txBox="1"/>
          <p:nvPr/>
        </p:nvSpPr>
        <p:spPr>
          <a:xfrm>
            <a:off x="594360" y="5179314"/>
            <a:ext cx="5029200" cy="302514"/>
          </a:xfrm>
          <a:prstGeom prst="rect">
            <a:avLst/>
          </a:prstGeom>
          <a:noFill/>
          <a:ln/>
        </p:spPr>
        <p:txBody>
          <a:bodyPr wrap="square" lIns="0" tIns="0" rIns="0" bIns="0" rtlCol="0" anchor="t"/>
          <a:lstStyle/>
          <a:p>
            <a:pPr algn="l" indent="0" marL="0">
              <a:lnSpc>
                <a:spcPct val="100000"/>
              </a:lnSpc>
              <a:buNone/>
            </a:pPr>
            <a:r>
              <a:rPr lang="en-US" sz="1740" dirty="0">
                <a:solidFill>
                  <a:srgbClr val="152F27"/>
                </a:solidFill>
                <a:latin typeface="Arial" pitchFamily="34" charset="0"/>
                <a:ea typeface="Arial" pitchFamily="34" charset="-122"/>
                <a:cs typeface="Arial" pitchFamily="34" charset="-120"/>
              </a:rPr>
              <a:t>naming logic reduced manual username fixes.</a:t>
            </a:r>
            <a:endParaRPr lang="en-US" sz="1740" dirty="0"/>
          </a:p>
        </p:txBody>
      </p:sp>
      <p:sp>
        <p:nvSpPr>
          <p:cNvPr id="34" name="slide7_text_29"/>
          <p:cNvSpPr txBox="1"/>
          <p:nvPr/>
        </p:nvSpPr>
        <p:spPr>
          <a:xfrm>
            <a:off x="6438900" y="4434840"/>
            <a:ext cx="5158740" cy="317602"/>
          </a:xfrm>
          <a:prstGeom prst="rect">
            <a:avLst/>
          </a:prstGeom>
          <a:noFill/>
          <a:ln/>
        </p:spPr>
        <p:txBody>
          <a:bodyPr wrap="square" lIns="0" tIns="0" rIns="0" bIns="0" rtlCol="0" anchor="t"/>
          <a:lstStyle/>
          <a:p>
            <a:pPr algn="l" indent="0" marL="0">
              <a:lnSpc>
                <a:spcPct val="100000"/>
              </a:lnSpc>
              <a:buNone/>
            </a:pPr>
            <a:r>
              <a:rPr lang="en-US" sz="1920" b="1" dirty="0">
                <a:solidFill>
                  <a:srgbClr val="152F27"/>
                </a:solidFill>
                <a:latin typeface="Arial" pitchFamily="34" charset="0"/>
                <a:ea typeface="Arial" pitchFamily="34" charset="-122"/>
                <a:cs typeface="Arial" pitchFamily="34" charset="-120"/>
              </a:rPr>
              <a:t>We shaped the next version together.</a:t>
            </a:r>
            <a:endParaRPr lang="en-US" sz="1920" dirty="0"/>
          </a:p>
        </p:txBody>
      </p:sp>
      <p:sp>
        <p:nvSpPr>
          <p:cNvPr id="35" name="slide7_text_30"/>
          <p:cNvSpPr txBox="1"/>
          <p:nvPr/>
        </p:nvSpPr>
        <p:spPr>
          <a:xfrm>
            <a:off x="6438900" y="4892040"/>
            <a:ext cx="5067300" cy="302514"/>
          </a:xfrm>
          <a:prstGeom prst="rect">
            <a:avLst/>
          </a:prstGeom>
          <a:noFill/>
          <a:ln/>
        </p:spPr>
        <p:txBody>
          <a:bodyPr wrap="square" lIns="0" tIns="0" rIns="0" bIns="0" rtlCol="0" anchor="t"/>
          <a:lstStyle/>
          <a:p>
            <a:pPr algn="l" indent="0" marL="0">
              <a:lnSpc>
                <a:spcPct val="100000"/>
              </a:lnSpc>
              <a:buNone/>
            </a:pPr>
            <a:r>
              <a:rPr lang="en-US" sz="1740" dirty="0">
                <a:solidFill>
                  <a:srgbClr val="152F27"/>
                </a:solidFill>
                <a:latin typeface="Arial" pitchFamily="34" charset="0"/>
                <a:ea typeface="Arial" pitchFamily="34" charset="-122"/>
                <a:cs typeface="Arial" pitchFamily="34" charset="-120"/>
              </a:rPr>
              <a:t>I used naming issues and onboarding needs</a:t>
            </a:r>
            <a:endParaRPr lang="en-US" sz="1740" dirty="0"/>
          </a:p>
        </p:txBody>
      </p:sp>
      <p:sp>
        <p:nvSpPr>
          <p:cNvPr id="36" name="slide7_text_30"/>
          <p:cNvSpPr txBox="1"/>
          <p:nvPr/>
        </p:nvSpPr>
        <p:spPr>
          <a:xfrm>
            <a:off x="6438900" y="5179314"/>
            <a:ext cx="5067300" cy="302514"/>
          </a:xfrm>
          <a:prstGeom prst="rect">
            <a:avLst/>
          </a:prstGeom>
          <a:noFill/>
          <a:ln/>
        </p:spPr>
        <p:txBody>
          <a:bodyPr wrap="square" lIns="0" tIns="0" rIns="0" bIns="0" rtlCol="0" anchor="t"/>
          <a:lstStyle/>
          <a:p>
            <a:pPr algn="l" indent="0" marL="0">
              <a:lnSpc>
                <a:spcPct val="100000"/>
              </a:lnSpc>
              <a:buNone/>
            </a:pPr>
            <a:r>
              <a:rPr lang="en-US" sz="1740" dirty="0">
                <a:solidFill>
                  <a:srgbClr val="152F27"/>
                </a:solidFill>
                <a:latin typeface="Arial" pitchFamily="34" charset="0"/>
                <a:ea typeface="Arial" pitchFamily="34" charset="-122"/>
                <a:cs typeface="Arial" pitchFamily="34" charset="-120"/>
              </a:rPr>
              <a:t>to shape improvements with engineering.</a:t>
            </a:r>
            <a:endParaRPr lang="en-US" sz="1740" dirty="0"/>
          </a:p>
        </p:txBody>
      </p:sp>
      <p:sp>
        <p:nvSpPr>
          <p:cNvPr id="37" name="slide7_line_31"/>
          <p:cNvSpPr/>
          <p:nvPr/>
        </p:nvSpPr>
        <p:spPr>
          <a:xfrm>
            <a:off x="579120" y="6301740"/>
            <a:ext cx="11033760" cy="0"/>
          </a:xfrm>
          <a:prstGeom prst="line">
            <a:avLst/>
          </a:prstGeom>
          <a:noFill/>
          <a:ln w="7620">
            <a:solidFill>
              <a:srgbClr val="D2DCD3"/>
            </a:solidFill>
            <a:prstDash val="solid"/>
            <a:headEnd type="none"/>
            <a:tailEnd type="none"/>
          </a:ln>
        </p:spPr>
        <p:txBody>
          <a:bodyPr/>
          <a:p/>
        </p:txBody>
      </p:sp>
      <p:sp>
        <p:nvSpPr>
          <p:cNvPr id="38" name="slide7_text_32"/>
          <p:cNvSpPr txBox="1"/>
          <p:nvPr/>
        </p:nvSpPr>
        <p:spPr>
          <a:xfrm>
            <a:off x="594360" y="6446520"/>
            <a:ext cx="6096000" cy="144780"/>
          </a:xfrm>
          <a:prstGeom prst="rect">
            <a:avLst/>
          </a:prstGeom>
          <a:noFill/>
          <a:ln/>
        </p:spPr>
        <p:txBody>
          <a:bodyPr wrap="square" lIns="0" tIns="0" rIns="0" bIns="0" rtlCol="0" anchor="t"/>
          <a:lstStyle/>
          <a:p>
            <a:pPr algn="l" indent="0" marL="0">
              <a:lnSpc>
                <a:spcPct val="100000"/>
              </a:lnSpc>
              <a:buNone/>
            </a:pPr>
            <a:r>
              <a:rPr lang="en-US" sz="1020" dirty="0">
                <a:solidFill>
                  <a:srgbClr val="586B62"/>
                </a:solidFill>
                <a:latin typeface="Arial" pitchFamily="34" charset="0"/>
                <a:ea typeface="Arial" pitchFamily="34" charset="-122"/>
                <a:cs typeface="Arial" pitchFamily="34" charset="-120"/>
              </a:rPr>
              <a:t>FRANKLIN WAGGONER / LAUNCHPAD</a:t>
            </a:r>
            <a:endParaRPr lang="en-US" sz="1020" dirty="0"/>
          </a:p>
        </p:txBody>
      </p:sp>
      <p:sp>
        <p:nvSpPr>
          <p:cNvPr id="39" name="slide7_text_33"/>
          <p:cNvSpPr txBox="1"/>
          <p:nvPr/>
        </p:nvSpPr>
        <p:spPr>
          <a:xfrm>
            <a:off x="10591800" y="6438900"/>
            <a:ext cx="1021080" cy="144780"/>
          </a:xfrm>
          <a:prstGeom prst="rect">
            <a:avLst/>
          </a:prstGeom>
          <a:noFill/>
          <a:ln/>
        </p:spPr>
        <p:txBody>
          <a:bodyPr wrap="square" lIns="0" tIns="0" rIns="0" bIns="0" rtlCol="0" anchor="t"/>
          <a:lstStyle/>
          <a:p>
            <a:pPr algn="r" indent="0" marL="0">
              <a:lnSpc>
                <a:spcPct val="100000"/>
              </a:lnSpc>
              <a:buNone/>
            </a:pPr>
            <a:r>
              <a:rPr lang="en-US" sz="1020" dirty="0">
                <a:solidFill>
                  <a:srgbClr val="586B62"/>
                </a:solidFill>
                <a:latin typeface="Arial" pitchFamily="34" charset="0"/>
                <a:ea typeface="Arial" pitchFamily="34" charset="-122"/>
                <a:cs typeface="Arial" pitchFamily="34" charset="-120"/>
              </a:rPr>
              <a:t>07 / 12</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4"/>
        </a:solidFill>
      </p:bgPr>
    </p:bg>
    <p:spTree>
      <p:nvGrpSpPr>
        <p:cNvPr id="1" name=""/>
        <p:cNvGrpSpPr/>
        <p:nvPr/>
      </p:nvGrpSpPr>
      <p:grpSpPr>
        <a:xfrm>
          <a:off x="0" y="0"/>
          <a:ext cx="0" cy="0"/>
          <a:chOff x="0" y="0"/>
          <a:chExt cx="0" cy="0"/>
        </a:xfrm>
      </p:grpSpPr>
      <p:sp>
        <p:nvSpPr>
          <p:cNvPr id="2" name="slide8_text_0"/>
          <p:cNvSpPr txBox="1"/>
          <p:nvPr/>
        </p:nvSpPr>
        <p:spPr>
          <a:xfrm>
            <a:off x="579120" y="533400"/>
            <a:ext cx="11033760" cy="459638"/>
          </a:xfrm>
          <a:prstGeom prst="rect">
            <a:avLst/>
          </a:prstGeom>
          <a:noFill/>
          <a:ln/>
        </p:spPr>
        <p:txBody>
          <a:bodyPr wrap="square" lIns="0" tIns="0" rIns="0" bIns="0" rtlCol="0" anchor="t"/>
          <a:lstStyle/>
          <a:p>
            <a:pPr algn="l" indent="0" marL="0">
              <a:lnSpc>
                <a:spcPct val="100000"/>
              </a:lnSpc>
              <a:buNone/>
            </a:pPr>
            <a:r>
              <a:rPr lang="en-US" sz="3240" b="1" dirty="0">
                <a:solidFill>
                  <a:srgbClr val="152F27"/>
                </a:solidFill>
                <a:latin typeface="Arial" pitchFamily="34" charset="0"/>
                <a:ea typeface="Arial" pitchFamily="34" charset="-122"/>
                <a:cs typeface="Arial" pitchFamily="34" charset="-120"/>
              </a:rPr>
              <a:t>New hires set their own passwords.</a:t>
            </a:r>
            <a:endParaRPr lang="en-US" sz="3240" dirty="0"/>
          </a:p>
        </p:txBody>
      </p:sp>
      <p:sp>
        <p:nvSpPr>
          <p:cNvPr id="3" name="slide8_text_1"/>
          <p:cNvSpPr txBox="1"/>
          <p:nvPr/>
        </p:nvSpPr>
        <p:spPr>
          <a:xfrm>
            <a:off x="594360" y="1165860"/>
            <a:ext cx="10881360" cy="288341"/>
          </a:xfrm>
          <a:prstGeom prst="rect">
            <a:avLst/>
          </a:prstGeom>
          <a:noFill/>
          <a:ln/>
        </p:spPr>
        <p:txBody>
          <a:bodyPr wrap="square" lIns="0" tIns="0" rIns="0" bIns="0" rtlCol="0" anchor="t"/>
          <a:lstStyle/>
          <a:p>
            <a:pPr algn="l" indent="0" marL="0">
              <a:lnSpc>
                <a:spcPct val="100000"/>
              </a:lnSpc>
              <a:buNone/>
            </a:pPr>
            <a:r>
              <a:rPr lang="en-US" sz="1680" dirty="0">
                <a:solidFill>
                  <a:srgbClr val="586B62"/>
                </a:solidFill>
                <a:latin typeface="Arial" pitchFamily="34" charset="0"/>
                <a:ea typeface="Arial" pitchFamily="34" charset="-122"/>
                <a:cs typeface="Arial" pitchFamily="34" charset="-120"/>
              </a:rPr>
              <a:t>Okta activation replaced temporary password PDFs and manual credential delivery.</a:t>
            </a:r>
            <a:endParaRPr lang="en-US" sz="1680" dirty="0"/>
          </a:p>
        </p:txBody>
      </p:sp>
      <p:sp>
        <p:nvSpPr>
          <p:cNvPr id="4" name="slide8_text_2"/>
          <p:cNvSpPr txBox="1"/>
          <p:nvPr/>
        </p:nvSpPr>
        <p:spPr>
          <a:xfrm>
            <a:off x="594360" y="2324100"/>
            <a:ext cx="1112520" cy="308153"/>
          </a:xfrm>
          <a:prstGeom prst="rect">
            <a:avLst/>
          </a:prstGeom>
          <a:noFill/>
          <a:ln/>
        </p:spPr>
        <p:txBody>
          <a:bodyPr wrap="square" lIns="0" tIns="0" rIns="0" bIns="0" rtlCol="0" anchor="t"/>
          <a:lstStyle/>
          <a:p>
            <a:pPr algn="l" indent="0" marL="0">
              <a:lnSpc>
                <a:spcPct val="100000"/>
              </a:lnSpc>
              <a:buNone/>
            </a:pPr>
            <a:r>
              <a:rPr lang="en-US" sz="1860" b="1" dirty="0">
                <a:solidFill>
                  <a:srgbClr val="586B62"/>
                </a:solidFill>
                <a:latin typeface="Arial" pitchFamily="34" charset="0"/>
                <a:ea typeface="Arial" pitchFamily="34" charset="-122"/>
                <a:cs typeface="Arial" pitchFamily="34" charset="-120"/>
              </a:rPr>
              <a:t>Before</a:t>
            </a:r>
            <a:endParaRPr lang="en-US" sz="1860" dirty="0"/>
          </a:p>
        </p:txBody>
      </p:sp>
      <p:sp>
        <p:nvSpPr>
          <p:cNvPr id="5" name="slide8_rect_3"/>
          <p:cNvSpPr/>
          <p:nvPr/>
        </p:nvSpPr>
        <p:spPr>
          <a:xfrm>
            <a:off x="1958340" y="2179320"/>
            <a:ext cx="2933700" cy="1234440"/>
          </a:xfrm>
          <a:prstGeom prst="roundRect">
            <a:avLst>
              <a:gd name="adj" fmla="val 4938"/>
            </a:avLst>
          </a:prstGeom>
          <a:solidFill>
            <a:srgbClr val="FFFFFF"/>
          </a:solidFill>
          <a:ln w="12192">
            <a:solidFill>
              <a:srgbClr val="D2DCD3"/>
            </a:solidFill>
            <a:prstDash val="solid"/>
          </a:ln>
        </p:spPr>
        <p:txBody>
          <a:bodyPr/>
          <a:p/>
        </p:txBody>
      </p:sp>
      <p:sp>
        <p:nvSpPr>
          <p:cNvPr id="6" name="slide8_text_4"/>
          <p:cNvSpPr txBox="1"/>
          <p:nvPr/>
        </p:nvSpPr>
        <p:spPr>
          <a:xfrm>
            <a:off x="2141220" y="2362200"/>
            <a:ext cx="2567940" cy="262738"/>
          </a:xfrm>
          <a:prstGeom prst="rect">
            <a:avLst/>
          </a:prstGeom>
          <a:noFill/>
          <a:ln/>
        </p:spPr>
        <p:txBody>
          <a:bodyPr wrap="square" lIns="0" tIns="0" rIns="0" bIns="0" rtlCol="0" anchor="t"/>
          <a:lstStyle/>
          <a:p>
            <a:pPr algn="l" indent="0" marL="0">
              <a:lnSpc>
                <a:spcPct val="100000"/>
              </a:lnSpc>
              <a:buNone/>
            </a:pPr>
            <a:r>
              <a:rPr lang="en-US" sz="1740" b="1" dirty="0">
                <a:solidFill>
                  <a:srgbClr val="152F27"/>
                </a:solidFill>
                <a:latin typeface="Arial" pitchFamily="34" charset="0"/>
                <a:ea typeface="Arial" pitchFamily="34" charset="-122"/>
                <a:cs typeface="Arial" pitchFamily="34" charset="-120"/>
              </a:rPr>
              <a:t>PDF in Drive</a:t>
            </a:r>
            <a:endParaRPr lang="en-US" sz="1740" dirty="0"/>
          </a:p>
        </p:txBody>
      </p:sp>
      <p:sp>
        <p:nvSpPr>
          <p:cNvPr id="7" name="slide8_text_5"/>
          <p:cNvSpPr txBox="1"/>
          <p:nvPr/>
        </p:nvSpPr>
        <p:spPr>
          <a:xfrm>
            <a:off x="2141220" y="2670658"/>
            <a:ext cx="256794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Temporary password</a:t>
            </a:r>
            <a:endParaRPr lang="en-US" sz="1380" dirty="0"/>
          </a:p>
        </p:txBody>
      </p:sp>
      <p:sp>
        <p:nvSpPr>
          <p:cNvPr id="8" name="slide8_line_6"/>
          <p:cNvSpPr/>
          <p:nvPr/>
        </p:nvSpPr>
        <p:spPr>
          <a:xfrm>
            <a:off x="4975860" y="2796540"/>
            <a:ext cx="152400" cy="0"/>
          </a:xfrm>
          <a:prstGeom prst="line">
            <a:avLst/>
          </a:prstGeom>
          <a:noFill/>
          <a:ln w="22860">
            <a:solidFill>
              <a:srgbClr val="9AAA9E"/>
            </a:solidFill>
            <a:prstDash val="solid"/>
            <a:headEnd type="none"/>
            <a:tailEnd type="none"/>
          </a:ln>
        </p:spPr>
        <p:txBody>
          <a:bodyPr/>
          <a:p/>
        </p:txBody>
      </p:sp>
      <p:sp>
        <p:nvSpPr>
          <p:cNvPr id="9" name="slide8_poly_7"/>
          <p:cNvSpPr/>
          <p:nvPr/>
        </p:nvSpPr>
        <p:spPr>
          <a:xfrm>
            <a:off x="5128260" y="2750820"/>
            <a:ext cx="91440" cy="91440"/>
          </a:xfrm>
          <a:custGeom>
            <a:avLst/>
            <a:gdLst/>
            <a:ahLst/>
            <a:cxnLst/>
            <a:rect l="l" t="t" r="r" b="b"/>
            <a:pathLst>
              <a:path w="91440" h="91440">
                <a:moveTo>
                  <a:pt x="91440" y="45720"/>
                </a:moveTo>
                <a:lnTo>
                  <a:pt x="0" y="91440"/>
                </a:lnTo>
                <a:lnTo>
                  <a:pt x="0" y="0"/>
                </a:lnTo>
                <a:close/>
              </a:path>
            </a:pathLst>
          </a:custGeom>
          <a:solidFill>
            <a:srgbClr val="9AAA9E"/>
          </a:solidFill>
          <a:ln w="12700">
            <a:solidFill>
              <a:srgbClr val="9AAA9E">
                <a:alpha val="0"/>
              </a:srgbClr>
            </a:solidFill>
            <a:prstDash val="solid"/>
          </a:ln>
        </p:spPr>
        <p:txBody>
          <a:bodyPr/>
          <a:p/>
        </p:txBody>
      </p:sp>
      <p:sp>
        <p:nvSpPr>
          <p:cNvPr id="10" name="slide8_rect_8"/>
          <p:cNvSpPr/>
          <p:nvPr/>
        </p:nvSpPr>
        <p:spPr>
          <a:xfrm>
            <a:off x="5318760" y="2179320"/>
            <a:ext cx="2933700" cy="1234440"/>
          </a:xfrm>
          <a:prstGeom prst="roundRect">
            <a:avLst>
              <a:gd name="adj" fmla="val 4938"/>
            </a:avLst>
          </a:prstGeom>
          <a:solidFill>
            <a:srgbClr val="FFFFFF"/>
          </a:solidFill>
          <a:ln w="12192">
            <a:solidFill>
              <a:srgbClr val="D2DCD3"/>
            </a:solidFill>
            <a:prstDash val="solid"/>
          </a:ln>
        </p:spPr>
        <p:txBody>
          <a:bodyPr/>
          <a:p/>
        </p:txBody>
      </p:sp>
      <p:sp>
        <p:nvSpPr>
          <p:cNvPr id="11" name="slide8_text_9"/>
          <p:cNvSpPr txBox="1"/>
          <p:nvPr/>
        </p:nvSpPr>
        <p:spPr>
          <a:xfrm>
            <a:off x="5501640" y="2362200"/>
            <a:ext cx="2567940" cy="262738"/>
          </a:xfrm>
          <a:prstGeom prst="rect">
            <a:avLst/>
          </a:prstGeom>
          <a:noFill/>
          <a:ln/>
        </p:spPr>
        <p:txBody>
          <a:bodyPr wrap="square" lIns="0" tIns="0" rIns="0" bIns="0" rtlCol="0" anchor="t"/>
          <a:lstStyle/>
          <a:p>
            <a:pPr algn="l" indent="0" marL="0">
              <a:lnSpc>
                <a:spcPct val="100000"/>
              </a:lnSpc>
              <a:buNone/>
            </a:pPr>
            <a:r>
              <a:rPr lang="en-US" sz="1740" b="1" dirty="0">
                <a:solidFill>
                  <a:srgbClr val="152F27"/>
                </a:solidFill>
                <a:latin typeface="Arial" pitchFamily="34" charset="0"/>
                <a:ea typeface="Arial" pitchFamily="34" charset="-122"/>
                <a:cs typeface="Arial" pitchFamily="34" charset="-120"/>
              </a:rPr>
              <a:t>Support verifies identity</a:t>
            </a:r>
            <a:endParaRPr lang="en-US" sz="1740" dirty="0"/>
          </a:p>
        </p:txBody>
      </p:sp>
      <p:sp>
        <p:nvSpPr>
          <p:cNvPr id="12" name="slide8_text_10"/>
          <p:cNvSpPr txBox="1"/>
          <p:nvPr/>
        </p:nvSpPr>
        <p:spPr>
          <a:xfrm>
            <a:off x="5501640" y="2670658"/>
            <a:ext cx="256794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Confirm the new hire</a:t>
            </a:r>
            <a:endParaRPr lang="en-US" sz="1380" dirty="0"/>
          </a:p>
        </p:txBody>
      </p:sp>
      <p:sp>
        <p:nvSpPr>
          <p:cNvPr id="13" name="slide8_line_11"/>
          <p:cNvSpPr/>
          <p:nvPr/>
        </p:nvSpPr>
        <p:spPr>
          <a:xfrm>
            <a:off x="8336280" y="2796540"/>
            <a:ext cx="152400" cy="0"/>
          </a:xfrm>
          <a:prstGeom prst="line">
            <a:avLst/>
          </a:prstGeom>
          <a:noFill/>
          <a:ln w="22860">
            <a:solidFill>
              <a:srgbClr val="9AAA9E"/>
            </a:solidFill>
            <a:prstDash val="solid"/>
            <a:headEnd type="none"/>
            <a:tailEnd type="none"/>
          </a:ln>
        </p:spPr>
        <p:txBody>
          <a:bodyPr/>
          <a:p/>
        </p:txBody>
      </p:sp>
      <p:sp>
        <p:nvSpPr>
          <p:cNvPr id="14" name="slide8_poly_12"/>
          <p:cNvSpPr/>
          <p:nvPr/>
        </p:nvSpPr>
        <p:spPr>
          <a:xfrm>
            <a:off x="8488680" y="2750820"/>
            <a:ext cx="91440" cy="91440"/>
          </a:xfrm>
          <a:custGeom>
            <a:avLst/>
            <a:gdLst/>
            <a:ahLst/>
            <a:cxnLst/>
            <a:rect l="l" t="t" r="r" b="b"/>
            <a:pathLst>
              <a:path w="91440" h="91440">
                <a:moveTo>
                  <a:pt x="91440" y="45720"/>
                </a:moveTo>
                <a:lnTo>
                  <a:pt x="0" y="91440"/>
                </a:lnTo>
                <a:lnTo>
                  <a:pt x="0" y="0"/>
                </a:lnTo>
                <a:close/>
              </a:path>
            </a:pathLst>
          </a:custGeom>
          <a:solidFill>
            <a:srgbClr val="9AAA9E"/>
          </a:solidFill>
          <a:ln w="12700">
            <a:solidFill>
              <a:srgbClr val="9AAA9E">
                <a:alpha val="0"/>
              </a:srgbClr>
            </a:solidFill>
            <a:prstDash val="solid"/>
          </a:ln>
        </p:spPr>
        <p:txBody>
          <a:bodyPr/>
          <a:p/>
        </p:txBody>
      </p:sp>
      <p:sp>
        <p:nvSpPr>
          <p:cNvPr id="15" name="slide8_rect_13"/>
          <p:cNvSpPr/>
          <p:nvPr/>
        </p:nvSpPr>
        <p:spPr>
          <a:xfrm>
            <a:off x="8679180" y="2179320"/>
            <a:ext cx="2933700" cy="1234440"/>
          </a:xfrm>
          <a:prstGeom prst="roundRect">
            <a:avLst>
              <a:gd name="adj" fmla="val 4938"/>
            </a:avLst>
          </a:prstGeom>
          <a:solidFill>
            <a:srgbClr val="FFFFFF"/>
          </a:solidFill>
          <a:ln w="12192">
            <a:solidFill>
              <a:srgbClr val="D2DCD3"/>
            </a:solidFill>
            <a:prstDash val="solid"/>
          </a:ln>
        </p:spPr>
        <p:txBody>
          <a:bodyPr/>
          <a:p/>
        </p:txBody>
      </p:sp>
      <p:sp>
        <p:nvSpPr>
          <p:cNvPr id="16" name="slide8_text_14"/>
          <p:cNvSpPr txBox="1"/>
          <p:nvPr/>
        </p:nvSpPr>
        <p:spPr>
          <a:xfrm>
            <a:off x="8862060" y="2362200"/>
            <a:ext cx="2567940" cy="262738"/>
          </a:xfrm>
          <a:prstGeom prst="rect">
            <a:avLst/>
          </a:prstGeom>
          <a:noFill/>
          <a:ln/>
        </p:spPr>
        <p:txBody>
          <a:bodyPr wrap="square" lIns="0" tIns="0" rIns="0" bIns="0" rtlCol="0" anchor="t"/>
          <a:lstStyle/>
          <a:p>
            <a:pPr algn="l" indent="0" marL="0">
              <a:lnSpc>
                <a:spcPct val="100000"/>
              </a:lnSpc>
              <a:buNone/>
            </a:pPr>
            <a:r>
              <a:rPr lang="en-US" sz="1740" b="1" dirty="0">
                <a:solidFill>
                  <a:srgbClr val="152F27"/>
                </a:solidFill>
                <a:latin typeface="Arial" pitchFamily="34" charset="0"/>
                <a:ea typeface="Arial" pitchFamily="34" charset="-122"/>
                <a:cs typeface="Arial" pitchFamily="34" charset="-120"/>
              </a:rPr>
              <a:t>Credentials shared</a:t>
            </a:r>
            <a:endParaRPr lang="en-US" sz="1740" dirty="0"/>
          </a:p>
        </p:txBody>
      </p:sp>
      <p:sp>
        <p:nvSpPr>
          <p:cNvPr id="17" name="slide8_text_15"/>
          <p:cNvSpPr txBox="1"/>
          <p:nvPr/>
        </p:nvSpPr>
        <p:spPr>
          <a:xfrm>
            <a:off x="8862060" y="2670658"/>
            <a:ext cx="256794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Manual handoff</a:t>
            </a:r>
            <a:endParaRPr lang="en-US" sz="1380" dirty="0"/>
          </a:p>
        </p:txBody>
      </p:sp>
      <p:sp>
        <p:nvSpPr>
          <p:cNvPr id="18" name="slide8_text_16"/>
          <p:cNvSpPr txBox="1"/>
          <p:nvPr/>
        </p:nvSpPr>
        <p:spPr>
          <a:xfrm>
            <a:off x="594360" y="4030980"/>
            <a:ext cx="1112520" cy="308153"/>
          </a:xfrm>
          <a:prstGeom prst="rect">
            <a:avLst/>
          </a:prstGeom>
          <a:noFill/>
          <a:ln/>
        </p:spPr>
        <p:txBody>
          <a:bodyPr wrap="square" lIns="0" tIns="0" rIns="0" bIns="0" rtlCol="0" anchor="t"/>
          <a:lstStyle/>
          <a:p>
            <a:pPr algn="l" indent="0" marL="0">
              <a:lnSpc>
                <a:spcPct val="100000"/>
              </a:lnSpc>
              <a:buNone/>
            </a:pPr>
            <a:r>
              <a:rPr lang="en-US" sz="1860" b="1" dirty="0">
                <a:solidFill>
                  <a:srgbClr val="176C4B"/>
                </a:solidFill>
                <a:latin typeface="Arial" pitchFamily="34" charset="0"/>
                <a:ea typeface="Arial" pitchFamily="34" charset="-122"/>
                <a:cs typeface="Arial" pitchFamily="34" charset="-120"/>
              </a:rPr>
              <a:t>After</a:t>
            </a:r>
            <a:endParaRPr lang="en-US" sz="1860" dirty="0"/>
          </a:p>
        </p:txBody>
      </p:sp>
      <p:sp>
        <p:nvSpPr>
          <p:cNvPr id="19" name="slide8_rect_17"/>
          <p:cNvSpPr/>
          <p:nvPr/>
        </p:nvSpPr>
        <p:spPr>
          <a:xfrm>
            <a:off x="1958340" y="3886200"/>
            <a:ext cx="2933700" cy="1234440"/>
          </a:xfrm>
          <a:prstGeom prst="roundRect">
            <a:avLst>
              <a:gd name="adj" fmla="val 4938"/>
            </a:avLst>
          </a:prstGeom>
          <a:solidFill>
            <a:srgbClr val="FFFFFF"/>
          </a:solidFill>
          <a:ln w="12192">
            <a:solidFill>
              <a:srgbClr val="D2DCD3"/>
            </a:solidFill>
            <a:prstDash val="solid"/>
          </a:ln>
        </p:spPr>
        <p:txBody>
          <a:bodyPr/>
          <a:p/>
        </p:txBody>
      </p:sp>
      <p:sp>
        <p:nvSpPr>
          <p:cNvPr id="20" name="slide8_text_18"/>
          <p:cNvSpPr txBox="1"/>
          <p:nvPr/>
        </p:nvSpPr>
        <p:spPr>
          <a:xfrm>
            <a:off x="2141220" y="4069080"/>
            <a:ext cx="2567940" cy="262738"/>
          </a:xfrm>
          <a:prstGeom prst="rect">
            <a:avLst/>
          </a:prstGeom>
          <a:noFill/>
          <a:ln/>
        </p:spPr>
        <p:txBody>
          <a:bodyPr wrap="square" lIns="0" tIns="0" rIns="0" bIns="0" rtlCol="0" anchor="t"/>
          <a:lstStyle/>
          <a:p>
            <a:pPr algn="l" indent="0" marL="0">
              <a:lnSpc>
                <a:spcPct val="100000"/>
              </a:lnSpc>
              <a:buNone/>
            </a:pPr>
            <a:r>
              <a:rPr lang="en-US" sz="1740" b="1" dirty="0">
                <a:solidFill>
                  <a:srgbClr val="152F27"/>
                </a:solidFill>
                <a:latin typeface="Arial" pitchFamily="34" charset="0"/>
                <a:ea typeface="Arial" pitchFamily="34" charset="-122"/>
                <a:cs typeface="Arial" pitchFamily="34" charset="-120"/>
              </a:rPr>
              <a:t>Okta activation link</a:t>
            </a:r>
            <a:endParaRPr lang="en-US" sz="1740" dirty="0"/>
          </a:p>
        </p:txBody>
      </p:sp>
      <p:sp>
        <p:nvSpPr>
          <p:cNvPr id="21" name="slide8_text_19"/>
          <p:cNvSpPr txBox="1"/>
          <p:nvPr/>
        </p:nvSpPr>
        <p:spPr>
          <a:xfrm>
            <a:off x="2141220" y="4377538"/>
            <a:ext cx="256794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Sent to the new hire</a:t>
            </a:r>
            <a:endParaRPr lang="en-US" sz="1380" dirty="0"/>
          </a:p>
        </p:txBody>
      </p:sp>
      <p:sp>
        <p:nvSpPr>
          <p:cNvPr id="22" name="slide8_line_20"/>
          <p:cNvSpPr/>
          <p:nvPr/>
        </p:nvSpPr>
        <p:spPr>
          <a:xfrm>
            <a:off x="4975860" y="4503420"/>
            <a:ext cx="152400" cy="0"/>
          </a:xfrm>
          <a:prstGeom prst="line">
            <a:avLst/>
          </a:prstGeom>
          <a:noFill/>
          <a:ln w="22860">
            <a:solidFill>
              <a:srgbClr val="9AAA9E"/>
            </a:solidFill>
            <a:prstDash val="solid"/>
            <a:headEnd type="none"/>
            <a:tailEnd type="none"/>
          </a:ln>
        </p:spPr>
        <p:txBody>
          <a:bodyPr/>
          <a:p/>
        </p:txBody>
      </p:sp>
      <p:sp>
        <p:nvSpPr>
          <p:cNvPr id="23" name="slide8_poly_21"/>
          <p:cNvSpPr/>
          <p:nvPr/>
        </p:nvSpPr>
        <p:spPr>
          <a:xfrm>
            <a:off x="5128260" y="4457700"/>
            <a:ext cx="91440" cy="91440"/>
          </a:xfrm>
          <a:custGeom>
            <a:avLst/>
            <a:gdLst/>
            <a:ahLst/>
            <a:cxnLst/>
            <a:rect l="l" t="t" r="r" b="b"/>
            <a:pathLst>
              <a:path w="91440" h="91440">
                <a:moveTo>
                  <a:pt x="91440" y="45720"/>
                </a:moveTo>
                <a:lnTo>
                  <a:pt x="0" y="91440"/>
                </a:lnTo>
                <a:lnTo>
                  <a:pt x="0" y="0"/>
                </a:lnTo>
                <a:close/>
              </a:path>
            </a:pathLst>
          </a:custGeom>
          <a:solidFill>
            <a:srgbClr val="9AAA9E"/>
          </a:solidFill>
          <a:ln w="12700">
            <a:solidFill>
              <a:srgbClr val="9AAA9E">
                <a:alpha val="0"/>
              </a:srgbClr>
            </a:solidFill>
            <a:prstDash val="solid"/>
          </a:ln>
        </p:spPr>
        <p:txBody>
          <a:bodyPr/>
          <a:p/>
        </p:txBody>
      </p:sp>
      <p:sp>
        <p:nvSpPr>
          <p:cNvPr id="24" name="slide8_rect_22"/>
          <p:cNvSpPr/>
          <p:nvPr/>
        </p:nvSpPr>
        <p:spPr>
          <a:xfrm>
            <a:off x="5318760" y="3886200"/>
            <a:ext cx="2933700" cy="1234440"/>
          </a:xfrm>
          <a:prstGeom prst="roundRect">
            <a:avLst>
              <a:gd name="adj" fmla="val 4938"/>
            </a:avLst>
          </a:prstGeom>
          <a:solidFill>
            <a:srgbClr val="E4F0E6"/>
          </a:solidFill>
          <a:ln w="12192">
            <a:solidFill>
              <a:srgbClr val="176C4B"/>
            </a:solidFill>
            <a:prstDash val="solid"/>
          </a:ln>
        </p:spPr>
        <p:txBody>
          <a:bodyPr/>
          <a:p/>
        </p:txBody>
      </p:sp>
      <p:sp>
        <p:nvSpPr>
          <p:cNvPr id="25" name="slide8_text_23"/>
          <p:cNvSpPr txBox="1"/>
          <p:nvPr/>
        </p:nvSpPr>
        <p:spPr>
          <a:xfrm>
            <a:off x="5501640" y="4069080"/>
            <a:ext cx="2567940" cy="262738"/>
          </a:xfrm>
          <a:prstGeom prst="rect">
            <a:avLst/>
          </a:prstGeom>
          <a:noFill/>
          <a:ln/>
        </p:spPr>
        <p:txBody>
          <a:bodyPr wrap="square" lIns="0" tIns="0" rIns="0" bIns="0" rtlCol="0" anchor="t"/>
          <a:lstStyle/>
          <a:p>
            <a:pPr algn="l" indent="0" marL="0">
              <a:lnSpc>
                <a:spcPct val="100000"/>
              </a:lnSpc>
              <a:buNone/>
            </a:pPr>
            <a:r>
              <a:rPr lang="en-US" sz="1740" b="1" dirty="0">
                <a:solidFill>
                  <a:srgbClr val="176C4B"/>
                </a:solidFill>
                <a:latin typeface="Arial" pitchFamily="34" charset="0"/>
                <a:ea typeface="Arial" pitchFamily="34" charset="-122"/>
                <a:cs typeface="Arial" pitchFamily="34" charset="-120"/>
              </a:rPr>
              <a:t>New hire sets password</a:t>
            </a:r>
            <a:endParaRPr lang="en-US" sz="1740" dirty="0"/>
          </a:p>
        </p:txBody>
      </p:sp>
      <p:sp>
        <p:nvSpPr>
          <p:cNvPr id="26" name="slide8_text_24"/>
          <p:cNvSpPr txBox="1"/>
          <p:nvPr/>
        </p:nvSpPr>
        <p:spPr>
          <a:xfrm>
            <a:off x="5501640" y="4377538"/>
            <a:ext cx="256794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No shared temporary password</a:t>
            </a:r>
            <a:endParaRPr lang="en-US" sz="1380" dirty="0"/>
          </a:p>
        </p:txBody>
      </p:sp>
      <p:sp>
        <p:nvSpPr>
          <p:cNvPr id="27" name="slide8_line_25"/>
          <p:cNvSpPr/>
          <p:nvPr/>
        </p:nvSpPr>
        <p:spPr>
          <a:xfrm>
            <a:off x="8336280" y="4503420"/>
            <a:ext cx="152400" cy="0"/>
          </a:xfrm>
          <a:prstGeom prst="line">
            <a:avLst/>
          </a:prstGeom>
          <a:noFill/>
          <a:ln w="22860">
            <a:solidFill>
              <a:srgbClr val="9AAA9E"/>
            </a:solidFill>
            <a:prstDash val="solid"/>
            <a:headEnd type="none"/>
            <a:tailEnd type="none"/>
          </a:ln>
        </p:spPr>
        <p:txBody>
          <a:bodyPr/>
          <a:p/>
        </p:txBody>
      </p:sp>
      <p:sp>
        <p:nvSpPr>
          <p:cNvPr id="28" name="slide8_poly_26"/>
          <p:cNvSpPr/>
          <p:nvPr/>
        </p:nvSpPr>
        <p:spPr>
          <a:xfrm>
            <a:off x="8488680" y="4457700"/>
            <a:ext cx="91440" cy="91440"/>
          </a:xfrm>
          <a:custGeom>
            <a:avLst/>
            <a:gdLst/>
            <a:ahLst/>
            <a:cxnLst/>
            <a:rect l="l" t="t" r="r" b="b"/>
            <a:pathLst>
              <a:path w="91440" h="91440">
                <a:moveTo>
                  <a:pt x="91440" y="45720"/>
                </a:moveTo>
                <a:lnTo>
                  <a:pt x="0" y="91440"/>
                </a:lnTo>
                <a:lnTo>
                  <a:pt x="0" y="0"/>
                </a:lnTo>
                <a:close/>
              </a:path>
            </a:pathLst>
          </a:custGeom>
          <a:solidFill>
            <a:srgbClr val="9AAA9E"/>
          </a:solidFill>
          <a:ln w="12700">
            <a:solidFill>
              <a:srgbClr val="9AAA9E">
                <a:alpha val="0"/>
              </a:srgbClr>
            </a:solidFill>
            <a:prstDash val="solid"/>
          </a:ln>
        </p:spPr>
        <p:txBody>
          <a:bodyPr/>
          <a:p/>
        </p:txBody>
      </p:sp>
      <p:sp>
        <p:nvSpPr>
          <p:cNvPr id="29" name="slide8_rect_27"/>
          <p:cNvSpPr/>
          <p:nvPr/>
        </p:nvSpPr>
        <p:spPr>
          <a:xfrm>
            <a:off x="8679180" y="3886200"/>
            <a:ext cx="2933700" cy="1234440"/>
          </a:xfrm>
          <a:prstGeom prst="roundRect">
            <a:avLst>
              <a:gd name="adj" fmla="val 4938"/>
            </a:avLst>
          </a:prstGeom>
          <a:solidFill>
            <a:srgbClr val="FFFFFF"/>
          </a:solidFill>
          <a:ln w="12192">
            <a:solidFill>
              <a:srgbClr val="D2DCD3"/>
            </a:solidFill>
            <a:prstDash val="solid"/>
          </a:ln>
        </p:spPr>
        <p:txBody>
          <a:bodyPr/>
          <a:p/>
        </p:txBody>
      </p:sp>
      <p:sp>
        <p:nvSpPr>
          <p:cNvPr id="30" name="slide8_text_28"/>
          <p:cNvSpPr txBox="1"/>
          <p:nvPr/>
        </p:nvSpPr>
        <p:spPr>
          <a:xfrm>
            <a:off x="8862060" y="4069080"/>
            <a:ext cx="2567940" cy="262738"/>
          </a:xfrm>
          <a:prstGeom prst="rect">
            <a:avLst/>
          </a:prstGeom>
          <a:noFill/>
          <a:ln/>
        </p:spPr>
        <p:txBody>
          <a:bodyPr wrap="square" lIns="0" tIns="0" rIns="0" bIns="0" rtlCol="0" anchor="t"/>
          <a:lstStyle/>
          <a:p>
            <a:pPr algn="l" indent="0" marL="0">
              <a:lnSpc>
                <a:spcPct val="100000"/>
              </a:lnSpc>
              <a:buNone/>
            </a:pPr>
            <a:r>
              <a:rPr lang="en-US" sz="1740" b="1" dirty="0">
                <a:solidFill>
                  <a:srgbClr val="152F27"/>
                </a:solidFill>
                <a:latin typeface="Arial" pitchFamily="34" charset="0"/>
                <a:ea typeface="Arial" pitchFamily="34" charset="-122"/>
                <a:cs typeface="Arial" pitchFamily="34" charset="-120"/>
              </a:rPr>
              <a:t>Activation completed</a:t>
            </a:r>
            <a:endParaRPr lang="en-US" sz="1740" dirty="0"/>
          </a:p>
        </p:txBody>
      </p:sp>
      <p:sp>
        <p:nvSpPr>
          <p:cNvPr id="31" name="slide8_text_29"/>
          <p:cNvSpPr txBox="1"/>
          <p:nvPr/>
        </p:nvSpPr>
        <p:spPr>
          <a:xfrm>
            <a:off x="8862060" y="4377538"/>
            <a:ext cx="2567940" cy="225552"/>
          </a:xfrm>
          <a:prstGeom prst="rect">
            <a:avLst/>
          </a:prstGeom>
          <a:noFill/>
          <a:ln/>
        </p:spPr>
        <p:txBody>
          <a:bodyPr wrap="square" lIns="0" tIns="0" rIns="0" bIns="0" rtlCol="0" anchor="t"/>
          <a:lstStyle/>
          <a:p>
            <a:pPr algn="l" indent="0" marL="0">
              <a:lnSpc>
                <a:spcPct val="100000"/>
              </a:lnSpc>
              <a:buNone/>
            </a:pPr>
            <a:r>
              <a:rPr lang="en-US" sz="1380" dirty="0">
                <a:solidFill>
                  <a:srgbClr val="586B62"/>
                </a:solidFill>
                <a:latin typeface="Arial" pitchFamily="34" charset="0"/>
                <a:ea typeface="Arial" pitchFamily="34" charset="-122"/>
                <a:cs typeface="Arial" pitchFamily="34" charset="-120"/>
              </a:rPr>
              <a:t>User finishes setup</a:t>
            </a:r>
            <a:endParaRPr lang="en-US" sz="1380" dirty="0"/>
          </a:p>
        </p:txBody>
      </p:sp>
      <p:sp>
        <p:nvSpPr>
          <p:cNvPr id="32" name="slide8_text_30"/>
          <p:cNvSpPr txBox="1"/>
          <p:nvPr/>
        </p:nvSpPr>
        <p:spPr>
          <a:xfrm>
            <a:off x="594360" y="5608320"/>
            <a:ext cx="10744200" cy="279806"/>
          </a:xfrm>
          <a:prstGeom prst="rect">
            <a:avLst/>
          </a:prstGeom>
          <a:noFill/>
          <a:ln/>
        </p:spPr>
        <p:txBody>
          <a:bodyPr wrap="square" lIns="0" tIns="0" rIns="0" bIns="0" rtlCol="0" anchor="t"/>
          <a:lstStyle/>
          <a:p>
            <a:pPr algn="l" indent="0" marL="0">
              <a:lnSpc>
                <a:spcPct val="100000"/>
              </a:lnSpc>
              <a:buNone/>
            </a:pPr>
            <a:r>
              <a:rPr lang="en-US" sz="1680" dirty="0">
                <a:solidFill>
                  <a:srgbClr val="586B62"/>
                </a:solidFill>
                <a:latin typeface="Arial" pitchFamily="34" charset="0"/>
                <a:ea typeface="Arial" pitchFamily="34" charset="-122"/>
                <a:cs typeface="Arial" pitchFamily="34" charset="-120"/>
              </a:rPr>
              <a:t>Onboarding invitations also connected new hires with the People team and optional IT office hours.</a:t>
            </a:r>
            <a:endParaRPr lang="en-US" sz="1680" dirty="0"/>
          </a:p>
        </p:txBody>
      </p:sp>
      <p:sp>
        <p:nvSpPr>
          <p:cNvPr id="33" name="slide8_line_31"/>
          <p:cNvSpPr/>
          <p:nvPr/>
        </p:nvSpPr>
        <p:spPr>
          <a:xfrm>
            <a:off x="579120" y="6301740"/>
            <a:ext cx="11033760" cy="0"/>
          </a:xfrm>
          <a:prstGeom prst="line">
            <a:avLst/>
          </a:prstGeom>
          <a:noFill/>
          <a:ln w="7620">
            <a:solidFill>
              <a:srgbClr val="D2DCD3"/>
            </a:solidFill>
            <a:prstDash val="solid"/>
            <a:headEnd type="none"/>
            <a:tailEnd type="none"/>
          </a:ln>
        </p:spPr>
        <p:txBody>
          <a:bodyPr/>
          <a:p/>
        </p:txBody>
      </p:sp>
      <p:sp>
        <p:nvSpPr>
          <p:cNvPr id="34" name="slide8_text_32"/>
          <p:cNvSpPr txBox="1"/>
          <p:nvPr/>
        </p:nvSpPr>
        <p:spPr>
          <a:xfrm>
            <a:off x="594360" y="6446520"/>
            <a:ext cx="6096000" cy="144780"/>
          </a:xfrm>
          <a:prstGeom prst="rect">
            <a:avLst/>
          </a:prstGeom>
          <a:noFill/>
          <a:ln/>
        </p:spPr>
        <p:txBody>
          <a:bodyPr wrap="square" lIns="0" tIns="0" rIns="0" bIns="0" rtlCol="0" anchor="t"/>
          <a:lstStyle/>
          <a:p>
            <a:pPr algn="l" indent="0" marL="0">
              <a:lnSpc>
                <a:spcPct val="100000"/>
              </a:lnSpc>
              <a:buNone/>
            </a:pPr>
            <a:r>
              <a:rPr lang="en-US" sz="1020" dirty="0">
                <a:solidFill>
                  <a:srgbClr val="586B62"/>
                </a:solidFill>
                <a:latin typeface="Arial" pitchFamily="34" charset="0"/>
                <a:ea typeface="Arial" pitchFamily="34" charset="-122"/>
                <a:cs typeface="Arial" pitchFamily="34" charset="-120"/>
              </a:rPr>
              <a:t>FRANKLIN WAGGONER / LAUNCHPAD</a:t>
            </a:r>
            <a:endParaRPr lang="en-US" sz="1020" dirty="0"/>
          </a:p>
        </p:txBody>
      </p:sp>
      <p:sp>
        <p:nvSpPr>
          <p:cNvPr id="35" name="slide8_text_33"/>
          <p:cNvSpPr txBox="1"/>
          <p:nvPr/>
        </p:nvSpPr>
        <p:spPr>
          <a:xfrm>
            <a:off x="10591800" y="6438900"/>
            <a:ext cx="1021080" cy="144780"/>
          </a:xfrm>
          <a:prstGeom prst="rect">
            <a:avLst/>
          </a:prstGeom>
          <a:noFill/>
          <a:ln/>
        </p:spPr>
        <p:txBody>
          <a:bodyPr wrap="square" lIns="0" tIns="0" rIns="0" bIns="0" rtlCol="0" anchor="t"/>
          <a:lstStyle/>
          <a:p>
            <a:pPr algn="r" indent="0" marL="0">
              <a:lnSpc>
                <a:spcPct val="100000"/>
              </a:lnSpc>
              <a:buNone/>
            </a:pPr>
            <a:r>
              <a:rPr lang="en-US" sz="1020" dirty="0">
                <a:solidFill>
                  <a:srgbClr val="586B62"/>
                </a:solidFill>
                <a:latin typeface="Arial" pitchFamily="34" charset="0"/>
                <a:ea typeface="Arial" pitchFamily="34" charset="-122"/>
                <a:cs typeface="Arial" pitchFamily="34" charset="-120"/>
              </a:rPr>
              <a:t>08 / 12</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4"/>
        </a:solidFill>
      </p:bgPr>
    </p:bg>
    <p:spTree>
      <p:nvGrpSpPr>
        <p:cNvPr id="1" name=""/>
        <p:cNvGrpSpPr/>
        <p:nvPr/>
      </p:nvGrpSpPr>
      <p:grpSpPr>
        <a:xfrm>
          <a:off x="0" y="0"/>
          <a:ext cx="0" cy="0"/>
          <a:chOff x="0" y="0"/>
          <a:chExt cx="0" cy="0"/>
        </a:xfrm>
      </p:grpSpPr>
      <p:sp>
        <p:nvSpPr>
          <p:cNvPr id="31" name="slide9_line_25"/>
          <p:cNvSpPr/>
          <p:nvPr/>
        </p:nvSpPr>
        <p:spPr>
          <a:xfrm>
            <a:off x="579120" y="6301740"/>
            <a:ext cx="11033760" cy="0"/>
          </a:xfrm>
          <a:prstGeom prst="line">
            <a:avLst/>
          </a:prstGeom>
          <a:noFill/>
          <a:ln w="7620">
            <a:solidFill>
              <a:srgbClr val="D2DCD3"/>
            </a:solidFill>
            <a:prstDash val="solid"/>
            <a:headEnd type="none"/>
            <a:tailEnd type="none"/>
          </a:ln>
        </p:spPr>
        <p:txBody>
          <a:bodyPr/>
          <a:p/>
        </p:txBody>
      </p:sp>
      <p:sp>
        <p:nvSpPr>
          <p:cNvPr id="32" name="slide9_text_26"/>
          <p:cNvSpPr txBox="1"/>
          <p:nvPr/>
        </p:nvSpPr>
        <p:spPr>
          <a:xfrm>
            <a:off x="594360" y="6446520"/>
            <a:ext cx="6096000" cy="144780"/>
          </a:xfrm>
          <a:prstGeom prst="rect">
            <a:avLst/>
          </a:prstGeom>
          <a:noFill/>
          <a:ln/>
        </p:spPr>
        <p:txBody>
          <a:bodyPr wrap="square" lIns="0" tIns="0" rIns="0" bIns="0" rtlCol="0" anchor="t"/>
          <a:lstStyle/>
          <a:p>
            <a:pPr algn="l" indent="0" marL="0">
              <a:lnSpc>
                <a:spcPct val="100000"/>
              </a:lnSpc>
              <a:buNone/>
            </a:pPr>
            <a:r>
              <a:rPr lang="en-US" sz="1020" dirty="0">
                <a:solidFill>
                  <a:srgbClr val="586B62"/>
                </a:solidFill>
                <a:latin typeface="Arial" pitchFamily="34" charset="0"/>
                <a:ea typeface="Arial" pitchFamily="34" charset="-122"/>
                <a:cs typeface="Arial" pitchFamily="34" charset="-120"/>
              </a:rPr>
              <a:t>FRANKLIN WAGGONER / LAUNCHPAD</a:t>
            </a:r>
            <a:endParaRPr lang="en-US" sz="1020" dirty="0"/>
          </a:p>
        </p:txBody>
      </p:sp>
      <p:sp>
        <p:nvSpPr>
          <p:cNvPr id="33" name="slide9_text_27"/>
          <p:cNvSpPr txBox="1"/>
          <p:nvPr/>
        </p:nvSpPr>
        <p:spPr>
          <a:xfrm>
            <a:off x="10591800" y="6438900"/>
            <a:ext cx="1021080" cy="144780"/>
          </a:xfrm>
          <a:prstGeom prst="rect">
            <a:avLst/>
          </a:prstGeom>
          <a:noFill/>
          <a:ln/>
        </p:spPr>
        <p:txBody>
          <a:bodyPr wrap="square" lIns="0" tIns="0" rIns="0" bIns="0" rtlCol="0" anchor="t"/>
          <a:lstStyle/>
          <a:p>
            <a:pPr algn="r" indent="0" marL="0">
              <a:lnSpc>
                <a:spcPct val="100000"/>
              </a:lnSpc>
              <a:buNone/>
            </a:pPr>
            <a:r>
              <a:rPr lang="en-US" sz="1020" dirty="0">
                <a:solidFill>
                  <a:srgbClr val="586B62"/>
                </a:solidFill>
                <a:latin typeface="Arial" pitchFamily="34" charset="0"/>
                <a:ea typeface="Arial" pitchFamily="34" charset="-122"/>
                <a:cs typeface="Arial" pitchFamily="34" charset="-120"/>
              </a:rPr>
              <a:t>09 / 12</a:t>
            </a:r>
            <a:endParaRPr lang="en-US" sz="1020" dirty="0"/>
          </a:p>
        </p:txBody>
      </p:sp>
      <p:sp>
        <p:nvSpPr>
          <p:cNvPr id="34" name="TextBox 33"/>
          <p:cNvSpPr txBox="1"/>
          <p:nvPr/>
        </p:nvSpPr>
        <p:spPr>
          <a:xfrm>
            <a:off x="579120" y="533400"/>
            <a:ext cx="11033760" cy="493775"/>
          </a:xfrm>
          <a:prstGeom prst="rect">
            <a:avLst/>
          </a:prstGeom>
          <a:noFill/>
        </p:spPr>
        <p:txBody>
          <a:bodyPr wrap="none" lIns="0" rIns="0" tIns="0" bIns="0" anchor="t">
            <a:noAutofit/>
          </a:bodyPr>
          <a:lstStyle/>
          <a:p>
            <a:pPr>
              <a:lnSpc>
                <a:spcPct val="100000"/>
              </a:lnSpc>
              <a:spcBef>
                <a:spcPts val="0"/>
              </a:spcBef>
              <a:spcAft>
                <a:spcPts val="0"/>
              </a:spcAft>
            </a:pPr>
            <a:r>
              <a:rPr sz="3240" b="1">
                <a:solidFill>
                  <a:srgbClr val="152F27"/>
                </a:solidFill>
                <a:latin typeface="Arial"/>
              </a:rPr>
              <a:t>The fix started with a direct conversation.</a:t>
            </a:r>
          </a:p>
        </p:txBody>
      </p:sp>
      <p:sp>
        <p:nvSpPr>
          <p:cNvPr id="35" name="TextBox 34"/>
          <p:cNvSpPr txBox="1"/>
          <p:nvPr/>
        </p:nvSpPr>
        <p:spPr>
          <a:xfrm>
            <a:off x="594360" y="1165860"/>
            <a:ext cx="10881360" cy="256032"/>
          </a:xfrm>
          <a:prstGeom prst="rect">
            <a:avLst/>
          </a:prstGeom>
          <a:noFill/>
        </p:spPr>
        <p:txBody>
          <a:bodyPr wrap="none" lIns="0" rIns="0" tIns="0" bIns="0" anchor="t">
            <a:noAutofit/>
          </a:bodyPr>
          <a:lstStyle/>
          <a:p>
            <a:pPr>
              <a:lnSpc>
                <a:spcPct val="100000"/>
              </a:lnSpc>
              <a:spcBef>
                <a:spcPts val="0"/>
              </a:spcBef>
              <a:spcAft>
                <a:spcPts val="0"/>
              </a:spcAft>
            </a:pPr>
            <a:r>
              <a:rPr sz="1680" b="0">
                <a:solidFill>
                  <a:srgbClr val="586B62"/>
                </a:solidFill>
                <a:latin typeface="Arial"/>
              </a:rPr>
              <a:t>Incorrect Workday inputs affected onboarding. I addressed the impact directly with a peer.</a:t>
            </a:r>
          </a:p>
        </p:txBody>
      </p:sp>
      <p:sp>
        <p:nvSpPr>
          <p:cNvPr id="36" name="Rounded Rectangle 35"/>
          <p:cNvSpPr/>
          <p:nvPr/>
        </p:nvSpPr>
        <p:spPr>
          <a:xfrm>
            <a:off x="579120" y="2255520"/>
            <a:ext cx="2301240" cy="1386840"/>
          </a:xfrm>
          <a:prstGeom prst="roundRect">
            <a:avLst>
              <a:gd name="adj" fmla="val 5000"/>
            </a:avLst>
          </a:prstGeom>
          <a:solidFill>
            <a:srgbClr val="FFFFFF"/>
          </a:solidFill>
          <a:ln w="12192">
            <a:solidFill>
              <a:srgbClr val="D2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2000" y="2461260"/>
            <a:ext cx="1935480" cy="265176"/>
          </a:xfrm>
          <a:prstGeom prst="rect">
            <a:avLst/>
          </a:prstGeom>
          <a:noFill/>
        </p:spPr>
        <p:txBody>
          <a:bodyPr wrap="none" lIns="0" rIns="0" tIns="0" bIns="0" anchor="t">
            <a:noAutofit/>
          </a:bodyPr>
          <a:lstStyle/>
          <a:p>
            <a:pPr>
              <a:lnSpc>
                <a:spcPct val="100000"/>
              </a:lnSpc>
              <a:spcBef>
                <a:spcPts val="0"/>
              </a:spcBef>
              <a:spcAft>
                <a:spcPts val="0"/>
              </a:spcAft>
            </a:pPr>
            <a:r>
              <a:rPr sz="1739" b="1">
                <a:solidFill>
                  <a:srgbClr val="152F27"/>
                </a:solidFill>
                <a:latin typeface="Arial"/>
              </a:rPr>
              <a:t>Incorrect inputs</a:t>
            </a:r>
          </a:p>
        </p:txBody>
      </p:sp>
      <p:sp>
        <p:nvSpPr>
          <p:cNvPr id="38" name="TextBox 37"/>
          <p:cNvSpPr txBox="1"/>
          <p:nvPr/>
        </p:nvSpPr>
        <p:spPr>
          <a:xfrm>
            <a:off x="762000" y="2865120"/>
            <a:ext cx="1935480" cy="210311"/>
          </a:xfrm>
          <a:prstGeom prst="rect">
            <a:avLst/>
          </a:prstGeom>
          <a:noFill/>
        </p:spPr>
        <p:txBody>
          <a:bodyPr wrap="none" lIns="0" rIns="0" tIns="0" bIns="0" anchor="t">
            <a:noAutofit/>
          </a:bodyPr>
          <a:lstStyle/>
          <a:p>
            <a:pPr>
              <a:lnSpc>
                <a:spcPct val="100000"/>
              </a:lnSpc>
              <a:spcBef>
                <a:spcPts val="0"/>
              </a:spcBef>
              <a:spcAft>
                <a:spcPts val="0"/>
              </a:spcAft>
            </a:pPr>
            <a:r>
              <a:rPr sz="1380" b="0">
                <a:solidFill>
                  <a:srgbClr val="586B62"/>
                </a:solidFill>
                <a:latin typeface="Arial"/>
              </a:rPr>
              <a:t>Cash App data entered</a:t>
            </a:r>
          </a:p>
        </p:txBody>
      </p:sp>
      <p:sp>
        <p:nvSpPr>
          <p:cNvPr id="39" name="TextBox 38"/>
          <p:cNvSpPr txBox="1"/>
          <p:nvPr/>
        </p:nvSpPr>
        <p:spPr>
          <a:xfrm>
            <a:off x="762000" y="3093720"/>
            <a:ext cx="1935480" cy="210311"/>
          </a:xfrm>
          <a:prstGeom prst="rect">
            <a:avLst/>
          </a:prstGeom>
          <a:noFill/>
        </p:spPr>
        <p:txBody>
          <a:bodyPr wrap="none" lIns="0" rIns="0" tIns="0" bIns="0" anchor="t">
            <a:noAutofit/>
          </a:bodyPr>
          <a:lstStyle/>
          <a:p>
            <a:pPr>
              <a:lnSpc>
                <a:spcPct val="100000"/>
              </a:lnSpc>
              <a:spcBef>
                <a:spcPts val="0"/>
              </a:spcBef>
              <a:spcAft>
                <a:spcPts val="0"/>
              </a:spcAft>
            </a:pPr>
            <a:r>
              <a:rPr sz="1380" b="0">
                <a:solidFill>
                  <a:srgbClr val="586B62"/>
                </a:solidFill>
                <a:latin typeface="Arial"/>
              </a:rPr>
              <a:t>into Workday incorrectly.</a:t>
            </a:r>
          </a:p>
        </p:txBody>
      </p:sp>
      <p:cxnSp>
        <p:nvCxnSpPr>
          <p:cNvPr id="40" name="Connector 39"/>
          <p:cNvCxnSpPr/>
          <p:nvPr/>
        </p:nvCxnSpPr>
        <p:spPr>
          <a:xfrm>
            <a:off x="2971800" y="2948940"/>
            <a:ext cx="335280" cy="0"/>
          </a:xfrm>
          <a:prstGeom prst="line">
            <a:avLst/>
          </a:prstGeom>
          <a:ln w="22860">
            <a:solidFill>
              <a:srgbClr val="9AAA9E"/>
            </a:solidFill>
          </a:ln>
        </p:spPr>
        <p:style>
          <a:lnRef idx="2">
            <a:schemeClr val="accent1"/>
          </a:lnRef>
          <a:fillRef idx="0">
            <a:schemeClr val="accent1"/>
          </a:fillRef>
          <a:effectRef idx="1">
            <a:schemeClr val="accent1"/>
          </a:effectRef>
          <a:fontRef idx="minor">
            <a:schemeClr val="tx1"/>
          </a:fontRef>
        </p:style>
      </p:cxnSp>
      <p:sp>
        <p:nvSpPr>
          <p:cNvPr id="2" name="Freeform 1"/>
          <p:cNvSpPr/>
          <p:nvPr/>
        </p:nvSpPr>
        <p:spPr>
          <a:xfrm>
            <a:off x="3307080" y="2903220"/>
            <a:ext cx="91440" cy="91440"/>
          </a:xfrm>
          <a:custGeom>
            <a:avLst/>
            <a:gdLst/>
            <a:ahLst/>
            <a:cxnLst/>
            <a:rect l="l" t="t" r="r" b="b"/>
            <a:pathLst>
              <a:path w="12" h="12">
                <a:moveTo>
                  <a:pt x="0" y="0"/>
                </a:moveTo>
                <a:lnTo>
                  <a:pt x="12" y="6"/>
                </a:lnTo>
                <a:lnTo>
                  <a:pt x="0" y="12"/>
                </a:lnTo>
                <a:lnTo>
                  <a:pt x="0" y="0"/>
                </a:lnTo>
                <a:close/>
              </a:path>
            </a:pathLst>
          </a:custGeom>
          <a:solidFill>
            <a:srgbClr val="9AA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3489960" y="2255520"/>
            <a:ext cx="2301240" cy="1386840"/>
          </a:xfrm>
          <a:prstGeom prst="roundRect">
            <a:avLst>
              <a:gd name="adj" fmla="val 5000"/>
            </a:avLst>
          </a:prstGeom>
          <a:solidFill>
            <a:srgbClr val="FFFFFF"/>
          </a:solidFill>
          <a:ln w="12192">
            <a:solidFill>
              <a:srgbClr val="D2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2840" y="2461260"/>
            <a:ext cx="1935480" cy="265176"/>
          </a:xfrm>
          <a:prstGeom prst="rect">
            <a:avLst/>
          </a:prstGeom>
          <a:noFill/>
        </p:spPr>
        <p:txBody>
          <a:bodyPr wrap="none" lIns="0" rIns="0" tIns="0" bIns="0" anchor="t">
            <a:noAutofit/>
          </a:bodyPr>
          <a:lstStyle/>
          <a:p>
            <a:pPr>
              <a:lnSpc>
                <a:spcPct val="100000"/>
              </a:lnSpc>
              <a:spcBef>
                <a:spcPts val="0"/>
              </a:spcBef>
              <a:spcAft>
                <a:spcPts val="0"/>
              </a:spcAft>
            </a:pPr>
            <a:r>
              <a:rPr sz="1739" b="1">
                <a:solidFill>
                  <a:srgbClr val="152F27"/>
                </a:solidFill>
                <a:latin typeface="Arial"/>
              </a:rPr>
              <a:t>Onboarding impact</a:t>
            </a:r>
          </a:p>
        </p:txBody>
      </p:sp>
      <p:sp>
        <p:nvSpPr>
          <p:cNvPr id="43" name="TextBox 42"/>
          <p:cNvSpPr txBox="1"/>
          <p:nvPr/>
        </p:nvSpPr>
        <p:spPr>
          <a:xfrm>
            <a:off x="3672840" y="2865120"/>
            <a:ext cx="1935480" cy="210311"/>
          </a:xfrm>
          <a:prstGeom prst="rect">
            <a:avLst/>
          </a:prstGeom>
          <a:noFill/>
        </p:spPr>
        <p:txBody>
          <a:bodyPr wrap="none" lIns="0" rIns="0" tIns="0" bIns="0" anchor="t">
            <a:noAutofit/>
          </a:bodyPr>
          <a:lstStyle/>
          <a:p>
            <a:pPr>
              <a:lnSpc>
                <a:spcPct val="100000"/>
              </a:lnSpc>
              <a:spcBef>
                <a:spcPts val="0"/>
              </a:spcBef>
              <a:spcAft>
                <a:spcPts val="0"/>
              </a:spcAft>
            </a:pPr>
            <a:r>
              <a:rPr sz="1380" b="0">
                <a:solidFill>
                  <a:srgbClr val="586B62"/>
                </a:solidFill>
                <a:latin typeface="Arial"/>
              </a:rPr>
              <a:t>The inputs affected my</a:t>
            </a:r>
          </a:p>
        </p:txBody>
      </p:sp>
      <p:sp>
        <p:nvSpPr>
          <p:cNvPr id="44" name="TextBox 43"/>
          <p:cNvSpPr txBox="1"/>
          <p:nvPr/>
        </p:nvSpPr>
        <p:spPr>
          <a:xfrm>
            <a:off x="3672840" y="3093720"/>
            <a:ext cx="1935480" cy="210311"/>
          </a:xfrm>
          <a:prstGeom prst="rect">
            <a:avLst/>
          </a:prstGeom>
          <a:noFill/>
        </p:spPr>
        <p:txBody>
          <a:bodyPr wrap="none" lIns="0" rIns="0" tIns="0" bIns="0" anchor="t">
            <a:noAutofit/>
          </a:bodyPr>
          <a:lstStyle/>
          <a:p>
            <a:pPr>
              <a:lnSpc>
                <a:spcPct val="100000"/>
              </a:lnSpc>
              <a:spcBef>
                <a:spcPts val="0"/>
              </a:spcBef>
              <a:spcAft>
                <a:spcPts val="0"/>
              </a:spcAft>
            </a:pPr>
            <a:r>
              <a:rPr sz="1380" b="0">
                <a:solidFill>
                  <a:srgbClr val="586B62"/>
                </a:solidFill>
                <a:latin typeface="Arial"/>
              </a:rPr>
              <a:t>account creation work.</a:t>
            </a:r>
          </a:p>
        </p:txBody>
      </p:sp>
      <p:cxnSp>
        <p:nvCxnSpPr>
          <p:cNvPr id="45" name="Connector 44"/>
          <p:cNvCxnSpPr/>
          <p:nvPr/>
        </p:nvCxnSpPr>
        <p:spPr>
          <a:xfrm>
            <a:off x="5882640" y="2948940"/>
            <a:ext cx="335280" cy="0"/>
          </a:xfrm>
          <a:prstGeom prst="line">
            <a:avLst/>
          </a:prstGeom>
          <a:ln w="22860">
            <a:solidFill>
              <a:srgbClr val="9AAA9E"/>
            </a:solidFill>
          </a:ln>
        </p:spPr>
        <p:style>
          <a:lnRef idx="2">
            <a:schemeClr val="accent1"/>
          </a:lnRef>
          <a:fillRef idx="0">
            <a:schemeClr val="accent1"/>
          </a:fillRef>
          <a:effectRef idx="1">
            <a:schemeClr val="accent1"/>
          </a:effectRef>
          <a:fontRef idx="minor">
            <a:schemeClr val="tx1"/>
          </a:fontRef>
        </p:style>
      </p:cxnSp>
      <p:sp>
        <p:nvSpPr>
          <p:cNvPr id="3" name="Freeform 2"/>
          <p:cNvSpPr/>
          <p:nvPr/>
        </p:nvSpPr>
        <p:spPr>
          <a:xfrm>
            <a:off x="6217920" y="2903220"/>
            <a:ext cx="91440" cy="91440"/>
          </a:xfrm>
          <a:custGeom>
            <a:avLst/>
            <a:gdLst/>
            <a:ahLst/>
            <a:cxnLst/>
            <a:rect l="l" t="t" r="r" b="b"/>
            <a:pathLst>
              <a:path w="12" h="12">
                <a:moveTo>
                  <a:pt x="0" y="0"/>
                </a:moveTo>
                <a:lnTo>
                  <a:pt x="12" y="6"/>
                </a:lnTo>
                <a:lnTo>
                  <a:pt x="0" y="12"/>
                </a:lnTo>
                <a:lnTo>
                  <a:pt x="0" y="0"/>
                </a:lnTo>
                <a:close/>
              </a:path>
            </a:pathLst>
          </a:custGeom>
          <a:solidFill>
            <a:srgbClr val="9AA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6400800" y="2255520"/>
            <a:ext cx="2301240" cy="1386840"/>
          </a:xfrm>
          <a:prstGeom prst="roundRect">
            <a:avLst>
              <a:gd name="adj" fmla="val 5000"/>
            </a:avLst>
          </a:prstGeom>
          <a:solidFill>
            <a:srgbClr val="FFFFFF"/>
          </a:solidFill>
          <a:ln w="12192">
            <a:solidFill>
              <a:srgbClr val="D2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83680" y="2461260"/>
            <a:ext cx="1935480" cy="265176"/>
          </a:xfrm>
          <a:prstGeom prst="rect">
            <a:avLst/>
          </a:prstGeom>
          <a:noFill/>
        </p:spPr>
        <p:txBody>
          <a:bodyPr wrap="none" lIns="0" rIns="0" tIns="0" bIns="0" anchor="t">
            <a:noAutofit/>
          </a:bodyPr>
          <a:lstStyle/>
          <a:p>
            <a:pPr>
              <a:lnSpc>
                <a:spcPct val="100000"/>
              </a:lnSpc>
              <a:spcBef>
                <a:spcPts val="0"/>
              </a:spcBef>
              <a:spcAft>
                <a:spcPts val="0"/>
              </a:spcAft>
            </a:pPr>
            <a:r>
              <a:rPr sz="1739" b="1">
                <a:solidFill>
                  <a:srgbClr val="152F27"/>
                </a:solidFill>
                <a:latin typeface="Arial"/>
              </a:rPr>
              <a:t>Direct feedback</a:t>
            </a:r>
          </a:p>
        </p:txBody>
      </p:sp>
      <p:sp>
        <p:nvSpPr>
          <p:cNvPr id="48" name="TextBox 47"/>
          <p:cNvSpPr txBox="1"/>
          <p:nvPr/>
        </p:nvSpPr>
        <p:spPr>
          <a:xfrm>
            <a:off x="6583680" y="2865120"/>
            <a:ext cx="1935480" cy="210311"/>
          </a:xfrm>
          <a:prstGeom prst="rect">
            <a:avLst/>
          </a:prstGeom>
          <a:noFill/>
        </p:spPr>
        <p:txBody>
          <a:bodyPr wrap="none" lIns="0" rIns="0" tIns="0" bIns="0" anchor="t">
            <a:noAutofit/>
          </a:bodyPr>
          <a:lstStyle/>
          <a:p>
            <a:pPr>
              <a:lnSpc>
                <a:spcPct val="100000"/>
              </a:lnSpc>
              <a:spcBef>
                <a:spcPts val="0"/>
              </a:spcBef>
              <a:spcAft>
                <a:spcPts val="0"/>
              </a:spcAft>
            </a:pPr>
            <a:r>
              <a:rPr sz="1380" b="0">
                <a:solidFill>
                  <a:srgbClr val="586B62"/>
                </a:solidFill>
                <a:latin typeface="Arial"/>
              </a:rPr>
              <a:t>I explained the process</a:t>
            </a:r>
          </a:p>
        </p:txBody>
      </p:sp>
      <p:sp>
        <p:nvSpPr>
          <p:cNvPr id="49" name="TextBox 48"/>
          <p:cNvSpPr txBox="1"/>
          <p:nvPr/>
        </p:nvSpPr>
        <p:spPr>
          <a:xfrm>
            <a:off x="6583680" y="3093720"/>
            <a:ext cx="1935480" cy="210311"/>
          </a:xfrm>
          <a:prstGeom prst="rect">
            <a:avLst/>
          </a:prstGeom>
          <a:noFill/>
        </p:spPr>
        <p:txBody>
          <a:bodyPr wrap="none" lIns="0" rIns="0" tIns="0" bIns="0" anchor="t">
            <a:noAutofit/>
          </a:bodyPr>
          <a:lstStyle/>
          <a:p>
            <a:pPr>
              <a:lnSpc>
                <a:spcPct val="100000"/>
              </a:lnSpc>
              <a:spcBef>
                <a:spcPts val="0"/>
              </a:spcBef>
              <a:spcAft>
                <a:spcPts val="0"/>
              </a:spcAft>
            </a:pPr>
            <a:r>
              <a:rPr sz="1380" b="0">
                <a:solidFill>
                  <a:srgbClr val="586B62"/>
                </a:solidFill>
                <a:latin typeface="Arial"/>
              </a:rPr>
              <a:t>and its impact to a peer.</a:t>
            </a:r>
          </a:p>
        </p:txBody>
      </p:sp>
      <p:cxnSp>
        <p:nvCxnSpPr>
          <p:cNvPr id="50" name="Connector 49"/>
          <p:cNvCxnSpPr/>
          <p:nvPr/>
        </p:nvCxnSpPr>
        <p:spPr>
          <a:xfrm>
            <a:off x="8793480" y="2948940"/>
            <a:ext cx="335280" cy="0"/>
          </a:xfrm>
          <a:prstGeom prst="line">
            <a:avLst/>
          </a:prstGeom>
          <a:ln w="22860">
            <a:solidFill>
              <a:srgbClr val="9AAA9E"/>
            </a:solidFill>
          </a:ln>
        </p:spPr>
        <p:style>
          <a:lnRef idx="2">
            <a:schemeClr val="accent1"/>
          </a:lnRef>
          <a:fillRef idx="0">
            <a:schemeClr val="accent1"/>
          </a:fillRef>
          <a:effectRef idx="1">
            <a:schemeClr val="accent1"/>
          </a:effectRef>
          <a:fontRef idx="minor">
            <a:schemeClr val="tx1"/>
          </a:fontRef>
        </p:style>
      </p:cxnSp>
      <p:sp>
        <p:nvSpPr>
          <p:cNvPr id="4" name="Freeform 3"/>
          <p:cNvSpPr/>
          <p:nvPr/>
        </p:nvSpPr>
        <p:spPr>
          <a:xfrm>
            <a:off x="9128760" y="2903220"/>
            <a:ext cx="91440" cy="91440"/>
          </a:xfrm>
          <a:custGeom>
            <a:avLst/>
            <a:gdLst/>
            <a:ahLst/>
            <a:cxnLst/>
            <a:rect l="l" t="t" r="r" b="b"/>
            <a:pathLst>
              <a:path w="12" h="12">
                <a:moveTo>
                  <a:pt x="0" y="0"/>
                </a:moveTo>
                <a:lnTo>
                  <a:pt x="12" y="6"/>
                </a:lnTo>
                <a:lnTo>
                  <a:pt x="0" y="12"/>
                </a:lnTo>
                <a:lnTo>
                  <a:pt x="0" y="0"/>
                </a:lnTo>
                <a:close/>
              </a:path>
            </a:pathLst>
          </a:custGeom>
          <a:solidFill>
            <a:srgbClr val="9AA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9311640" y="2255520"/>
            <a:ext cx="2301240" cy="1386840"/>
          </a:xfrm>
          <a:prstGeom prst="roundRect">
            <a:avLst>
              <a:gd name="adj" fmla="val 5000"/>
            </a:avLst>
          </a:prstGeom>
          <a:solidFill>
            <a:srgbClr val="E4F0E6"/>
          </a:solidFill>
          <a:ln w="12192">
            <a:solidFill>
              <a:srgbClr val="176C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494520" y="2461260"/>
            <a:ext cx="1935480" cy="265176"/>
          </a:xfrm>
          <a:prstGeom prst="rect">
            <a:avLst/>
          </a:prstGeom>
          <a:noFill/>
        </p:spPr>
        <p:txBody>
          <a:bodyPr wrap="none" lIns="0" rIns="0" tIns="0" bIns="0" anchor="t">
            <a:noAutofit/>
          </a:bodyPr>
          <a:lstStyle/>
          <a:p>
            <a:pPr>
              <a:lnSpc>
                <a:spcPct val="100000"/>
              </a:lnSpc>
              <a:spcBef>
                <a:spcPts val="0"/>
              </a:spcBef>
              <a:spcAft>
                <a:spcPts val="0"/>
              </a:spcAft>
            </a:pPr>
            <a:r>
              <a:rPr sz="1739" b="1">
                <a:solidFill>
                  <a:srgbClr val="176C4B"/>
                </a:solidFill>
                <a:latin typeface="Arial"/>
              </a:rPr>
              <a:t>Positive outcome</a:t>
            </a:r>
          </a:p>
        </p:txBody>
      </p:sp>
      <p:sp>
        <p:nvSpPr>
          <p:cNvPr id="53" name="TextBox 52"/>
          <p:cNvSpPr txBox="1"/>
          <p:nvPr/>
        </p:nvSpPr>
        <p:spPr>
          <a:xfrm>
            <a:off x="9494520" y="2865120"/>
            <a:ext cx="1935480" cy="210311"/>
          </a:xfrm>
          <a:prstGeom prst="rect">
            <a:avLst/>
          </a:prstGeom>
          <a:noFill/>
        </p:spPr>
        <p:txBody>
          <a:bodyPr wrap="none" lIns="0" rIns="0" tIns="0" bIns="0" anchor="t">
            <a:noAutofit/>
          </a:bodyPr>
          <a:lstStyle/>
          <a:p>
            <a:pPr>
              <a:lnSpc>
                <a:spcPct val="100000"/>
              </a:lnSpc>
              <a:spcBef>
                <a:spcPts val="0"/>
              </a:spcBef>
              <a:spcAft>
                <a:spcPts val="0"/>
              </a:spcAft>
            </a:pPr>
            <a:r>
              <a:rPr sz="1380" b="0">
                <a:solidFill>
                  <a:srgbClr val="586B62"/>
                </a:solidFill>
                <a:latin typeface="Arial"/>
              </a:rPr>
              <a:t>The conversation helped</a:t>
            </a:r>
          </a:p>
        </p:txBody>
      </p:sp>
      <p:sp>
        <p:nvSpPr>
          <p:cNvPr id="54" name="TextBox 53"/>
          <p:cNvSpPr txBox="1"/>
          <p:nvPr/>
        </p:nvSpPr>
        <p:spPr>
          <a:xfrm>
            <a:off x="9494520" y="3093720"/>
            <a:ext cx="1935480" cy="210311"/>
          </a:xfrm>
          <a:prstGeom prst="rect">
            <a:avLst/>
          </a:prstGeom>
          <a:noFill/>
        </p:spPr>
        <p:txBody>
          <a:bodyPr wrap="none" lIns="0" rIns="0" tIns="0" bIns="0" anchor="t">
            <a:noAutofit/>
          </a:bodyPr>
          <a:lstStyle/>
          <a:p>
            <a:pPr>
              <a:lnSpc>
                <a:spcPct val="100000"/>
              </a:lnSpc>
              <a:spcBef>
                <a:spcPts val="0"/>
              </a:spcBef>
              <a:spcAft>
                <a:spcPts val="0"/>
              </a:spcAft>
            </a:pPr>
            <a:r>
              <a:rPr sz="1380" b="0">
                <a:solidFill>
                  <a:srgbClr val="586B62"/>
                </a:solidFill>
                <a:latin typeface="Arial"/>
              </a:rPr>
              <a:t>address the issue.</a:t>
            </a:r>
          </a:p>
        </p:txBody>
      </p:sp>
      <p:cxnSp>
        <p:nvCxnSpPr>
          <p:cNvPr id="55" name="Connector 54"/>
          <p:cNvCxnSpPr/>
          <p:nvPr/>
        </p:nvCxnSpPr>
        <p:spPr>
          <a:xfrm>
            <a:off x="579120" y="4038600"/>
            <a:ext cx="11033760" cy="0"/>
          </a:xfrm>
          <a:prstGeom prst="line">
            <a:avLst/>
          </a:prstGeom>
          <a:ln w="15240">
            <a:solidFill>
              <a:srgbClr val="D2DCD3"/>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94360" y="4373880"/>
            <a:ext cx="5029200" cy="292608"/>
          </a:xfrm>
          <a:prstGeom prst="rect">
            <a:avLst/>
          </a:prstGeom>
          <a:noFill/>
        </p:spPr>
        <p:txBody>
          <a:bodyPr wrap="none" lIns="0" rIns="0" tIns="0" bIns="0" anchor="t">
            <a:noAutofit/>
          </a:bodyPr>
          <a:lstStyle/>
          <a:p>
            <a:pPr>
              <a:lnSpc>
                <a:spcPct val="100000"/>
              </a:lnSpc>
              <a:spcBef>
                <a:spcPts val="0"/>
              </a:spcBef>
              <a:spcAft>
                <a:spcPts val="0"/>
              </a:spcAft>
            </a:pPr>
            <a:r>
              <a:rPr sz="1920" b="1">
                <a:solidFill>
                  <a:srgbClr val="152F27"/>
                </a:solidFill>
                <a:latin typeface="Arial"/>
              </a:rPr>
              <a:t>I made the downstream impact clear.</a:t>
            </a:r>
          </a:p>
        </p:txBody>
      </p:sp>
      <p:sp>
        <p:nvSpPr>
          <p:cNvPr id="57" name="TextBox 56"/>
          <p:cNvSpPr txBox="1"/>
          <p:nvPr/>
        </p:nvSpPr>
        <p:spPr>
          <a:xfrm>
            <a:off x="594360" y="4876800"/>
            <a:ext cx="5029200" cy="265176"/>
          </a:xfrm>
          <a:prstGeom prst="rect">
            <a:avLst/>
          </a:prstGeom>
          <a:noFill/>
        </p:spPr>
        <p:txBody>
          <a:bodyPr wrap="none" lIns="0" rIns="0" tIns="0" bIns="0" anchor="t">
            <a:noAutofit/>
          </a:bodyPr>
          <a:lstStyle/>
          <a:p>
            <a:pPr>
              <a:lnSpc>
                <a:spcPct val="100000"/>
              </a:lnSpc>
              <a:spcBef>
                <a:spcPts val="0"/>
              </a:spcBef>
              <a:spcAft>
                <a:spcPts val="0"/>
              </a:spcAft>
            </a:pPr>
            <a:r>
              <a:rPr sz="1739" b="0">
                <a:solidFill>
                  <a:srgbClr val="152F27"/>
                </a:solidFill>
                <a:latin typeface="Arial"/>
              </a:rPr>
              <a:t>I clarified how the process needed to work</a:t>
            </a:r>
          </a:p>
        </p:txBody>
      </p:sp>
      <p:sp>
        <p:nvSpPr>
          <p:cNvPr id="58" name="TextBox 57"/>
          <p:cNvSpPr txBox="1"/>
          <p:nvPr/>
        </p:nvSpPr>
        <p:spPr>
          <a:xfrm>
            <a:off x="594360" y="5166360"/>
            <a:ext cx="5029200" cy="265176"/>
          </a:xfrm>
          <a:prstGeom prst="rect">
            <a:avLst/>
          </a:prstGeom>
          <a:noFill/>
        </p:spPr>
        <p:txBody>
          <a:bodyPr wrap="none" lIns="0" rIns="0" tIns="0" bIns="0" anchor="t">
            <a:noAutofit/>
          </a:bodyPr>
          <a:lstStyle/>
          <a:p>
            <a:pPr>
              <a:lnSpc>
                <a:spcPct val="100000"/>
              </a:lnSpc>
              <a:spcBef>
                <a:spcPts val="0"/>
              </a:spcBef>
              <a:spcAft>
                <a:spcPts val="0"/>
              </a:spcAft>
            </a:pPr>
            <a:r>
              <a:rPr sz="1739" b="0">
                <a:solidFill>
                  <a:srgbClr val="152F27"/>
                </a:solidFill>
                <a:latin typeface="Arial"/>
              </a:rPr>
              <a:t>and how incorrect inputs affected my work.</a:t>
            </a:r>
          </a:p>
        </p:txBody>
      </p:sp>
      <p:sp>
        <p:nvSpPr>
          <p:cNvPr id="59" name="TextBox 58"/>
          <p:cNvSpPr txBox="1"/>
          <p:nvPr/>
        </p:nvSpPr>
        <p:spPr>
          <a:xfrm>
            <a:off x="6438900" y="4373880"/>
            <a:ext cx="5067300" cy="292608"/>
          </a:xfrm>
          <a:prstGeom prst="rect">
            <a:avLst/>
          </a:prstGeom>
          <a:noFill/>
        </p:spPr>
        <p:txBody>
          <a:bodyPr wrap="none" lIns="0" rIns="0" tIns="0" bIns="0" anchor="t">
            <a:noAutofit/>
          </a:bodyPr>
          <a:lstStyle/>
          <a:p>
            <a:pPr>
              <a:lnSpc>
                <a:spcPct val="100000"/>
              </a:lnSpc>
              <a:spcBef>
                <a:spcPts val="0"/>
              </a:spcBef>
              <a:spcAft>
                <a:spcPts val="0"/>
              </a:spcAft>
            </a:pPr>
            <a:r>
              <a:rPr sz="1920" b="1">
                <a:solidFill>
                  <a:srgbClr val="152F27"/>
                </a:solidFill>
                <a:latin typeface="Arial"/>
              </a:rPr>
              <a:t>Onboarding depended on both teams.</a:t>
            </a:r>
          </a:p>
        </p:txBody>
      </p:sp>
      <p:sp>
        <p:nvSpPr>
          <p:cNvPr id="60" name="TextBox 59"/>
          <p:cNvSpPr txBox="1"/>
          <p:nvPr/>
        </p:nvSpPr>
        <p:spPr>
          <a:xfrm>
            <a:off x="6438900" y="4876800"/>
            <a:ext cx="5067300" cy="265176"/>
          </a:xfrm>
          <a:prstGeom prst="rect">
            <a:avLst/>
          </a:prstGeom>
          <a:noFill/>
        </p:spPr>
        <p:txBody>
          <a:bodyPr wrap="none" lIns="0" rIns="0" tIns="0" bIns="0" anchor="t">
            <a:noAutofit/>
          </a:bodyPr>
          <a:lstStyle/>
          <a:p>
            <a:pPr>
              <a:lnSpc>
                <a:spcPct val="100000"/>
              </a:lnSpc>
              <a:spcBef>
                <a:spcPts val="0"/>
              </a:spcBef>
              <a:spcAft>
                <a:spcPts val="0"/>
              </a:spcAft>
            </a:pPr>
            <a:r>
              <a:rPr sz="1739" b="0">
                <a:solidFill>
                  <a:srgbClr val="152F27"/>
                </a:solidFill>
                <a:latin typeface="Arial"/>
              </a:rPr>
              <a:t>The source team and the support team both</a:t>
            </a:r>
          </a:p>
        </p:txBody>
      </p:sp>
      <p:sp>
        <p:nvSpPr>
          <p:cNvPr id="61" name="TextBox 60"/>
          <p:cNvSpPr txBox="1"/>
          <p:nvPr/>
        </p:nvSpPr>
        <p:spPr>
          <a:xfrm>
            <a:off x="6438900" y="5166360"/>
            <a:ext cx="5067300" cy="265176"/>
          </a:xfrm>
          <a:prstGeom prst="rect">
            <a:avLst/>
          </a:prstGeom>
          <a:noFill/>
        </p:spPr>
        <p:txBody>
          <a:bodyPr wrap="none" lIns="0" rIns="0" tIns="0" bIns="0" anchor="t">
            <a:noAutofit/>
          </a:bodyPr>
          <a:lstStyle/>
          <a:p>
            <a:pPr>
              <a:lnSpc>
                <a:spcPct val="100000"/>
              </a:lnSpc>
              <a:spcBef>
                <a:spcPts val="0"/>
              </a:spcBef>
              <a:spcAft>
                <a:spcPts val="0"/>
              </a:spcAft>
            </a:pPr>
            <a:r>
              <a:rPr sz="1739" b="0">
                <a:solidFill>
                  <a:srgbClr val="152F27"/>
                </a:solidFill>
                <a:latin typeface="Arial"/>
              </a:rPr>
              <a:t>shaped whether onboarding worked well.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4"/>
        </a:solidFill>
      </p:bgPr>
    </p:bg>
    <p:spTree>
      <p:nvGrpSpPr>
        <p:cNvPr id="1" name=""/>
        <p:cNvGrpSpPr/>
        <p:nvPr/>
      </p:nvGrpSpPr>
      <p:grpSpPr>
        <a:xfrm>
          <a:off x="0" y="0"/>
          <a:ext cx="0" cy="0"/>
          <a:chOff x="0" y="0"/>
          <a:chExt cx="0" cy="0"/>
        </a:xfrm>
      </p:grpSpPr>
      <p:sp>
        <p:nvSpPr>
          <p:cNvPr id="2" name="slide10_text_0"/>
          <p:cNvSpPr txBox="1"/>
          <p:nvPr/>
        </p:nvSpPr>
        <p:spPr>
          <a:xfrm>
            <a:off x="579120" y="533400"/>
            <a:ext cx="11033760" cy="459638"/>
          </a:xfrm>
          <a:prstGeom prst="rect">
            <a:avLst/>
          </a:prstGeom>
          <a:noFill/>
          <a:ln/>
        </p:spPr>
        <p:txBody>
          <a:bodyPr wrap="square" lIns="0" tIns="0" rIns="0" bIns="0" rtlCol="0" anchor="t"/>
          <a:lstStyle/>
          <a:p>
            <a:pPr algn="l" indent="0" marL="0">
              <a:lnSpc>
                <a:spcPct val="100000"/>
              </a:lnSpc>
              <a:buNone/>
            </a:pPr>
            <a:r>
              <a:rPr lang="en-US" sz="3240" b="1" dirty="0">
                <a:solidFill>
                  <a:srgbClr val="152F27"/>
                </a:solidFill>
                <a:latin typeface="Arial" pitchFamily="34" charset="0"/>
                <a:ea typeface="Arial" pitchFamily="34" charset="-122"/>
                <a:cs typeface="Arial" pitchFamily="34" charset="-120"/>
              </a:rPr>
              <a:t>I made the workflow supportable across teams.</a:t>
            </a:r>
            <a:endParaRPr lang="en-US" sz="3240" dirty="0"/>
          </a:p>
        </p:txBody>
      </p:sp>
      <p:sp>
        <p:nvSpPr>
          <p:cNvPr id="3" name="slide10_text_1"/>
          <p:cNvSpPr txBox="1"/>
          <p:nvPr/>
        </p:nvSpPr>
        <p:spPr>
          <a:xfrm>
            <a:off x="594360" y="1165860"/>
            <a:ext cx="10881360" cy="288341"/>
          </a:xfrm>
          <a:prstGeom prst="rect">
            <a:avLst/>
          </a:prstGeom>
          <a:noFill/>
          <a:ln/>
        </p:spPr>
        <p:txBody>
          <a:bodyPr wrap="square" lIns="0" tIns="0" rIns="0" bIns="0" rtlCol="0" anchor="t"/>
          <a:lstStyle/>
          <a:p>
            <a:pPr algn="l" indent="0" marL="0">
              <a:lnSpc>
                <a:spcPct val="100000"/>
              </a:lnSpc>
              <a:buNone/>
            </a:pPr>
            <a:r>
              <a:rPr lang="en-US" sz="1680" dirty="0">
                <a:solidFill>
                  <a:srgbClr val="586B62"/>
                </a:solidFill>
                <a:latin typeface="Arial" pitchFamily="34" charset="0"/>
                <a:ea typeface="Arial" pitchFamily="34" charset="-122"/>
                <a:cs typeface="Arial" pitchFamily="34" charset="-120"/>
              </a:rPr>
              <a:t>I owned and curated the runbooks, then paired documentation with training and tool access.</a:t>
            </a:r>
            <a:endParaRPr lang="en-US" sz="1680" dirty="0"/>
          </a:p>
        </p:txBody>
      </p:sp>
      <p:sp>
        <p:nvSpPr>
          <p:cNvPr id="4" name="slide10_text_2"/>
          <p:cNvSpPr txBox="1"/>
          <p:nvPr/>
        </p:nvSpPr>
        <p:spPr>
          <a:xfrm>
            <a:off x="579120" y="2186940"/>
            <a:ext cx="3200400" cy="571500"/>
          </a:xfrm>
          <a:prstGeom prst="rect">
            <a:avLst/>
          </a:prstGeom>
          <a:noFill/>
          <a:ln/>
        </p:spPr>
        <p:txBody>
          <a:bodyPr wrap="square" lIns="0" tIns="0" rIns="0" bIns="0" rtlCol="0" anchor="t"/>
          <a:lstStyle/>
          <a:p>
            <a:pPr algn="l" indent="0" marL="0">
              <a:lnSpc>
                <a:spcPct val="100000"/>
              </a:lnSpc>
              <a:buNone/>
            </a:pPr>
            <a:r>
              <a:rPr lang="en-US" sz="4380" dirty="0">
                <a:solidFill>
                  <a:srgbClr val="A6B3A9"/>
                </a:solidFill>
                <a:latin typeface="Arial" pitchFamily="34" charset="0"/>
                <a:ea typeface="Arial" pitchFamily="34" charset="-122"/>
                <a:cs typeface="Arial" pitchFamily="34" charset="-120"/>
              </a:rPr>
              <a:t>01</a:t>
            </a:r>
            <a:endParaRPr lang="en-US" sz="4380" dirty="0"/>
          </a:p>
        </p:txBody>
      </p:sp>
      <p:sp>
        <p:nvSpPr>
          <p:cNvPr id="5" name="slide10_line_3"/>
          <p:cNvSpPr/>
          <p:nvPr/>
        </p:nvSpPr>
        <p:spPr>
          <a:xfrm>
            <a:off x="579120" y="2933700"/>
            <a:ext cx="3238500" cy="0"/>
          </a:xfrm>
          <a:prstGeom prst="line">
            <a:avLst/>
          </a:prstGeom>
          <a:noFill/>
          <a:ln w="22860">
            <a:solidFill>
              <a:srgbClr val="D2DCD3"/>
            </a:solidFill>
            <a:prstDash val="solid"/>
            <a:headEnd type="none"/>
            <a:tailEnd type="none"/>
          </a:ln>
        </p:spPr>
        <p:txBody>
          <a:bodyPr/>
          <a:p/>
        </p:txBody>
      </p:sp>
      <p:sp>
        <p:nvSpPr>
          <p:cNvPr id="6" name="slide10_text_4"/>
          <p:cNvSpPr txBox="1"/>
          <p:nvPr/>
        </p:nvSpPr>
        <p:spPr>
          <a:xfrm>
            <a:off x="579120" y="3200400"/>
            <a:ext cx="3238500" cy="345948"/>
          </a:xfrm>
          <a:prstGeom prst="rect">
            <a:avLst/>
          </a:prstGeom>
          <a:noFill/>
          <a:ln/>
        </p:spPr>
        <p:txBody>
          <a:bodyPr wrap="square" lIns="0" tIns="0" rIns="0" bIns="0" rtlCol="0" anchor="t"/>
          <a:lstStyle/>
          <a:p>
            <a:pPr algn="l" indent="0" marL="0">
              <a:lnSpc>
                <a:spcPct val="100000"/>
              </a:lnSpc>
              <a:buNone/>
            </a:pPr>
            <a:r>
              <a:rPr lang="en-US" sz="2100" b="1" dirty="0">
                <a:solidFill>
                  <a:srgbClr val="152F27"/>
                </a:solidFill>
                <a:latin typeface="Arial" pitchFamily="34" charset="0"/>
                <a:ea typeface="Arial" pitchFamily="34" charset="-122"/>
                <a:cs typeface="Arial" pitchFamily="34" charset="-120"/>
              </a:rPr>
              <a:t>Runbooks</a:t>
            </a:r>
            <a:endParaRPr lang="en-US" sz="2100" dirty="0"/>
          </a:p>
        </p:txBody>
      </p:sp>
      <p:sp>
        <p:nvSpPr>
          <p:cNvPr id="7" name="slide10_text_5"/>
          <p:cNvSpPr txBox="1"/>
          <p:nvPr/>
        </p:nvSpPr>
        <p:spPr>
          <a:xfrm>
            <a:off x="579120" y="3672840"/>
            <a:ext cx="3169920" cy="304724"/>
          </a:xfrm>
          <a:prstGeom prst="rect">
            <a:avLst/>
          </a:prstGeom>
          <a:noFill/>
          <a:ln/>
        </p:spPr>
        <p:txBody>
          <a:bodyPr wrap="square" lIns="0" tIns="0" rIns="0" bIns="0" rtlCol="0" anchor="t"/>
          <a:lstStyle/>
          <a:p>
            <a:pPr algn="l" indent="0" marL="0">
              <a:lnSpc>
                <a:spcPct val="100000"/>
              </a:lnSpc>
              <a:buNone/>
            </a:pPr>
            <a:r>
              <a:rPr lang="en-US" sz="1740" dirty="0">
                <a:solidFill>
                  <a:srgbClr val="152F27"/>
                </a:solidFill>
                <a:latin typeface="Arial" pitchFamily="34" charset="0"/>
                <a:ea typeface="Arial" pitchFamily="34" charset="-122"/>
                <a:cs typeface="Arial" pitchFamily="34" charset="-120"/>
              </a:rPr>
              <a:t>I owned and curated the</a:t>
            </a:r>
            <a:endParaRPr lang="en-US" sz="1740" dirty="0"/>
          </a:p>
        </p:txBody>
      </p:sp>
      <p:sp>
        <p:nvSpPr>
          <p:cNvPr id="8" name="slide10_text_5"/>
          <p:cNvSpPr txBox="1"/>
          <p:nvPr/>
        </p:nvSpPr>
        <p:spPr>
          <a:xfrm>
            <a:off x="579120" y="3962324"/>
            <a:ext cx="3169920" cy="304724"/>
          </a:xfrm>
          <a:prstGeom prst="rect">
            <a:avLst/>
          </a:prstGeom>
          <a:noFill/>
          <a:ln/>
        </p:spPr>
        <p:txBody>
          <a:bodyPr wrap="square" lIns="0" tIns="0" rIns="0" bIns="0" rtlCol="0" anchor="t"/>
          <a:lstStyle/>
          <a:p>
            <a:pPr algn="l" indent="0" marL="0">
              <a:lnSpc>
                <a:spcPct val="100000"/>
              </a:lnSpc>
              <a:buNone/>
            </a:pPr>
            <a:r>
              <a:rPr lang="en-US" sz="1740" dirty="0">
                <a:solidFill>
                  <a:srgbClr val="152F27"/>
                </a:solidFill>
                <a:latin typeface="Arial" pitchFamily="34" charset="0"/>
                <a:ea typeface="Arial" pitchFamily="34" charset="-122"/>
                <a:cs typeface="Arial" pitchFamily="34" charset="-120"/>
              </a:rPr>
              <a:t>documentation so support could</a:t>
            </a:r>
            <a:endParaRPr lang="en-US" sz="1740" dirty="0"/>
          </a:p>
        </p:txBody>
      </p:sp>
      <p:sp>
        <p:nvSpPr>
          <p:cNvPr id="9" name="slide10_text_5"/>
          <p:cNvSpPr txBox="1"/>
          <p:nvPr/>
        </p:nvSpPr>
        <p:spPr>
          <a:xfrm>
            <a:off x="579120" y="4251808"/>
            <a:ext cx="3169920" cy="304724"/>
          </a:xfrm>
          <a:prstGeom prst="rect">
            <a:avLst/>
          </a:prstGeom>
          <a:noFill/>
          <a:ln/>
        </p:spPr>
        <p:txBody>
          <a:bodyPr wrap="square" lIns="0" tIns="0" rIns="0" bIns="0" rtlCol="0" anchor="t"/>
          <a:lstStyle/>
          <a:p>
            <a:pPr algn="l" indent="0" marL="0">
              <a:lnSpc>
                <a:spcPct val="100000"/>
              </a:lnSpc>
              <a:buNone/>
            </a:pPr>
            <a:r>
              <a:rPr lang="en-US" sz="1740" dirty="0">
                <a:solidFill>
                  <a:srgbClr val="152F27"/>
                </a:solidFill>
                <a:latin typeface="Arial" pitchFamily="34" charset="0"/>
                <a:ea typeface="Arial" pitchFamily="34" charset="-122"/>
                <a:cs typeface="Arial" pitchFamily="34" charset="-120"/>
              </a:rPr>
              <a:t>identify what failed and what to</a:t>
            </a:r>
            <a:endParaRPr lang="en-US" sz="1740" dirty="0"/>
          </a:p>
        </p:txBody>
      </p:sp>
      <p:sp>
        <p:nvSpPr>
          <p:cNvPr id="10" name="slide10_text_5"/>
          <p:cNvSpPr txBox="1"/>
          <p:nvPr/>
        </p:nvSpPr>
        <p:spPr>
          <a:xfrm>
            <a:off x="579120" y="4541291"/>
            <a:ext cx="3169920" cy="304724"/>
          </a:xfrm>
          <a:prstGeom prst="rect">
            <a:avLst/>
          </a:prstGeom>
          <a:noFill/>
          <a:ln/>
        </p:spPr>
        <p:txBody>
          <a:bodyPr wrap="square" lIns="0" tIns="0" rIns="0" bIns="0" rtlCol="0" anchor="t"/>
          <a:lstStyle/>
          <a:p>
            <a:pPr algn="l" indent="0" marL="0">
              <a:lnSpc>
                <a:spcPct val="100000"/>
              </a:lnSpc>
              <a:buNone/>
            </a:pPr>
            <a:r>
              <a:rPr lang="en-US" sz="1740" dirty="0">
                <a:solidFill>
                  <a:srgbClr val="152F27"/>
                </a:solidFill>
                <a:latin typeface="Arial" pitchFamily="34" charset="0"/>
                <a:ea typeface="Arial" pitchFamily="34" charset="-122"/>
                <a:cs typeface="Arial" pitchFamily="34" charset="-120"/>
              </a:rPr>
              <a:t>check next.</a:t>
            </a:r>
            <a:endParaRPr lang="en-US" sz="1740" dirty="0"/>
          </a:p>
        </p:txBody>
      </p:sp>
      <p:sp>
        <p:nvSpPr>
          <p:cNvPr id="11" name="slide10_line_6"/>
          <p:cNvSpPr/>
          <p:nvPr/>
        </p:nvSpPr>
        <p:spPr>
          <a:xfrm>
            <a:off x="3924300" y="3406140"/>
            <a:ext cx="281940" cy="0"/>
          </a:xfrm>
          <a:prstGeom prst="line">
            <a:avLst/>
          </a:prstGeom>
          <a:noFill/>
          <a:ln w="22860">
            <a:solidFill>
              <a:srgbClr val="9AAA9E"/>
            </a:solidFill>
            <a:prstDash val="solid"/>
            <a:headEnd type="none"/>
            <a:tailEnd type="none"/>
          </a:ln>
        </p:spPr>
        <p:txBody>
          <a:bodyPr/>
          <a:p/>
        </p:txBody>
      </p:sp>
      <p:sp>
        <p:nvSpPr>
          <p:cNvPr id="12" name="slide10_poly_7"/>
          <p:cNvSpPr/>
          <p:nvPr/>
        </p:nvSpPr>
        <p:spPr>
          <a:xfrm>
            <a:off x="4206240" y="3360420"/>
            <a:ext cx="91440" cy="91440"/>
          </a:xfrm>
          <a:custGeom>
            <a:avLst/>
            <a:gdLst/>
            <a:ahLst/>
            <a:cxnLst/>
            <a:rect l="l" t="t" r="r" b="b"/>
            <a:pathLst>
              <a:path w="91440" h="91440">
                <a:moveTo>
                  <a:pt x="91440" y="45720"/>
                </a:moveTo>
                <a:lnTo>
                  <a:pt x="0" y="91440"/>
                </a:lnTo>
                <a:lnTo>
                  <a:pt x="0" y="0"/>
                </a:lnTo>
                <a:close/>
              </a:path>
            </a:pathLst>
          </a:custGeom>
          <a:solidFill>
            <a:srgbClr val="9AAA9E"/>
          </a:solidFill>
          <a:ln w="12700">
            <a:solidFill>
              <a:srgbClr val="9AAA9E">
                <a:alpha val="0"/>
              </a:srgbClr>
            </a:solidFill>
            <a:prstDash val="solid"/>
          </a:ln>
        </p:spPr>
        <p:txBody>
          <a:bodyPr/>
          <a:p/>
        </p:txBody>
      </p:sp>
      <p:sp>
        <p:nvSpPr>
          <p:cNvPr id="13" name="slide10_text_8"/>
          <p:cNvSpPr txBox="1"/>
          <p:nvPr/>
        </p:nvSpPr>
        <p:spPr>
          <a:xfrm>
            <a:off x="4472940" y="2186940"/>
            <a:ext cx="3200400" cy="571500"/>
          </a:xfrm>
          <a:prstGeom prst="rect">
            <a:avLst/>
          </a:prstGeom>
          <a:noFill/>
          <a:ln/>
        </p:spPr>
        <p:txBody>
          <a:bodyPr wrap="square" lIns="0" tIns="0" rIns="0" bIns="0" rtlCol="0" anchor="t"/>
          <a:lstStyle/>
          <a:p>
            <a:pPr algn="l" indent="0" marL="0">
              <a:lnSpc>
                <a:spcPct val="100000"/>
              </a:lnSpc>
              <a:buNone/>
            </a:pPr>
            <a:r>
              <a:rPr lang="en-US" sz="4380" dirty="0">
                <a:solidFill>
                  <a:srgbClr val="A6B3A9"/>
                </a:solidFill>
                <a:latin typeface="Arial" pitchFamily="34" charset="0"/>
                <a:ea typeface="Arial" pitchFamily="34" charset="-122"/>
                <a:cs typeface="Arial" pitchFamily="34" charset="-120"/>
              </a:rPr>
              <a:t>02</a:t>
            </a:r>
            <a:endParaRPr lang="en-US" sz="4380" dirty="0"/>
          </a:p>
        </p:txBody>
      </p:sp>
      <p:sp>
        <p:nvSpPr>
          <p:cNvPr id="14" name="slide10_line_9"/>
          <p:cNvSpPr/>
          <p:nvPr/>
        </p:nvSpPr>
        <p:spPr>
          <a:xfrm>
            <a:off x="4472940" y="2933700"/>
            <a:ext cx="3238500" cy="0"/>
          </a:xfrm>
          <a:prstGeom prst="line">
            <a:avLst/>
          </a:prstGeom>
          <a:noFill/>
          <a:ln w="22860">
            <a:solidFill>
              <a:srgbClr val="D2DCD3"/>
            </a:solidFill>
            <a:prstDash val="solid"/>
            <a:headEnd type="none"/>
            <a:tailEnd type="none"/>
          </a:ln>
        </p:spPr>
        <p:txBody>
          <a:bodyPr/>
          <a:p/>
        </p:txBody>
      </p:sp>
      <p:sp>
        <p:nvSpPr>
          <p:cNvPr id="15" name="slide10_text_10"/>
          <p:cNvSpPr txBox="1"/>
          <p:nvPr/>
        </p:nvSpPr>
        <p:spPr>
          <a:xfrm>
            <a:off x="4472940" y="3200400"/>
            <a:ext cx="3238500" cy="345948"/>
          </a:xfrm>
          <a:prstGeom prst="rect">
            <a:avLst/>
          </a:prstGeom>
          <a:noFill/>
          <a:ln/>
        </p:spPr>
        <p:txBody>
          <a:bodyPr wrap="square" lIns="0" tIns="0" rIns="0" bIns="0" rtlCol="0" anchor="t"/>
          <a:lstStyle/>
          <a:p>
            <a:pPr algn="l" indent="0" marL="0">
              <a:lnSpc>
                <a:spcPct val="100000"/>
              </a:lnSpc>
              <a:buNone/>
            </a:pPr>
            <a:r>
              <a:rPr lang="en-US" sz="2100" b="1" dirty="0">
                <a:solidFill>
                  <a:srgbClr val="152F27"/>
                </a:solidFill>
                <a:latin typeface="Arial" pitchFamily="34" charset="0"/>
                <a:ea typeface="Arial" pitchFamily="34" charset="-122"/>
                <a:cs typeface="Arial" pitchFamily="34" charset="-120"/>
              </a:rPr>
              <a:t>Direct training</a:t>
            </a:r>
            <a:endParaRPr lang="en-US" sz="2100" dirty="0"/>
          </a:p>
        </p:txBody>
      </p:sp>
      <p:sp>
        <p:nvSpPr>
          <p:cNvPr id="16" name="slide10_text_11"/>
          <p:cNvSpPr txBox="1"/>
          <p:nvPr/>
        </p:nvSpPr>
        <p:spPr>
          <a:xfrm>
            <a:off x="4472940" y="3672840"/>
            <a:ext cx="3169920" cy="304724"/>
          </a:xfrm>
          <a:prstGeom prst="rect">
            <a:avLst/>
          </a:prstGeom>
          <a:noFill/>
          <a:ln/>
        </p:spPr>
        <p:txBody>
          <a:bodyPr wrap="square" lIns="0" tIns="0" rIns="0" bIns="0" rtlCol="0" anchor="t"/>
          <a:lstStyle/>
          <a:p>
            <a:pPr algn="l" indent="0" marL="0">
              <a:lnSpc>
                <a:spcPct val="100000"/>
              </a:lnSpc>
              <a:buNone/>
            </a:pPr>
            <a:r>
              <a:rPr lang="en-US" sz="1740" dirty="0">
                <a:solidFill>
                  <a:srgbClr val="152F27"/>
                </a:solidFill>
                <a:latin typeface="Arial" pitchFamily="34" charset="0"/>
                <a:ea typeface="Arial" pitchFamily="34" charset="-122"/>
                <a:cs typeface="Arial" pitchFamily="34" charset="-120"/>
              </a:rPr>
              <a:t>I trained the global, East Coast</a:t>
            </a:r>
            <a:endParaRPr lang="en-US" sz="1740" dirty="0"/>
          </a:p>
        </p:txBody>
      </p:sp>
      <p:sp>
        <p:nvSpPr>
          <p:cNvPr id="17" name="slide10_text_11"/>
          <p:cNvSpPr txBox="1"/>
          <p:nvPr/>
        </p:nvSpPr>
        <p:spPr>
          <a:xfrm>
            <a:off x="4472940" y="3962324"/>
            <a:ext cx="3169920" cy="304724"/>
          </a:xfrm>
          <a:prstGeom prst="rect">
            <a:avLst/>
          </a:prstGeom>
          <a:noFill/>
          <a:ln/>
        </p:spPr>
        <p:txBody>
          <a:bodyPr wrap="square" lIns="0" tIns="0" rIns="0" bIns="0" rtlCol="0" anchor="t"/>
          <a:lstStyle/>
          <a:p>
            <a:pPr algn="l" indent="0" marL="0">
              <a:lnSpc>
                <a:spcPct val="100000"/>
              </a:lnSpc>
              <a:buNone/>
            </a:pPr>
            <a:r>
              <a:rPr lang="en-US" sz="1740" dirty="0">
                <a:solidFill>
                  <a:srgbClr val="152F27"/>
                </a:solidFill>
                <a:latin typeface="Arial" pitchFamily="34" charset="0"/>
                <a:ea typeface="Arial" pitchFamily="34" charset="-122"/>
                <a:cs typeface="Arial" pitchFamily="34" charset="-120"/>
              </a:rPr>
              <a:t>and West Coast IT support</a:t>
            </a:r>
            <a:endParaRPr lang="en-US" sz="1740" dirty="0"/>
          </a:p>
        </p:txBody>
      </p:sp>
      <p:sp>
        <p:nvSpPr>
          <p:cNvPr id="18" name="slide10_text_11"/>
          <p:cNvSpPr txBox="1"/>
          <p:nvPr/>
        </p:nvSpPr>
        <p:spPr>
          <a:xfrm>
            <a:off x="4472940" y="4251808"/>
            <a:ext cx="3169920" cy="304724"/>
          </a:xfrm>
          <a:prstGeom prst="rect">
            <a:avLst/>
          </a:prstGeom>
          <a:noFill/>
          <a:ln/>
        </p:spPr>
        <p:txBody>
          <a:bodyPr wrap="square" lIns="0" tIns="0" rIns="0" bIns="0" rtlCol="0" anchor="t"/>
          <a:lstStyle/>
          <a:p>
            <a:pPr algn="l" indent="0" marL="0">
              <a:lnSpc>
                <a:spcPct val="100000"/>
              </a:lnSpc>
              <a:buNone/>
            </a:pPr>
            <a:r>
              <a:rPr lang="en-US" sz="1740" dirty="0">
                <a:solidFill>
                  <a:srgbClr val="152F27"/>
                </a:solidFill>
                <a:latin typeface="Arial" pitchFamily="34" charset="0"/>
                <a:ea typeface="Arial" pitchFamily="34" charset="-122"/>
                <a:cs typeface="Arial" pitchFamily="34" charset="-120"/>
              </a:rPr>
              <a:t>teams on the workflow.</a:t>
            </a:r>
            <a:endParaRPr lang="en-US" sz="1740" dirty="0"/>
          </a:p>
        </p:txBody>
      </p:sp>
      <p:sp>
        <p:nvSpPr>
          <p:cNvPr id="19" name="slide10_line_12"/>
          <p:cNvSpPr/>
          <p:nvPr/>
        </p:nvSpPr>
        <p:spPr>
          <a:xfrm>
            <a:off x="7818120" y="3406140"/>
            <a:ext cx="281940" cy="0"/>
          </a:xfrm>
          <a:prstGeom prst="line">
            <a:avLst/>
          </a:prstGeom>
          <a:noFill/>
          <a:ln w="22860">
            <a:solidFill>
              <a:srgbClr val="9AAA9E"/>
            </a:solidFill>
            <a:prstDash val="solid"/>
            <a:headEnd type="none"/>
            <a:tailEnd type="none"/>
          </a:ln>
        </p:spPr>
        <p:txBody>
          <a:bodyPr/>
          <a:p/>
        </p:txBody>
      </p:sp>
      <p:sp>
        <p:nvSpPr>
          <p:cNvPr id="20" name="slide10_poly_13"/>
          <p:cNvSpPr/>
          <p:nvPr/>
        </p:nvSpPr>
        <p:spPr>
          <a:xfrm>
            <a:off x="8100060" y="3360420"/>
            <a:ext cx="91440" cy="91440"/>
          </a:xfrm>
          <a:custGeom>
            <a:avLst/>
            <a:gdLst/>
            <a:ahLst/>
            <a:cxnLst/>
            <a:rect l="l" t="t" r="r" b="b"/>
            <a:pathLst>
              <a:path w="91440" h="91440">
                <a:moveTo>
                  <a:pt x="91440" y="45720"/>
                </a:moveTo>
                <a:lnTo>
                  <a:pt x="0" y="91440"/>
                </a:lnTo>
                <a:lnTo>
                  <a:pt x="0" y="0"/>
                </a:lnTo>
                <a:close/>
              </a:path>
            </a:pathLst>
          </a:custGeom>
          <a:solidFill>
            <a:srgbClr val="9AAA9E"/>
          </a:solidFill>
          <a:ln w="12700">
            <a:solidFill>
              <a:srgbClr val="9AAA9E">
                <a:alpha val="0"/>
              </a:srgbClr>
            </a:solidFill>
            <a:prstDash val="solid"/>
          </a:ln>
        </p:spPr>
        <p:txBody>
          <a:bodyPr/>
          <a:p/>
        </p:txBody>
      </p:sp>
      <p:sp>
        <p:nvSpPr>
          <p:cNvPr id="21" name="slide10_text_14"/>
          <p:cNvSpPr txBox="1"/>
          <p:nvPr/>
        </p:nvSpPr>
        <p:spPr>
          <a:xfrm>
            <a:off x="8366760" y="2186940"/>
            <a:ext cx="3200400" cy="571500"/>
          </a:xfrm>
          <a:prstGeom prst="rect">
            <a:avLst/>
          </a:prstGeom>
          <a:noFill/>
          <a:ln/>
        </p:spPr>
        <p:txBody>
          <a:bodyPr wrap="square" lIns="0" tIns="0" rIns="0" bIns="0" rtlCol="0" anchor="t"/>
          <a:lstStyle/>
          <a:p>
            <a:pPr algn="l" indent="0" marL="0">
              <a:lnSpc>
                <a:spcPct val="100000"/>
              </a:lnSpc>
              <a:buNone/>
            </a:pPr>
            <a:r>
              <a:rPr lang="en-US" sz="4380" dirty="0">
                <a:solidFill>
                  <a:srgbClr val="A6B3A9"/>
                </a:solidFill>
                <a:latin typeface="Arial" pitchFamily="34" charset="0"/>
                <a:ea typeface="Arial" pitchFamily="34" charset="-122"/>
                <a:cs typeface="Arial" pitchFamily="34" charset="-120"/>
              </a:rPr>
              <a:t>03</a:t>
            </a:r>
            <a:endParaRPr lang="en-US" sz="4380" dirty="0"/>
          </a:p>
        </p:txBody>
      </p:sp>
      <p:sp>
        <p:nvSpPr>
          <p:cNvPr id="22" name="slide10_line_15"/>
          <p:cNvSpPr/>
          <p:nvPr/>
        </p:nvSpPr>
        <p:spPr>
          <a:xfrm>
            <a:off x="8366760" y="2933700"/>
            <a:ext cx="3238500" cy="0"/>
          </a:xfrm>
          <a:prstGeom prst="line">
            <a:avLst/>
          </a:prstGeom>
          <a:noFill/>
          <a:ln w="22860">
            <a:solidFill>
              <a:srgbClr val="D2DCD3"/>
            </a:solidFill>
            <a:prstDash val="solid"/>
            <a:headEnd type="none"/>
            <a:tailEnd type="none"/>
          </a:ln>
        </p:spPr>
        <p:txBody>
          <a:bodyPr/>
          <a:p/>
        </p:txBody>
      </p:sp>
      <p:sp>
        <p:nvSpPr>
          <p:cNvPr id="23" name="slide10_text_16"/>
          <p:cNvSpPr txBox="1"/>
          <p:nvPr/>
        </p:nvSpPr>
        <p:spPr>
          <a:xfrm>
            <a:off x="8366760" y="3200400"/>
            <a:ext cx="3238500" cy="345948"/>
          </a:xfrm>
          <a:prstGeom prst="rect">
            <a:avLst/>
          </a:prstGeom>
          <a:noFill/>
          <a:ln/>
        </p:spPr>
        <p:txBody>
          <a:bodyPr wrap="square" lIns="0" tIns="0" rIns="0" bIns="0" rtlCol="0" anchor="t"/>
          <a:lstStyle/>
          <a:p>
            <a:pPr algn="l" indent="0" marL="0">
              <a:lnSpc>
                <a:spcPct val="100000"/>
              </a:lnSpc>
              <a:buNone/>
            </a:pPr>
            <a:r>
              <a:rPr lang="en-US" sz="2100" b="1" dirty="0">
                <a:solidFill>
                  <a:srgbClr val="152F27"/>
                </a:solidFill>
                <a:latin typeface="Arial" pitchFamily="34" charset="0"/>
                <a:ea typeface="Arial" pitchFamily="34" charset="-122"/>
                <a:cs typeface="Arial" pitchFamily="34" charset="-120"/>
              </a:rPr>
              <a:t>Tool access</a:t>
            </a:r>
            <a:endParaRPr lang="en-US" sz="2100" dirty="0"/>
          </a:p>
        </p:txBody>
      </p:sp>
      <p:sp>
        <p:nvSpPr>
          <p:cNvPr id="24" name="slide10_text_17"/>
          <p:cNvSpPr txBox="1"/>
          <p:nvPr/>
        </p:nvSpPr>
        <p:spPr>
          <a:xfrm>
            <a:off x="8366760" y="3672840"/>
            <a:ext cx="3169920" cy="304724"/>
          </a:xfrm>
          <a:prstGeom prst="rect">
            <a:avLst/>
          </a:prstGeom>
          <a:noFill/>
          <a:ln/>
        </p:spPr>
        <p:txBody>
          <a:bodyPr wrap="none" lIns="0" tIns="0" rIns="0" bIns="0" rtlCol="0" anchor="t">
            <a:noAutofit/>
          </a:bodyPr>
          <a:lstStyle/>
          <a:p>
            <a:pPr algn="l" indent="0" marL="0">
              <a:lnSpc>
                <a:spcPct val="100000"/>
              </a:lnSpc>
              <a:buNone/>
            </a:pPr>
            <a:r>
              <a:rPr lang="en-US" sz="1740" dirty="0">
                <a:solidFill>
                  <a:srgbClr val="152F27"/>
                </a:solidFill>
                <a:latin typeface="Arial" pitchFamily="34" charset="0"/>
                <a:ea typeface="Arial" pitchFamily="34" charset="-122"/>
                <a:cs typeface="Arial" pitchFamily="34" charset="-120"/>
              </a:rPr>
              <a:t>I gave trained support staff</a:t>
            </a:r>
            <a:endParaRPr lang="en-US" sz="1740" dirty="0"/>
          </a:p>
        </p:txBody>
      </p:sp>
      <p:sp>
        <p:nvSpPr>
          <p:cNvPr id="25" name="slide10_text_17"/>
          <p:cNvSpPr txBox="1"/>
          <p:nvPr/>
        </p:nvSpPr>
        <p:spPr>
          <a:xfrm>
            <a:off x="8366760" y="3962324"/>
            <a:ext cx="3169920" cy="304724"/>
          </a:xfrm>
          <a:prstGeom prst="rect">
            <a:avLst/>
          </a:prstGeom>
          <a:noFill/>
          <a:ln/>
        </p:spPr>
        <p:txBody>
          <a:bodyPr wrap="none" lIns="0" tIns="0" rIns="0" bIns="0" rtlCol="0" anchor="t">
            <a:noAutofit/>
          </a:bodyPr>
          <a:lstStyle/>
          <a:p>
            <a:pPr algn="l" indent="0" marL="0">
              <a:lnSpc>
                <a:spcPct val="100000"/>
              </a:lnSpc>
              <a:buNone/>
            </a:pPr>
            <a:r>
              <a:rPr lang="en-US" sz="1740" dirty="0">
                <a:solidFill>
                  <a:srgbClr val="152F27"/>
                </a:solidFill>
                <a:latin typeface="Arial" pitchFamily="34" charset="0"/>
                <a:ea typeface="Arial" pitchFamily="34" charset="-122"/>
                <a:cs typeface="Arial" pitchFamily="34" charset="-120"/>
              </a:rPr>
              <a:t>access to investigate and</a:t>
            </a:r>
            <a:endParaRPr lang="en-US" sz="1740" dirty="0"/>
          </a:p>
        </p:txBody>
      </p:sp>
      <p:sp>
        <p:nvSpPr>
          <p:cNvPr id="26" name="slide10_text_17"/>
          <p:cNvSpPr txBox="1"/>
          <p:nvPr/>
        </p:nvSpPr>
        <p:spPr>
          <a:xfrm>
            <a:off x="8366760" y="4251808"/>
            <a:ext cx="3169920" cy="304724"/>
          </a:xfrm>
          <a:prstGeom prst="rect">
            <a:avLst/>
          </a:prstGeom>
          <a:noFill/>
          <a:ln/>
        </p:spPr>
        <p:txBody>
          <a:bodyPr wrap="none" lIns="0" tIns="0" rIns="0" bIns="0" rtlCol="0" anchor="t">
            <a:noAutofit/>
          </a:bodyPr>
          <a:lstStyle/>
          <a:p>
            <a:pPr algn="l" indent="0" marL="0">
              <a:lnSpc>
                <a:spcPct val="100000"/>
              </a:lnSpc>
              <a:buNone/>
            </a:pPr>
            <a:r>
              <a:rPr lang="en-US" sz="1740" dirty="0">
                <a:solidFill>
                  <a:srgbClr val="152F27"/>
                </a:solidFill>
                <a:latin typeface="Arial" pitchFamily="34" charset="0"/>
                <a:ea typeface="Arial" pitchFamily="34" charset="-122"/>
                <a:cs typeface="Arial" pitchFamily="34" charset="-120"/>
              </a:rPr>
              <a:t>resolve account errors.</a:t>
            </a:r>
            <a:endParaRPr lang="en-US" sz="1740" dirty="0"/>
          </a:p>
        </p:txBody>
      </p:sp>
      <p:sp>
        <p:nvSpPr>
          <p:cNvPr id="27" name="slide10_text_18"/>
          <p:cNvSpPr txBox="1"/>
          <p:nvPr/>
        </p:nvSpPr>
        <p:spPr>
          <a:xfrm>
            <a:off x="594360" y="5661660"/>
            <a:ext cx="10820400" cy="289255"/>
          </a:xfrm>
          <a:prstGeom prst="rect">
            <a:avLst/>
          </a:prstGeom>
          <a:noFill/>
          <a:ln/>
        </p:spPr>
        <p:txBody>
          <a:bodyPr wrap="none" lIns="0" tIns="0" rIns="0" bIns="0" rtlCol="0" anchor="t">
            <a:noAutofit/>
          </a:bodyPr>
          <a:lstStyle/>
          <a:p>
            <a:pPr algn="l" indent="0" marL="0">
              <a:lnSpc>
                <a:spcPct val="100000"/>
              </a:lnSpc>
              <a:buNone/>
            </a:pPr>
            <a:r>
              <a:rPr lang="en-US" sz="1740" dirty="0">
                <a:solidFill>
                  <a:srgbClr val="176C4B"/>
                </a:solidFill>
                <a:latin typeface="Arial" pitchFamily="34" charset="0"/>
                <a:ea typeface="Arial" pitchFamily="34" charset="-122"/>
                <a:cs typeface="Arial" pitchFamily="34" charset="-120"/>
              </a:rPr>
              <a:t>The teams could help new hires directly, without waiting for me to investigate every issue.</a:t>
            </a:r>
            <a:endParaRPr lang="en-US" sz="1740" dirty="0"/>
          </a:p>
        </p:txBody>
      </p:sp>
      <p:sp>
        <p:nvSpPr>
          <p:cNvPr id="28" name="slide10_line_19"/>
          <p:cNvSpPr/>
          <p:nvPr/>
        </p:nvSpPr>
        <p:spPr>
          <a:xfrm>
            <a:off x="579120" y="6301740"/>
            <a:ext cx="11033760" cy="0"/>
          </a:xfrm>
          <a:prstGeom prst="line">
            <a:avLst/>
          </a:prstGeom>
          <a:noFill/>
          <a:ln w="7620">
            <a:solidFill>
              <a:srgbClr val="D2DCD3"/>
            </a:solidFill>
            <a:prstDash val="solid"/>
            <a:headEnd type="none"/>
            <a:tailEnd type="none"/>
          </a:ln>
        </p:spPr>
        <p:txBody>
          <a:bodyPr/>
          <a:p/>
        </p:txBody>
      </p:sp>
      <p:sp>
        <p:nvSpPr>
          <p:cNvPr id="29" name="slide10_text_20"/>
          <p:cNvSpPr txBox="1"/>
          <p:nvPr/>
        </p:nvSpPr>
        <p:spPr>
          <a:xfrm>
            <a:off x="594360" y="6446520"/>
            <a:ext cx="6096000" cy="144780"/>
          </a:xfrm>
          <a:prstGeom prst="rect">
            <a:avLst/>
          </a:prstGeom>
          <a:noFill/>
          <a:ln/>
        </p:spPr>
        <p:txBody>
          <a:bodyPr wrap="square" lIns="0" tIns="0" rIns="0" bIns="0" rtlCol="0" anchor="t"/>
          <a:lstStyle/>
          <a:p>
            <a:pPr algn="l" indent="0" marL="0">
              <a:lnSpc>
                <a:spcPct val="100000"/>
              </a:lnSpc>
              <a:buNone/>
            </a:pPr>
            <a:r>
              <a:rPr lang="en-US" sz="1020" dirty="0">
                <a:solidFill>
                  <a:srgbClr val="586B62"/>
                </a:solidFill>
                <a:latin typeface="Arial" pitchFamily="34" charset="0"/>
                <a:ea typeface="Arial" pitchFamily="34" charset="-122"/>
                <a:cs typeface="Arial" pitchFamily="34" charset="-120"/>
              </a:rPr>
              <a:t>FRANKLIN WAGGONER / LAUNCHPAD</a:t>
            </a:r>
            <a:endParaRPr lang="en-US" sz="1020" dirty="0"/>
          </a:p>
        </p:txBody>
      </p:sp>
      <p:sp>
        <p:nvSpPr>
          <p:cNvPr id="30" name="slide10_text_21"/>
          <p:cNvSpPr txBox="1"/>
          <p:nvPr/>
        </p:nvSpPr>
        <p:spPr>
          <a:xfrm>
            <a:off x="10591800" y="6438900"/>
            <a:ext cx="1021080" cy="144780"/>
          </a:xfrm>
          <a:prstGeom prst="rect">
            <a:avLst/>
          </a:prstGeom>
          <a:noFill/>
          <a:ln/>
        </p:spPr>
        <p:txBody>
          <a:bodyPr wrap="square" lIns="0" tIns="0" rIns="0" bIns="0" rtlCol="0" anchor="t"/>
          <a:lstStyle/>
          <a:p>
            <a:pPr algn="r" indent="0" marL="0">
              <a:lnSpc>
                <a:spcPct val="100000"/>
              </a:lnSpc>
              <a:buNone/>
            </a:pPr>
            <a:r>
              <a:rPr lang="en-US" sz="1020" dirty="0">
                <a:solidFill>
                  <a:srgbClr val="586B62"/>
                </a:solidFill>
                <a:latin typeface="Arial" pitchFamily="34" charset="0"/>
                <a:ea typeface="Arial" pitchFamily="34" charset="-122"/>
                <a:cs typeface="Arial" pitchFamily="34" charset="-120"/>
              </a:rPr>
              <a:t>10 / 12</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4"/>
        </a:solidFill>
      </p:bgPr>
    </p:bg>
    <p:spTree>
      <p:nvGrpSpPr>
        <p:cNvPr id="1" name=""/>
        <p:cNvGrpSpPr/>
        <p:nvPr/>
      </p:nvGrpSpPr>
      <p:grpSpPr>
        <a:xfrm>
          <a:off x="0" y="0"/>
          <a:ext cx="0" cy="0"/>
          <a:chOff x="0" y="0"/>
          <a:chExt cx="0" cy="0"/>
        </a:xfrm>
      </p:grpSpPr>
      <p:sp>
        <p:nvSpPr>
          <p:cNvPr id="2" name="slide11_text_0"/>
          <p:cNvSpPr txBox="1"/>
          <p:nvPr/>
        </p:nvSpPr>
        <p:spPr>
          <a:xfrm>
            <a:off x="579120" y="533400"/>
            <a:ext cx="11033760" cy="459638"/>
          </a:xfrm>
          <a:prstGeom prst="rect">
            <a:avLst/>
          </a:prstGeom>
          <a:noFill/>
          <a:ln/>
        </p:spPr>
        <p:txBody>
          <a:bodyPr wrap="square" lIns="0" tIns="0" rIns="0" bIns="0" rtlCol="0" anchor="t"/>
          <a:lstStyle/>
          <a:p>
            <a:pPr algn="l" indent="0" marL="0">
              <a:lnSpc>
                <a:spcPct val="100000"/>
              </a:lnSpc>
              <a:buNone/>
            </a:pPr>
            <a:r>
              <a:rPr lang="en-US" sz="3240" b="1" dirty="0">
                <a:solidFill>
                  <a:srgbClr val="152F27"/>
                </a:solidFill>
                <a:latin typeface="Arial" pitchFamily="34" charset="0"/>
                <a:ea typeface="Arial" pitchFamily="34" charset="-122"/>
                <a:cs typeface="Arial" pitchFamily="34" charset="-120"/>
              </a:rPr>
              <a:t>Each iteration removed another manual step.</a:t>
            </a:r>
            <a:endParaRPr lang="en-US" sz="3240" dirty="0"/>
          </a:p>
        </p:txBody>
      </p:sp>
      <p:sp>
        <p:nvSpPr>
          <p:cNvPr id="3" name="slide11_text_1"/>
          <p:cNvSpPr txBox="1"/>
          <p:nvPr/>
        </p:nvSpPr>
        <p:spPr>
          <a:xfrm>
            <a:off x="594360" y="1165860"/>
            <a:ext cx="10881360" cy="288341"/>
          </a:xfrm>
          <a:prstGeom prst="rect">
            <a:avLst/>
          </a:prstGeom>
          <a:noFill/>
          <a:ln/>
        </p:spPr>
        <p:txBody>
          <a:bodyPr wrap="square" lIns="0" tIns="0" rIns="0" bIns="0" rtlCol="0" anchor="t"/>
          <a:lstStyle/>
          <a:p>
            <a:pPr algn="l" indent="0" marL="0">
              <a:lnSpc>
                <a:spcPct val="100000"/>
              </a:lnSpc>
              <a:buNone/>
            </a:pPr>
            <a:r>
              <a:rPr lang="en-US" sz="1680" dirty="0">
                <a:solidFill>
                  <a:srgbClr val="586B62"/>
                </a:solidFill>
                <a:latin typeface="Arial" pitchFamily="34" charset="0"/>
                <a:ea typeface="Arial" pitchFamily="34" charset="-122"/>
                <a:cs typeface="Arial" pitchFamily="34" charset="-120"/>
              </a:rPr>
              <a:t>Routine weekly effort fell as the workflow matured.</a:t>
            </a:r>
            <a:endParaRPr lang="en-US" sz="1680" dirty="0"/>
          </a:p>
        </p:txBody>
      </p:sp>
      <p:sp>
        <p:nvSpPr>
          <p:cNvPr id="4" name="slide11_text_2"/>
          <p:cNvSpPr txBox="1"/>
          <p:nvPr/>
        </p:nvSpPr>
        <p:spPr>
          <a:xfrm>
            <a:off x="594360" y="2019300"/>
            <a:ext cx="3505200" cy="891540"/>
          </a:xfrm>
          <a:prstGeom prst="rect">
            <a:avLst/>
          </a:prstGeom>
          <a:noFill/>
          <a:ln/>
        </p:spPr>
        <p:txBody>
          <a:bodyPr wrap="square" lIns="0" tIns="0" rIns="0" bIns="0" rtlCol="0" anchor="t"/>
          <a:lstStyle/>
          <a:p>
            <a:pPr algn="l" indent="0" marL="0">
              <a:lnSpc>
                <a:spcPct val="100000"/>
              </a:lnSpc>
              <a:buNone/>
            </a:pPr>
            <a:r>
              <a:rPr lang="en-US" sz="6900" b="1" dirty="0">
                <a:solidFill>
                  <a:srgbClr val="152F27"/>
                </a:solidFill>
                <a:latin typeface="Arial" pitchFamily="34" charset="0"/>
                <a:ea typeface="Arial" pitchFamily="34" charset="-122"/>
                <a:cs typeface="Arial" pitchFamily="34" charset="-120"/>
              </a:rPr>
              <a:t>~20 h</a:t>
            </a:r>
            <a:endParaRPr lang="en-US" sz="6900" dirty="0"/>
          </a:p>
        </p:txBody>
      </p:sp>
      <p:sp>
        <p:nvSpPr>
          <p:cNvPr id="5" name="slide11_text_3"/>
          <p:cNvSpPr txBox="1"/>
          <p:nvPr/>
        </p:nvSpPr>
        <p:spPr>
          <a:xfrm>
            <a:off x="640080" y="2971800"/>
            <a:ext cx="3581400" cy="260909"/>
          </a:xfrm>
          <a:prstGeom prst="rect">
            <a:avLst/>
          </a:prstGeom>
          <a:noFill/>
          <a:ln/>
        </p:spPr>
        <p:txBody>
          <a:bodyPr wrap="square" lIns="0" tIns="0" rIns="0" bIns="0" rtlCol="0" anchor="t"/>
          <a:lstStyle/>
          <a:p>
            <a:pPr algn="l" indent="0" marL="0">
              <a:lnSpc>
                <a:spcPct val="100000"/>
              </a:lnSpc>
              <a:buNone/>
            </a:pPr>
            <a:r>
              <a:rPr lang="en-US" sz="1560" dirty="0">
                <a:solidFill>
                  <a:srgbClr val="586B62"/>
                </a:solidFill>
                <a:latin typeface="Arial" pitchFamily="34" charset="0"/>
                <a:ea typeface="Arial" pitchFamily="34" charset="-122"/>
                <a:cs typeface="Arial" pitchFamily="34" charset="-120"/>
              </a:rPr>
              <a:t>per week initially</a:t>
            </a:r>
            <a:endParaRPr lang="en-US" sz="1560" dirty="0"/>
          </a:p>
        </p:txBody>
      </p:sp>
      <p:sp>
        <p:nvSpPr>
          <p:cNvPr id="6" name="slide11_line_4"/>
          <p:cNvSpPr/>
          <p:nvPr/>
        </p:nvSpPr>
        <p:spPr>
          <a:xfrm>
            <a:off x="4503420" y="2651760"/>
            <a:ext cx="3055620" cy="0"/>
          </a:xfrm>
          <a:prstGeom prst="line">
            <a:avLst/>
          </a:prstGeom>
          <a:noFill/>
          <a:ln w="30480">
            <a:solidFill>
              <a:srgbClr val="176C4B"/>
            </a:solidFill>
            <a:prstDash val="solid"/>
            <a:headEnd type="none"/>
            <a:tailEnd type="none"/>
          </a:ln>
        </p:spPr>
        <p:txBody>
          <a:bodyPr/>
          <a:p/>
        </p:txBody>
      </p:sp>
      <p:sp>
        <p:nvSpPr>
          <p:cNvPr id="7" name="slide11_poly_5"/>
          <p:cNvSpPr/>
          <p:nvPr/>
        </p:nvSpPr>
        <p:spPr>
          <a:xfrm>
            <a:off x="7559040" y="2583180"/>
            <a:ext cx="137160" cy="137160"/>
          </a:xfrm>
          <a:custGeom>
            <a:avLst/>
            <a:gdLst/>
            <a:ahLst/>
            <a:cxnLst/>
            <a:rect l="l" t="t" r="r" b="b"/>
            <a:pathLst>
              <a:path w="137160" h="137160">
                <a:moveTo>
                  <a:pt x="137160" y="68580"/>
                </a:moveTo>
                <a:lnTo>
                  <a:pt x="0" y="137160"/>
                </a:lnTo>
                <a:lnTo>
                  <a:pt x="0" y="0"/>
                </a:lnTo>
                <a:close/>
              </a:path>
            </a:pathLst>
          </a:custGeom>
          <a:solidFill>
            <a:srgbClr val="176C4B"/>
          </a:solidFill>
          <a:ln w="12700">
            <a:solidFill>
              <a:srgbClr val="176C4B">
                <a:alpha val="0"/>
              </a:srgbClr>
            </a:solidFill>
            <a:prstDash val="solid"/>
          </a:ln>
        </p:spPr>
        <p:txBody>
          <a:bodyPr/>
          <a:p/>
        </p:txBody>
      </p:sp>
      <p:sp>
        <p:nvSpPr>
          <p:cNvPr id="8" name="slide11_text_6"/>
          <p:cNvSpPr txBox="1"/>
          <p:nvPr/>
        </p:nvSpPr>
        <p:spPr>
          <a:xfrm>
            <a:off x="8343900" y="2019300"/>
            <a:ext cx="3276600" cy="891540"/>
          </a:xfrm>
          <a:prstGeom prst="rect">
            <a:avLst/>
          </a:prstGeom>
          <a:noFill/>
          <a:ln/>
        </p:spPr>
        <p:txBody>
          <a:bodyPr wrap="square" lIns="0" tIns="0" rIns="0" bIns="0" rtlCol="0" anchor="t"/>
          <a:lstStyle/>
          <a:p>
            <a:pPr algn="r" indent="0" marL="0">
              <a:lnSpc>
                <a:spcPct val="100000"/>
              </a:lnSpc>
              <a:buNone/>
            </a:pPr>
            <a:r>
              <a:rPr lang="en-US" sz="6900" b="1" dirty="0">
                <a:solidFill>
                  <a:srgbClr val="176C4B"/>
                </a:solidFill>
                <a:latin typeface="Arial" pitchFamily="34" charset="0"/>
                <a:ea typeface="Arial" pitchFamily="34" charset="-122"/>
                <a:cs typeface="Arial" pitchFamily="34" charset="-120"/>
              </a:rPr>
              <a:t>&lt;1 h</a:t>
            </a:r>
            <a:endParaRPr lang="en-US" sz="6900" dirty="0"/>
          </a:p>
        </p:txBody>
      </p:sp>
      <p:sp>
        <p:nvSpPr>
          <p:cNvPr id="9" name="slide11_text_7"/>
          <p:cNvSpPr txBox="1"/>
          <p:nvPr/>
        </p:nvSpPr>
        <p:spPr>
          <a:xfrm>
            <a:off x="7810500" y="2971800"/>
            <a:ext cx="3794760" cy="260909"/>
          </a:xfrm>
          <a:prstGeom prst="rect">
            <a:avLst/>
          </a:prstGeom>
          <a:noFill/>
          <a:ln/>
        </p:spPr>
        <p:txBody>
          <a:bodyPr wrap="square" lIns="0" tIns="0" rIns="0" bIns="0" rtlCol="0" anchor="t"/>
          <a:lstStyle/>
          <a:p>
            <a:pPr algn="r" indent="0" marL="0">
              <a:lnSpc>
                <a:spcPct val="100000"/>
              </a:lnSpc>
              <a:buNone/>
            </a:pPr>
            <a:r>
              <a:rPr lang="en-US" sz="1560" dirty="0">
                <a:solidFill>
                  <a:srgbClr val="586B62"/>
                </a:solidFill>
                <a:latin typeface="Arial" pitchFamily="34" charset="0"/>
                <a:ea typeface="Arial" pitchFamily="34" charset="-122"/>
                <a:cs typeface="Arial" pitchFamily="34" charset="-120"/>
              </a:rPr>
              <a:t>per week after automation</a:t>
            </a:r>
            <a:endParaRPr lang="en-US" sz="1560" dirty="0"/>
          </a:p>
        </p:txBody>
      </p:sp>
      <p:sp>
        <p:nvSpPr>
          <p:cNvPr id="10" name="slide11_line_8"/>
          <p:cNvSpPr/>
          <p:nvPr/>
        </p:nvSpPr>
        <p:spPr>
          <a:xfrm>
            <a:off x="1440180" y="3962400"/>
            <a:ext cx="9296400" cy="0"/>
          </a:xfrm>
          <a:prstGeom prst="line">
            <a:avLst/>
          </a:prstGeom>
          <a:noFill/>
          <a:ln w="30480">
            <a:solidFill>
              <a:srgbClr val="176C4B"/>
            </a:solidFill>
            <a:prstDash val="solid"/>
            <a:headEnd type="none"/>
            <a:tailEnd type="none"/>
          </a:ln>
        </p:spPr>
        <p:txBody>
          <a:bodyPr/>
          <a:p/>
        </p:txBody>
      </p:sp>
      <p:sp>
        <p:nvSpPr>
          <p:cNvPr id="11" name="slide11_circle_9"/>
          <p:cNvSpPr/>
          <p:nvPr/>
        </p:nvSpPr>
        <p:spPr>
          <a:xfrm>
            <a:off x="1318260" y="3840480"/>
            <a:ext cx="243840" cy="243840"/>
          </a:xfrm>
          <a:prstGeom prst="ellipse">
            <a:avLst/>
          </a:prstGeom>
          <a:solidFill>
            <a:srgbClr val="F7F8F4"/>
          </a:solidFill>
          <a:ln w="22860">
            <a:solidFill>
              <a:srgbClr val="176C4B"/>
            </a:solidFill>
            <a:prstDash val="solid"/>
          </a:ln>
        </p:spPr>
        <p:txBody>
          <a:bodyPr/>
          <a:p/>
        </p:txBody>
      </p:sp>
      <p:sp>
        <p:nvSpPr>
          <p:cNvPr id="12" name="slide11_text_10"/>
          <p:cNvSpPr txBox="1"/>
          <p:nvPr/>
        </p:nvSpPr>
        <p:spPr>
          <a:xfrm>
            <a:off x="487680" y="4259580"/>
            <a:ext cx="1905000" cy="266700"/>
          </a:xfrm>
          <a:prstGeom prst="rect">
            <a:avLst/>
          </a:prstGeom>
          <a:noFill/>
          <a:ln/>
        </p:spPr>
        <p:txBody>
          <a:bodyPr wrap="square" lIns="0" tIns="0" rIns="0" bIns="0" rtlCol="0" anchor="t"/>
          <a:lstStyle/>
          <a:p>
            <a:pPr algn="ctr" indent="0" marL="0">
              <a:lnSpc>
                <a:spcPct val="100000"/>
              </a:lnSpc>
              <a:buNone/>
            </a:pPr>
            <a:r>
              <a:rPr lang="en-US" sz="1800" b="1" dirty="0">
                <a:solidFill>
                  <a:srgbClr val="152F27"/>
                </a:solidFill>
                <a:latin typeface="Arial" pitchFamily="34" charset="0"/>
                <a:ea typeface="Arial" pitchFamily="34" charset="-122"/>
                <a:cs typeface="Arial" pitchFamily="34" charset="-120"/>
              </a:rPr>
              <a:t>Individual</a:t>
            </a:r>
            <a:endParaRPr lang="en-US" sz="1800" dirty="0"/>
          </a:p>
        </p:txBody>
      </p:sp>
      <p:sp>
        <p:nvSpPr>
          <p:cNvPr id="13" name="slide11_text_10"/>
          <p:cNvSpPr txBox="1"/>
          <p:nvPr/>
        </p:nvSpPr>
        <p:spPr>
          <a:xfrm>
            <a:off x="487680" y="4511040"/>
            <a:ext cx="1905000" cy="266700"/>
          </a:xfrm>
          <a:prstGeom prst="rect">
            <a:avLst/>
          </a:prstGeom>
          <a:noFill/>
          <a:ln/>
        </p:spPr>
        <p:txBody>
          <a:bodyPr wrap="square" lIns="0" tIns="0" rIns="0" bIns="0" rtlCol="0" anchor="t"/>
          <a:lstStyle/>
          <a:p>
            <a:pPr algn="ctr" indent="0" marL="0">
              <a:lnSpc>
                <a:spcPct val="100000"/>
              </a:lnSpc>
              <a:buNone/>
            </a:pPr>
            <a:r>
              <a:rPr lang="en-US" sz="1800" b="1" dirty="0">
                <a:solidFill>
                  <a:srgbClr val="152F27"/>
                </a:solidFill>
                <a:latin typeface="Arial" pitchFamily="34" charset="0"/>
                <a:ea typeface="Arial" pitchFamily="34" charset="-122"/>
                <a:cs typeface="Arial" pitchFamily="34" charset="-120"/>
              </a:rPr>
              <a:t>commands</a:t>
            </a:r>
            <a:endParaRPr lang="en-US" sz="1800" dirty="0"/>
          </a:p>
        </p:txBody>
      </p:sp>
      <p:sp>
        <p:nvSpPr>
          <p:cNvPr id="14" name="slide11_text_11"/>
          <p:cNvSpPr txBox="1"/>
          <p:nvPr/>
        </p:nvSpPr>
        <p:spPr>
          <a:xfrm>
            <a:off x="434340" y="4937760"/>
            <a:ext cx="2011680" cy="247650"/>
          </a:xfrm>
          <a:prstGeom prst="rect">
            <a:avLst/>
          </a:prstGeom>
          <a:noFill/>
          <a:ln/>
        </p:spPr>
        <p:txBody>
          <a:bodyPr wrap="square" lIns="0" tIns="0" rIns="0" bIns="0" rtlCol="0" anchor="t"/>
          <a:lstStyle/>
          <a:p>
            <a:pPr algn="ctr" indent="0" marL="0">
              <a:lnSpc>
                <a:spcPct val="100000"/>
              </a:lnSpc>
              <a:buNone/>
            </a:pPr>
            <a:r>
              <a:rPr lang="en-US" sz="1500" dirty="0">
                <a:solidFill>
                  <a:srgbClr val="586B62"/>
                </a:solidFill>
                <a:latin typeface="Arial" pitchFamily="34" charset="0"/>
                <a:ea typeface="Arial" pitchFamily="34" charset="-122"/>
                <a:cs typeface="Arial" pitchFamily="34" charset="-120"/>
              </a:rPr>
              <a:t>I ran each person.</a:t>
            </a:r>
            <a:endParaRPr lang="en-US" sz="1500" dirty="0"/>
          </a:p>
        </p:txBody>
      </p:sp>
      <p:sp>
        <p:nvSpPr>
          <p:cNvPr id="15" name="slide11_circle_12"/>
          <p:cNvSpPr/>
          <p:nvPr/>
        </p:nvSpPr>
        <p:spPr>
          <a:xfrm>
            <a:off x="3642360" y="3840480"/>
            <a:ext cx="243840" cy="243840"/>
          </a:xfrm>
          <a:prstGeom prst="ellipse">
            <a:avLst/>
          </a:prstGeom>
          <a:solidFill>
            <a:srgbClr val="F7F8F4"/>
          </a:solidFill>
          <a:ln w="22860">
            <a:solidFill>
              <a:srgbClr val="176C4B"/>
            </a:solidFill>
            <a:prstDash val="solid"/>
          </a:ln>
        </p:spPr>
        <p:txBody>
          <a:bodyPr/>
          <a:p/>
        </p:txBody>
      </p:sp>
      <p:sp>
        <p:nvSpPr>
          <p:cNvPr id="16" name="slide11_text_13"/>
          <p:cNvSpPr txBox="1"/>
          <p:nvPr/>
        </p:nvSpPr>
        <p:spPr>
          <a:xfrm>
            <a:off x="2811780" y="4259580"/>
            <a:ext cx="1905000" cy="266700"/>
          </a:xfrm>
          <a:prstGeom prst="rect">
            <a:avLst/>
          </a:prstGeom>
          <a:noFill/>
          <a:ln/>
        </p:spPr>
        <p:txBody>
          <a:bodyPr wrap="square" lIns="0" tIns="0" rIns="0" bIns="0" rtlCol="0" anchor="t"/>
          <a:lstStyle/>
          <a:p>
            <a:pPr algn="ctr" indent="0" marL="0">
              <a:lnSpc>
                <a:spcPct val="100000"/>
              </a:lnSpc>
              <a:buNone/>
            </a:pPr>
            <a:r>
              <a:rPr lang="en-US" sz="1800" b="1" dirty="0">
                <a:solidFill>
                  <a:srgbClr val="152F27"/>
                </a:solidFill>
                <a:latin typeface="Arial" pitchFamily="34" charset="0"/>
                <a:ea typeface="Arial" pitchFamily="34" charset="-122"/>
                <a:cs typeface="Arial" pitchFamily="34" charset="-120"/>
              </a:rPr>
              <a:t>CSV</a:t>
            </a:r>
            <a:endParaRPr lang="en-US" sz="1800" dirty="0"/>
          </a:p>
        </p:txBody>
      </p:sp>
      <p:sp>
        <p:nvSpPr>
          <p:cNvPr id="17" name="slide11_text_13"/>
          <p:cNvSpPr txBox="1"/>
          <p:nvPr/>
        </p:nvSpPr>
        <p:spPr>
          <a:xfrm>
            <a:off x="2811780" y="4511040"/>
            <a:ext cx="1905000" cy="266700"/>
          </a:xfrm>
          <a:prstGeom prst="rect">
            <a:avLst/>
          </a:prstGeom>
          <a:noFill/>
          <a:ln/>
        </p:spPr>
        <p:txBody>
          <a:bodyPr wrap="square" lIns="0" tIns="0" rIns="0" bIns="0" rtlCol="0" anchor="t"/>
          <a:lstStyle/>
          <a:p>
            <a:pPr algn="ctr" indent="0" marL="0">
              <a:lnSpc>
                <a:spcPct val="100000"/>
              </a:lnSpc>
              <a:buNone/>
            </a:pPr>
            <a:r>
              <a:rPr lang="en-US" sz="1800" b="1" dirty="0">
                <a:solidFill>
                  <a:srgbClr val="152F27"/>
                </a:solidFill>
                <a:latin typeface="Arial" pitchFamily="34" charset="0"/>
                <a:ea typeface="Arial" pitchFamily="34" charset="-122"/>
                <a:cs typeface="Arial" pitchFamily="34" charset="-120"/>
              </a:rPr>
              <a:t>batches</a:t>
            </a:r>
            <a:endParaRPr lang="en-US" sz="1800" dirty="0"/>
          </a:p>
        </p:txBody>
      </p:sp>
      <p:sp>
        <p:nvSpPr>
          <p:cNvPr id="18" name="slide11_text_14"/>
          <p:cNvSpPr txBox="1"/>
          <p:nvPr/>
        </p:nvSpPr>
        <p:spPr>
          <a:xfrm>
            <a:off x="2758440" y="4937760"/>
            <a:ext cx="2011680" cy="247650"/>
          </a:xfrm>
          <a:prstGeom prst="rect">
            <a:avLst/>
          </a:prstGeom>
          <a:noFill/>
          <a:ln/>
        </p:spPr>
        <p:txBody>
          <a:bodyPr wrap="square" lIns="0" tIns="0" rIns="0" bIns="0" rtlCol="0" anchor="t"/>
          <a:lstStyle/>
          <a:p>
            <a:pPr algn="ctr" indent="0" marL="0">
              <a:lnSpc>
                <a:spcPct val="100000"/>
              </a:lnSpc>
              <a:buNone/>
            </a:pPr>
            <a:r>
              <a:rPr lang="en-US" sz="1500" dirty="0">
                <a:solidFill>
                  <a:srgbClr val="586B62"/>
                </a:solidFill>
                <a:latin typeface="Arial" pitchFamily="34" charset="0"/>
                <a:ea typeface="Arial" pitchFamily="34" charset="-122"/>
                <a:cs typeface="Arial" pitchFamily="34" charset="-120"/>
              </a:rPr>
              <a:t>I prepared a batch.</a:t>
            </a:r>
            <a:endParaRPr lang="en-US" sz="1500" dirty="0"/>
          </a:p>
        </p:txBody>
      </p:sp>
      <p:sp>
        <p:nvSpPr>
          <p:cNvPr id="19" name="slide11_circle_15"/>
          <p:cNvSpPr/>
          <p:nvPr/>
        </p:nvSpPr>
        <p:spPr>
          <a:xfrm>
            <a:off x="5966460" y="3840480"/>
            <a:ext cx="243840" cy="243840"/>
          </a:xfrm>
          <a:prstGeom prst="ellipse">
            <a:avLst/>
          </a:prstGeom>
          <a:solidFill>
            <a:srgbClr val="F7F8F4"/>
          </a:solidFill>
          <a:ln w="22860">
            <a:solidFill>
              <a:srgbClr val="176C4B"/>
            </a:solidFill>
            <a:prstDash val="solid"/>
          </a:ln>
        </p:spPr>
        <p:txBody>
          <a:bodyPr/>
          <a:p/>
        </p:txBody>
      </p:sp>
      <p:sp>
        <p:nvSpPr>
          <p:cNvPr id="20" name="slide11_text_16"/>
          <p:cNvSpPr txBox="1"/>
          <p:nvPr/>
        </p:nvSpPr>
        <p:spPr>
          <a:xfrm>
            <a:off x="5135880" y="4259580"/>
            <a:ext cx="1905000" cy="266700"/>
          </a:xfrm>
          <a:prstGeom prst="rect">
            <a:avLst/>
          </a:prstGeom>
          <a:noFill/>
          <a:ln/>
        </p:spPr>
        <p:txBody>
          <a:bodyPr wrap="square" lIns="0" tIns="0" rIns="0" bIns="0" rtlCol="0" anchor="t"/>
          <a:lstStyle/>
          <a:p>
            <a:pPr algn="ctr" indent="0" marL="0">
              <a:lnSpc>
                <a:spcPct val="100000"/>
              </a:lnSpc>
              <a:buNone/>
            </a:pPr>
            <a:r>
              <a:rPr lang="en-US" sz="1800" b="1" dirty="0">
                <a:solidFill>
                  <a:srgbClr val="152F27"/>
                </a:solidFill>
                <a:latin typeface="Arial" pitchFamily="34" charset="0"/>
                <a:ea typeface="Arial" pitchFamily="34" charset="-122"/>
                <a:cs typeface="Arial" pitchFamily="34" charset="-120"/>
              </a:rPr>
              <a:t>Launchpad</a:t>
            </a:r>
            <a:endParaRPr lang="en-US" sz="1800" dirty="0"/>
          </a:p>
        </p:txBody>
      </p:sp>
      <p:sp>
        <p:nvSpPr>
          <p:cNvPr id="21" name="slide11_text_16"/>
          <p:cNvSpPr txBox="1"/>
          <p:nvPr/>
        </p:nvSpPr>
        <p:spPr>
          <a:xfrm>
            <a:off x="5135880" y="4511040"/>
            <a:ext cx="1905000" cy="266700"/>
          </a:xfrm>
          <a:prstGeom prst="rect">
            <a:avLst/>
          </a:prstGeom>
          <a:noFill/>
          <a:ln/>
        </p:spPr>
        <p:txBody>
          <a:bodyPr wrap="square" lIns="0" tIns="0" rIns="0" bIns="0" rtlCol="0" anchor="t"/>
          <a:lstStyle/>
          <a:p>
            <a:pPr algn="ctr" indent="0" marL="0">
              <a:lnSpc>
                <a:spcPct val="100000"/>
              </a:lnSpc>
              <a:buNone/>
            </a:pPr>
            <a:r>
              <a:rPr lang="en-US" sz="1800" b="1" dirty="0">
                <a:solidFill>
                  <a:srgbClr val="152F27"/>
                </a:solidFill>
                <a:latin typeface="Arial" pitchFamily="34" charset="0"/>
                <a:ea typeface="Arial" pitchFamily="34" charset="-122"/>
                <a:cs typeface="Arial" pitchFamily="34" charset="-120"/>
              </a:rPr>
              <a:t>GUI</a:t>
            </a:r>
            <a:endParaRPr lang="en-US" sz="1800" dirty="0"/>
          </a:p>
        </p:txBody>
      </p:sp>
      <p:sp>
        <p:nvSpPr>
          <p:cNvPr id="22" name="slide11_text_17"/>
          <p:cNvSpPr txBox="1"/>
          <p:nvPr/>
        </p:nvSpPr>
        <p:spPr>
          <a:xfrm>
            <a:off x="5082540" y="4937760"/>
            <a:ext cx="2011680" cy="247650"/>
          </a:xfrm>
          <a:prstGeom prst="rect">
            <a:avLst/>
          </a:prstGeom>
          <a:noFill/>
          <a:ln/>
        </p:spPr>
        <p:txBody>
          <a:bodyPr wrap="square" lIns="0" tIns="0" rIns="0" bIns="0" rtlCol="0" anchor="t"/>
          <a:lstStyle/>
          <a:p>
            <a:pPr algn="ctr" indent="0" marL="0">
              <a:lnSpc>
                <a:spcPct val="100000"/>
              </a:lnSpc>
              <a:buNone/>
            </a:pPr>
            <a:r>
              <a:rPr lang="en-US" sz="1500" dirty="0">
                <a:solidFill>
                  <a:srgbClr val="586B62"/>
                </a:solidFill>
                <a:latin typeface="Arial" pitchFamily="34" charset="0"/>
                <a:ea typeface="Arial" pitchFamily="34" charset="-122"/>
                <a:cs typeface="Arial" pitchFamily="34" charset="-120"/>
              </a:rPr>
              <a:t>I started records.</a:t>
            </a:r>
            <a:endParaRPr lang="en-US" sz="1500" dirty="0"/>
          </a:p>
        </p:txBody>
      </p:sp>
      <p:sp>
        <p:nvSpPr>
          <p:cNvPr id="23" name="slide11_circle_18"/>
          <p:cNvSpPr/>
          <p:nvPr/>
        </p:nvSpPr>
        <p:spPr>
          <a:xfrm>
            <a:off x="8290560" y="3840480"/>
            <a:ext cx="243840" cy="243840"/>
          </a:xfrm>
          <a:prstGeom prst="ellipse">
            <a:avLst/>
          </a:prstGeom>
          <a:solidFill>
            <a:srgbClr val="F7F8F4"/>
          </a:solidFill>
          <a:ln w="22860">
            <a:solidFill>
              <a:srgbClr val="176C4B"/>
            </a:solidFill>
            <a:prstDash val="solid"/>
          </a:ln>
        </p:spPr>
        <p:txBody>
          <a:bodyPr/>
          <a:p/>
        </p:txBody>
      </p:sp>
      <p:sp>
        <p:nvSpPr>
          <p:cNvPr id="24" name="slide11_text_19"/>
          <p:cNvSpPr txBox="1"/>
          <p:nvPr/>
        </p:nvSpPr>
        <p:spPr>
          <a:xfrm>
            <a:off x="7459980" y="4259580"/>
            <a:ext cx="1905000" cy="266700"/>
          </a:xfrm>
          <a:prstGeom prst="rect">
            <a:avLst/>
          </a:prstGeom>
          <a:noFill/>
          <a:ln/>
        </p:spPr>
        <p:txBody>
          <a:bodyPr wrap="square" lIns="0" tIns="0" rIns="0" bIns="0" rtlCol="0" anchor="t"/>
          <a:lstStyle/>
          <a:p>
            <a:pPr algn="ctr" indent="0" marL="0">
              <a:lnSpc>
                <a:spcPct val="100000"/>
              </a:lnSpc>
              <a:buNone/>
            </a:pPr>
            <a:r>
              <a:rPr lang="en-US" sz="1800" b="1" dirty="0">
                <a:solidFill>
                  <a:srgbClr val="152F27"/>
                </a:solidFill>
                <a:latin typeface="Arial" pitchFamily="34" charset="0"/>
                <a:ea typeface="Arial" pitchFamily="34" charset="-122"/>
                <a:cs typeface="Arial" pitchFamily="34" charset="-120"/>
              </a:rPr>
              <a:t>Run All</a:t>
            </a:r>
            <a:endParaRPr lang="en-US" sz="1800" dirty="0"/>
          </a:p>
        </p:txBody>
      </p:sp>
      <p:sp>
        <p:nvSpPr>
          <p:cNvPr id="25" name="slide11_text_20"/>
          <p:cNvSpPr txBox="1"/>
          <p:nvPr/>
        </p:nvSpPr>
        <p:spPr>
          <a:xfrm>
            <a:off x="7406640" y="4937760"/>
            <a:ext cx="2011680" cy="247650"/>
          </a:xfrm>
          <a:prstGeom prst="rect">
            <a:avLst/>
          </a:prstGeom>
          <a:noFill/>
          <a:ln/>
        </p:spPr>
        <p:txBody>
          <a:bodyPr wrap="square" lIns="0" tIns="0" rIns="0" bIns="0" rtlCol="0" anchor="t"/>
          <a:lstStyle/>
          <a:p>
            <a:pPr algn="ctr" indent="0" marL="0">
              <a:lnSpc>
                <a:spcPct val="100000"/>
              </a:lnSpc>
              <a:buNone/>
            </a:pPr>
            <a:r>
              <a:rPr lang="en-US" sz="1500" dirty="0">
                <a:solidFill>
                  <a:srgbClr val="586B62"/>
                </a:solidFill>
                <a:latin typeface="Arial" pitchFamily="34" charset="0"/>
                <a:ea typeface="Arial" pitchFamily="34" charset="-122"/>
                <a:cs typeface="Arial" pitchFamily="34" charset="-120"/>
              </a:rPr>
              <a:t>I started a batch, then</a:t>
            </a:r>
            <a:endParaRPr lang="en-US" sz="1500" dirty="0"/>
          </a:p>
        </p:txBody>
      </p:sp>
      <p:sp>
        <p:nvSpPr>
          <p:cNvPr id="26" name="slide11_text_20"/>
          <p:cNvSpPr txBox="1"/>
          <p:nvPr/>
        </p:nvSpPr>
        <p:spPr>
          <a:xfrm>
            <a:off x="7406640" y="5170170"/>
            <a:ext cx="2011680" cy="247650"/>
          </a:xfrm>
          <a:prstGeom prst="rect">
            <a:avLst/>
          </a:prstGeom>
          <a:noFill/>
          <a:ln/>
        </p:spPr>
        <p:txBody>
          <a:bodyPr wrap="square" lIns="0" tIns="0" rIns="0" bIns="0" rtlCol="0" anchor="t"/>
          <a:lstStyle/>
          <a:p>
            <a:pPr algn="ctr" indent="0" marL="0">
              <a:lnSpc>
                <a:spcPct val="100000"/>
              </a:lnSpc>
              <a:buNone/>
            </a:pPr>
            <a:r>
              <a:rPr lang="en-US" sz="1500" dirty="0">
                <a:solidFill>
                  <a:srgbClr val="586B62"/>
                </a:solidFill>
                <a:latin typeface="Arial" pitchFamily="34" charset="0"/>
                <a:ea typeface="Arial" pitchFamily="34" charset="-122"/>
                <a:cs typeface="Arial" pitchFamily="34" charset="-120"/>
              </a:rPr>
              <a:t>reviewed errors.</a:t>
            </a:r>
            <a:endParaRPr lang="en-US" sz="1500" dirty="0"/>
          </a:p>
        </p:txBody>
      </p:sp>
      <p:sp>
        <p:nvSpPr>
          <p:cNvPr id="27" name="slide11_circle_21"/>
          <p:cNvSpPr/>
          <p:nvPr/>
        </p:nvSpPr>
        <p:spPr>
          <a:xfrm>
            <a:off x="10614660" y="3840480"/>
            <a:ext cx="243840" cy="243840"/>
          </a:xfrm>
          <a:prstGeom prst="ellipse">
            <a:avLst/>
          </a:prstGeom>
          <a:solidFill>
            <a:srgbClr val="176C4B"/>
          </a:solidFill>
          <a:ln w="22860">
            <a:solidFill>
              <a:srgbClr val="176C4B"/>
            </a:solidFill>
            <a:prstDash val="solid"/>
          </a:ln>
        </p:spPr>
        <p:txBody>
          <a:bodyPr/>
          <a:p/>
        </p:txBody>
      </p:sp>
      <p:sp>
        <p:nvSpPr>
          <p:cNvPr id="28" name="slide11_text_22"/>
          <p:cNvSpPr txBox="1"/>
          <p:nvPr/>
        </p:nvSpPr>
        <p:spPr>
          <a:xfrm>
            <a:off x="9784080" y="4259580"/>
            <a:ext cx="1905000" cy="266700"/>
          </a:xfrm>
          <a:prstGeom prst="rect">
            <a:avLst/>
          </a:prstGeom>
          <a:noFill/>
          <a:ln/>
        </p:spPr>
        <p:txBody>
          <a:bodyPr wrap="square" lIns="0" tIns="0" rIns="0" bIns="0" rtlCol="0" anchor="t"/>
          <a:lstStyle/>
          <a:p>
            <a:pPr algn="ctr" indent="0" marL="0">
              <a:lnSpc>
                <a:spcPct val="100000"/>
              </a:lnSpc>
              <a:buNone/>
            </a:pPr>
            <a:r>
              <a:rPr lang="en-US" sz="1800" b="1" dirty="0">
                <a:solidFill>
                  <a:srgbClr val="176C4B"/>
                </a:solidFill>
                <a:latin typeface="Arial" pitchFamily="34" charset="0"/>
                <a:ea typeface="Arial" pitchFamily="34" charset="-122"/>
                <a:cs typeface="Arial" pitchFamily="34" charset="-120"/>
              </a:rPr>
              <a:t>Scheduled</a:t>
            </a:r>
            <a:endParaRPr lang="en-US" sz="1800" dirty="0"/>
          </a:p>
        </p:txBody>
      </p:sp>
      <p:sp>
        <p:nvSpPr>
          <p:cNvPr id="29" name="slide11_text_22"/>
          <p:cNvSpPr txBox="1"/>
          <p:nvPr/>
        </p:nvSpPr>
        <p:spPr>
          <a:xfrm>
            <a:off x="9784080" y="4511040"/>
            <a:ext cx="1905000" cy="266700"/>
          </a:xfrm>
          <a:prstGeom prst="rect">
            <a:avLst/>
          </a:prstGeom>
          <a:noFill/>
          <a:ln/>
        </p:spPr>
        <p:txBody>
          <a:bodyPr wrap="square" lIns="0" tIns="0" rIns="0" bIns="0" rtlCol="0" anchor="t"/>
          <a:lstStyle/>
          <a:p>
            <a:pPr algn="ctr" indent="0" marL="0">
              <a:lnSpc>
                <a:spcPct val="100000"/>
              </a:lnSpc>
              <a:buNone/>
            </a:pPr>
            <a:r>
              <a:rPr lang="en-US" sz="1800" b="1" dirty="0">
                <a:solidFill>
                  <a:srgbClr val="176C4B"/>
                </a:solidFill>
                <a:latin typeface="Arial" pitchFamily="34" charset="0"/>
                <a:ea typeface="Arial" pitchFamily="34" charset="-122"/>
                <a:cs typeface="Arial" pitchFamily="34" charset="-120"/>
              </a:rPr>
              <a:t>processing</a:t>
            </a:r>
            <a:endParaRPr lang="en-US" sz="1800" dirty="0"/>
          </a:p>
        </p:txBody>
      </p:sp>
      <p:sp>
        <p:nvSpPr>
          <p:cNvPr id="30" name="slide11_text_23"/>
          <p:cNvSpPr txBox="1"/>
          <p:nvPr/>
        </p:nvSpPr>
        <p:spPr>
          <a:xfrm>
            <a:off x="9730740" y="4937760"/>
            <a:ext cx="2011680" cy="247650"/>
          </a:xfrm>
          <a:prstGeom prst="rect">
            <a:avLst/>
          </a:prstGeom>
          <a:noFill/>
          <a:ln/>
        </p:spPr>
        <p:txBody>
          <a:bodyPr wrap="square" lIns="0" tIns="0" rIns="0" bIns="0" rtlCol="0" anchor="t"/>
          <a:lstStyle/>
          <a:p>
            <a:pPr algn="ctr" indent="0" marL="0">
              <a:lnSpc>
                <a:spcPct val="100000"/>
              </a:lnSpc>
              <a:buNone/>
            </a:pPr>
            <a:r>
              <a:rPr lang="en-US" sz="1500" dirty="0">
                <a:solidFill>
                  <a:srgbClr val="586B62"/>
                </a:solidFill>
                <a:latin typeface="Arial" pitchFamily="34" charset="0"/>
                <a:ea typeface="Arial" pitchFamily="34" charset="-122"/>
                <a:cs typeface="Arial" pitchFamily="34" charset="-120"/>
              </a:rPr>
              <a:t>Routine starts were</a:t>
            </a:r>
            <a:endParaRPr lang="en-US" sz="1500" dirty="0"/>
          </a:p>
        </p:txBody>
      </p:sp>
      <p:sp>
        <p:nvSpPr>
          <p:cNvPr id="31" name="slide11_text_23"/>
          <p:cNvSpPr txBox="1"/>
          <p:nvPr/>
        </p:nvSpPr>
        <p:spPr>
          <a:xfrm>
            <a:off x="9730740" y="5170170"/>
            <a:ext cx="2011680" cy="247650"/>
          </a:xfrm>
          <a:prstGeom prst="rect">
            <a:avLst/>
          </a:prstGeom>
          <a:noFill/>
          <a:ln/>
        </p:spPr>
        <p:txBody>
          <a:bodyPr wrap="square" lIns="0" tIns="0" rIns="0" bIns="0" rtlCol="0" anchor="t"/>
          <a:lstStyle/>
          <a:p>
            <a:pPr algn="ctr" indent="0" marL="0">
              <a:lnSpc>
                <a:spcPct val="100000"/>
              </a:lnSpc>
              <a:buNone/>
            </a:pPr>
            <a:r>
              <a:rPr lang="en-US" sz="1500" dirty="0">
                <a:solidFill>
                  <a:srgbClr val="586B62"/>
                </a:solidFill>
                <a:latin typeface="Arial" pitchFamily="34" charset="0"/>
                <a:ea typeface="Arial" pitchFamily="34" charset="-122"/>
                <a:cs typeface="Arial" pitchFamily="34" charset="-120"/>
              </a:rPr>
              <a:t>automatic.</a:t>
            </a:r>
            <a:endParaRPr lang="en-US" sz="1500" dirty="0"/>
          </a:p>
        </p:txBody>
      </p:sp>
      <p:sp>
        <p:nvSpPr>
          <p:cNvPr id="32" name="slide11_text_24"/>
          <p:cNvSpPr txBox="1"/>
          <p:nvPr/>
        </p:nvSpPr>
        <p:spPr>
          <a:xfrm>
            <a:off x="594360" y="5806440"/>
            <a:ext cx="10820400" cy="279806"/>
          </a:xfrm>
          <a:prstGeom prst="rect">
            <a:avLst/>
          </a:prstGeom>
          <a:noFill/>
          <a:ln/>
        </p:spPr>
        <p:txBody>
          <a:bodyPr wrap="square" lIns="0" tIns="0" rIns="0" bIns="0" rtlCol="0" anchor="t"/>
          <a:lstStyle/>
          <a:p>
            <a:pPr algn="l" indent="0" marL="0">
              <a:lnSpc>
                <a:spcPct val="100000"/>
              </a:lnSpc>
              <a:buNone/>
            </a:pPr>
            <a:r>
              <a:rPr lang="en-US" sz="1680" dirty="0">
                <a:solidFill>
                  <a:srgbClr val="152F27"/>
                </a:solidFill>
                <a:latin typeface="Arial" pitchFamily="34" charset="0"/>
                <a:ea typeface="Arial" pitchFamily="34" charset="-122"/>
                <a:cs typeface="Arial" pitchFamily="34" charset="-120"/>
              </a:rPr>
              <a:t>My focus shifted from repeated execution to improving the workflow and enabling support.</a:t>
            </a:r>
            <a:endParaRPr lang="en-US" sz="1680" dirty="0"/>
          </a:p>
        </p:txBody>
      </p:sp>
      <p:sp>
        <p:nvSpPr>
          <p:cNvPr id="33" name="slide11_line_25"/>
          <p:cNvSpPr/>
          <p:nvPr/>
        </p:nvSpPr>
        <p:spPr>
          <a:xfrm>
            <a:off x="579120" y="6301740"/>
            <a:ext cx="11033760" cy="0"/>
          </a:xfrm>
          <a:prstGeom prst="line">
            <a:avLst/>
          </a:prstGeom>
          <a:noFill/>
          <a:ln w="7620">
            <a:solidFill>
              <a:srgbClr val="D2DCD3"/>
            </a:solidFill>
            <a:prstDash val="solid"/>
            <a:headEnd type="none"/>
            <a:tailEnd type="none"/>
          </a:ln>
        </p:spPr>
        <p:txBody>
          <a:bodyPr/>
          <a:p/>
        </p:txBody>
      </p:sp>
      <p:sp>
        <p:nvSpPr>
          <p:cNvPr id="34" name="slide11_text_26"/>
          <p:cNvSpPr txBox="1"/>
          <p:nvPr/>
        </p:nvSpPr>
        <p:spPr>
          <a:xfrm>
            <a:off x="594360" y="6446520"/>
            <a:ext cx="6096000" cy="144780"/>
          </a:xfrm>
          <a:prstGeom prst="rect">
            <a:avLst/>
          </a:prstGeom>
          <a:noFill/>
          <a:ln/>
        </p:spPr>
        <p:txBody>
          <a:bodyPr wrap="square" lIns="0" tIns="0" rIns="0" bIns="0" rtlCol="0" anchor="t"/>
          <a:lstStyle/>
          <a:p>
            <a:pPr algn="l" indent="0" marL="0">
              <a:lnSpc>
                <a:spcPct val="100000"/>
              </a:lnSpc>
              <a:buNone/>
            </a:pPr>
            <a:r>
              <a:rPr lang="en-US" sz="1020" dirty="0">
                <a:solidFill>
                  <a:srgbClr val="586B62"/>
                </a:solidFill>
                <a:latin typeface="Arial" pitchFamily="34" charset="0"/>
                <a:ea typeface="Arial" pitchFamily="34" charset="-122"/>
                <a:cs typeface="Arial" pitchFamily="34" charset="-120"/>
              </a:rPr>
              <a:t>FRANKLIN WAGGONER / LAUNCHPAD</a:t>
            </a:r>
            <a:endParaRPr lang="en-US" sz="1020" dirty="0"/>
          </a:p>
        </p:txBody>
      </p:sp>
      <p:sp>
        <p:nvSpPr>
          <p:cNvPr id="35" name="slide11_text_27"/>
          <p:cNvSpPr txBox="1"/>
          <p:nvPr/>
        </p:nvSpPr>
        <p:spPr>
          <a:xfrm>
            <a:off x="10591800" y="6438900"/>
            <a:ext cx="1021080" cy="144780"/>
          </a:xfrm>
          <a:prstGeom prst="rect">
            <a:avLst/>
          </a:prstGeom>
          <a:noFill/>
          <a:ln/>
        </p:spPr>
        <p:txBody>
          <a:bodyPr wrap="square" lIns="0" tIns="0" rIns="0" bIns="0" rtlCol="0" anchor="t"/>
          <a:lstStyle/>
          <a:p>
            <a:pPr algn="r" indent="0" marL="0">
              <a:lnSpc>
                <a:spcPct val="100000"/>
              </a:lnSpc>
              <a:buNone/>
            </a:pPr>
            <a:r>
              <a:rPr lang="en-US" sz="1020" dirty="0">
                <a:solidFill>
                  <a:srgbClr val="586B62"/>
                </a:solidFill>
                <a:latin typeface="Arial" pitchFamily="34" charset="0"/>
                <a:ea typeface="Arial" pitchFamily="34" charset="-122"/>
                <a:cs typeface="Arial" pitchFamily="34" charset="-120"/>
              </a:rPr>
              <a:t>11 / 12</a:t>
            </a:r>
            <a:endParaRPr lang="en-US" sz="10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4"/>
        </a:solidFill>
      </p:bgPr>
    </p:bg>
    <p:spTree>
      <p:nvGrpSpPr>
        <p:cNvPr id="1" name=""/>
        <p:cNvGrpSpPr/>
        <p:nvPr/>
      </p:nvGrpSpPr>
      <p:grpSpPr>
        <a:xfrm>
          <a:off x="0" y="0"/>
          <a:ext cx="0" cy="0"/>
          <a:chOff x="0" y="0"/>
          <a:chExt cx="0" cy="0"/>
        </a:xfrm>
      </p:grpSpPr>
      <p:sp>
        <p:nvSpPr>
          <p:cNvPr id="2" name="slide12_text_0"/>
          <p:cNvSpPr txBox="1"/>
          <p:nvPr/>
        </p:nvSpPr>
        <p:spPr>
          <a:xfrm>
            <a:off x="579120" y="533400"/>
            <a:ext cx="11033760" cy="459638"/>
          </a:xfrm>
          <a:prstGeom prst="rect">
            <a:avLst/>
          </a:prstGeom>
          <a:noFill/>
          <a:ln/>
        </p:spPr>
        <p:txBody>
          <a:bodyPr wrap="square" lIns="0" tIns="0" rIns="0" bIns="0" rtlCol="0" anchor="t"/>
          <a:lstStyle/>
          <a:p>
            <a:pPr algn="l" indent="0" marL="0">
              <a:lnSpc>
                <a:spcPct val="100000"/>
              </a:lnSpc>
              <a:buNone/>
            </a:pPr>
            <a:r>
              <a:rPr lang="en-US" sz="3240" b="1" dirty="0">
                <a:solidFill>
                  <a:srgbClr val="152F27"/>
                </a:solidFill>
                <a:latin typeface="Arial" pitchFamily="34" charset="0"/>
                <a:ea typeface="Arial" pitchFamily="34" charset="-122"/>
                <a:cs typeface="Arial" pitchFamily="34" charset="-120"/>
              </a:rPr>
              <a:t>What I carry forward.</a:t>
            </a:r>
            <a:endParaRPr lang="en-US" sz="3240" dirty="0"/>
          </a:p>
        </p:txBody>
      </p:sp>
      <p:sp>
        <p:nvSpPr>
          <p:cNvPr id="3" name="slide12_text_1"/>
          <p:cNvSpPr txBox="1"/>
          <p:nvPr/>
        </p:nvSpPr>
        <p:spPr>
          <a:xfrm>
            <a:off x="594360" y="1165860"/>
            <a:ext cx="10881360" cy="288341"/>
          </a:xfrm>
          <a:prstGeom prst="rect">
            <a:avLst/>
          </a:prstGeom>
          <a:noFill/>
          <a:ln/>
        </p:spPr>
        <p:txBody>
          <a:bodyPr wrap="square" lIns="0" tIns="0" rIns="0" bIns="0" rtlCol="0" anchor="t"/>
          <a:lstStyle/>
          <a:p>
            <a:pPr algn="l" indent="0" marL="0">
              <a:lnSpc>
                <a:spcPct val="100000"/>
              </a:lnSpc>
              <a:buNone/>
            </a:pPr>
            <a:r>
              <a:rPr lang="en-US" sz="1680" dirty="0">
                <a:solidFill>
                  <a:srgbClr val="586B62"/>
                </a:solidFill>
                <a:latin typeface="Arial" pitchFamily="34" charset="0"/>
                <a:ea typeface="Arial" pitchFamily="34" charset="-122"/>
                <a:cs typeface="Arial" pitchFamily="34" charset="-120"/>
              </a:rPr>
              <a:t>Own the process, improve it in stages, and build with the people who use it.</a:t>
            </a:r>
            <a:endParaRPr lang="en-US" sz="1680" dirty="0"/>
          </a:p>
        </p:txBody>
      </p:sp>
      <p:sp>
        <p:nvSpPr>
          <p:cNvPr id="4" name="slide12_line_2"/>
          <p:cNvSpPr/>
          <p:nvPr/>
        </p:nvSpPr>
        <p:spPr>
          <a:xfrm>
            <a:off x="579120" y="2125980"/>
            <a:ext cx="3238500" cy="0"/>
          </a:xfrm>
          <a:prstGeom prst="line">
            <a:avLst/>
          </a:prstGeom>
          <a:noFill/>
          <a:ln w="22860">
            <a:solidFill>
              <a:srgbClr val="176C4B"/>
            </a:solidFill>
            <a:prstDash val="solid"/>
            <a:headEnd type="none"/>
            <a:tailEnd type="none"/>
          </a:ln>
        </p:spPr>
        <p:txBody>
          <a:bodyPr/>
          <a:p/>
        </p:txBody>
      </p:sp>
      <p:sp>
        <p:nvSpPr>
          <p:cNvPr id="5" name="slide12_text_3"/>
          <p:cNvSpPr txBox="1"/>
          <p:nvPr/>
        </p:nvSpPr>
        <p:spPr>
          <a:xfrm>
            <a:off x="579120" y="2423160"/>
            <a:ext cx="3238500" cy="360883"/>
          </a:xfrm>
          <a:prstGeom prst="rect">
            <a:avLst/>
          </a:prstGeom>
          <a:noFill/>
          <a:ln/>
        </p:spPr>
        <p:txBody>
          <a:bodyPr wrap="square" lIns="0" tIns="0" rIns="0" bIns="0" rtlCol="0" anchor="t"/>
          <a:lstStyle/>
          <a:p>
            <a:pPr algn="l" indent="0" marL="0">
              <a:lnSpc>
                <a:spcPct val="100000"/>
              </a:lnSpc>
              <a:buNone/>
            </a:pPr>
            <a:r>
              <a:rPr lang="en-US" sz="2520" b="1" dirty="0">
                <a:solidFill>
                  <a:srgbClr val="152F27"/>
                </a:solidFill>
                <a:latin typeface="Arial" pitchFamily="34" charset="0"/>
                <a:ea typeface="Arial" pitchFamily="34" charset="-122"/>
                <a:cs typeface="Arial" pitchFamily="34" charset="-120"/>
              </a:rPr>
              <a:t>Understand</a:t>
            </a:r>
            <a:endParaRPr lang="en-US" sz="2520" dirty="0"/>
          </a:p>
        </p:txBody>
      </p:sp>
      <p:sp>
        <p:nvSpPr>
          <p:cNvPr id="6" name="slide12_text_3"/>
          <p:cNvSpPr txBox="1"/>
          <p:nvPr/>
        </p:nvSpPr>
        <p:spPr>
          <a:xfrm>
            <a:off x="579120" y="2768803"/>
            <a:ext cx="3238500" cy="360883"/>
          </a:xfrm>
          <a:prstGeom prst="rect">
            <a:avLst/>
          </a:prstGeom>
          <a:noFill/>
          <a:ln/>
        </p:spPr>
        <p:txBody>
          <a:bodyPr wrap="square" lIns="0" tIns="0" rIns="0" bIns="0" rtlCol="0" anchor="t"/>
          <a:lstStyle/>
          <a:p>
            <a:pPr algn="l" indent="0" marL="0">
              <a:lnSpc>
                <a:spcPct val="100000"/>
              </a:lnSpc>
              <a:buNone/>
            </a:pPr>
            <a:r>
              <a:rPr lang="en-US" sz="2520" b="1" dirty="0">
                <a:solidFill>
                  <a:srgbClr val="152F27"/>
                </a:solidFill>
                <a:latin typeface="Arial" pitchFamily="34" charset="0"/>
                <a:ea typeface="Arial" pitchFamily="34" charset="-122"/>
                <a:cs typeface="Arial" pitchFamily="34" charset="-120"/>
              </a:rPr>
              <a:t>the work.</a:t>
            </a:r>
            <a:endParaRPr lang="en-US" sz="2520" dirty="0"/>
          </a:p>
        </p:txBody>
      </p:sp>
      <p:sp>
        <p:nvSpPr>
          <p:cNvPr id="7" name="slide12_text_4"/>
          <p:cNvSpPr txBox="1"/>
          <p:nvPr/>
        </p:nvSpPr>
        <p:spPr>
          <a:xfrm>
            <a:off x="579120" y="3451860"/>
            <a:ext cx="3162300" cy="304724"/>
          </a:xfrm>
          <a:prstGeom prst="rect">
            <a:avLst/>
          </a:prstGeom>
          <a:noFill/>
          <a:ln/>
        </p:spPr>
        <p:txBody>
          <a:bodyPr wrap="square" lIns="0" tIns="0" rIns="0" bIns="0" rtlCol="0" anchor="t"/>
          <a:lstStyle/>
          <a:p>
            <a:pPr algn="l" indent="0" marL="0">
              <a:lnSpc>
                <a:spcPct val="100000"/>
              </a:lnSpc>
              <a:buNone/>
            </a:pPr>
            <a:r>
              <a:rPr lang="en-US" sz="1740" dirty="0">
                <a:solidFill>
                  <a:srgbClr val="586B62"/>
                </a:solidFill>
                <a:latin typeface="Arial" pitchFamily="34" charset="0"/>
                <a:ea typeface="Arial" pitchFamily="34" charset="-122"/>
                <a:cs typeface="Arial" pitchFamily="34" charset="-120"/>
              </a:rPr>
              <a:t>Run the process, identify</a:t>
            </a:r>
            <a:endParaRPr lang="en-US" sz="1740" dirty="0"/>
          </a:p>
        </p:txBody>
      </p:sp>
      <p:sp>
        <p:nvSpPr>
          <p:cNvPr id="8" name="slide12_text_4"/>
          <p:cNvSpPr txBox="1"/>
          <p:nvPr/>
        </p:nvSpPr>
        <p:spPr>
          <a:xfrm>
            <a:off x="579120" y="3741344"/>
            <a:ext cx="3162300" cy="304724"/>
          </a:xfrm>
          <a:prstGeom prst="rect">
            <a:avLst/>
          </a:prstGeom>
          <a:noFill/>
          <a:ln/>
        </p:spPr>
        <p:txBody>
          <a:bodyPr wrap="square" lIns="0" tIns="0" rIns="0" bIns="0" rtlCol="0" anchor="t"/>
          <a:lstStyle/>
          <a:p>
            <a:pPr algn="l" indent="0" marL="0">
              <a:lnSpc>
                <a:spcPct val="100000"/>
              </a:lnSpc>
              <a:buNone/>
            </a:pPr>
            <a:r>
              <a:rPr lang="en-US" sz="1740" dirty="0">
                <a:solidFill>
                  <a:srgbClr val="586B62"/>
                </a:solidFill>
                <a:latin typeface="Arial" pitchFamily="34" charset="0"/>
                <a:ea typeface="Arial" pitchFamily="34" charset="-122"/>
                <a:cs typeface="Arial" pitchFamily="34" charset="-120"/>
              </a:rPr>
              <a:t>failures, and make the</a:t>
            </a:r>
            <a:endParaRPr lang="en-US" sz="1740" dirty="0"/>
          </a:p>
        </p:txBody>
      </p:sp>
      <p:sp>
        <p:nvSpPr>
          <p:cNvPr id="9" name="slide12_text_4"/>
          <p:cNvSpPr txBox="1"/>
          <p:nvPr/>
        </p:nvSpPr>
        <p:spPr>
          <a:xfrm>
            <a:off x="579120" y="4030828"/>
            <a:ext cx="3162300" cy="304724"/>
          </a:xfrm>
          <a:prstGeom prst="rect">
            <a:avLst/>
          </a:prstGeom>
          <a:noFill/>
          <a:ln/>
        </p:spPr>
        <p:txBody>
          <a:bodyPr wrap="square" lIns="0" tIns="0" rIns="0" bIns="0" rtlCol="0" anchor="t"/>
          <a:lstStyle/>
          <a:p>
            <a:pPr algn="l" indent="0" marL="0">
              <a:lnSpc>
                <a:spcPct val="100000"/>
              </a:lnSpc>
              <a:buNone/>
            </a:pPr>
            <a:r>
              <a:rPr lang="en-US" sz="1740" dirty="0">
                <a:solidFill>
                  <a:srgbClr val="586B62"/>
                </a:solidFill>
                <a:latin typeface="Arial" pitchFamily="34" charset="0"/>
                <a:ea typeface="Arial" pitchFamily="34" charset="-122"/>
                <a:cs typeface="Arial" pitchFamily="34" charset="-120"/>
              </a:rPr>
              <a:t>constraints clear.</a:t>
            </a:r>
            <a:endParaRPr lang="en-US" sz="1740" dirty="0"/>
          </a:p>
        </p:txBody>
      </p:sp>
      <p:sp>
        <p:nvSpPr>
          <p:cNvPr id="10" name="slide12_line_5"/>
          <p:cNvSpPr/>
          <p:nvPr/>
        </p:nvSpPr>
        <p:spPr>
          <a:xfrm>
            <a:off x="4472940" y="2125980"/>
            <a:ext cx="3238500" cy="0"/>
          </a:xfrm>
          <a:prstGeom prst="line">
            <a:avLst/>
          </a:prstGeom>
          <a:noFill/>
          <a:ln w="22860">
            <a:solidFill>
              <a:srgbClr val="176C4B"/>
            </a:solidFill>
            <a:prstDash val="solid"/>
            <a:headEnd type="none"/>
            <a:tailEnd type="none"/>
          </a:ln>
        </p:spPr>
        <p:txBody>
          <a:bodyPr/>
          <a:p/>
        </p:txBody>
      </p:sp>
      <p:sp>
        <p:nvSpPr>
          <p:cNvPr id="11" name="slide12_text_6"/>
          <p:cNvSpPr txBox="1"/>
          <p:nvPr/>
        </p:nvSpPr>
        <p:spPr>
          <a:xfrm>
            <a:off x="4472940" y="2423160"/>
            <a:ext cx="3238500" cy="360883"/>
          </a:xfrm>
          <a:prstGeom prst="rect">
            <a:avLst/>
          </a:prstGeom>
          <a:noFill/>
          <a:ln/>
        </p:spPr>
        <p:txBody>
          <a:bodyPr wrap="square" lIns="0" tIns="0" rIns="0" bIns="0" rtlCol="0" anchor="t"/>
          <a:lstStyle/>
          <a:p>
            <a:pPr algn="l" indent="0" marL="0">
              <a:lnSpc>
                <a:spcPct val="100000"/>
              </a:lnSpc>
              <a:buNone/>
            </a:pPr>
            <a:r>
              <a:rPr lang="en-US" sz="2520" b="1" dirty="0">
                <a:solidFill>
                  <a:srgbClr val="152F27"/>
                </a:solidFill>
                <a:latin typeface="Arial" pitchFamily="34" charset="0"/>
                <a:ea typeface="Arial" pitchFamily="34" charset="-122"/>
                <a:cs typeface="Arial" pitchFamily="34" charset="-120"/>
              </a:rPr>
              <a:t>Improve one</a:t>
            </a:r>
            <a:endParaRPr lang="en-US" sz="2520" dirty="0"/>
          </a:p>
        </p:txBody>
      </p:sp>
      <p:sp>
        <p:nvSpPr>
          <p:cNvPr id="12" name="slide12_text_6"/>
          <p:cNvSpPr txBox="1"/>
          <p:nvPr/>
        </p:nvSpPr>
        <p:spPr>
          <a:xfrm>
            <a:off x="4472940" y="2768803"/>
            <a:ext cx="3238500" cy="360883"/>
          </a:xfrm>
          <a:prstGeom prst="rect">
            <a:avLst/>
          </a:prstGeom>
          <a:noFill/>
          <a:ln/>
        </p:spPr>
        <p:txBody>
          <a:bodyPr wrap="square" lIns="0" tIns="0" rIns="0" bIns="0" rtlCol="0" anchor="t"/>
          <a:lstStyle/>
          <a:p>
            <a:pPr algn="l" indent="0" marL="0">
              <a:lnSpc>
                <a:spcPct val="100000"/>
              </a:lnSpc>
              <a:buNone/>
            </a:pPr>
            <a:r>
              <a:rPr lang="en-US" sz="2520" b="1" dirty="0">
                <a:solidFill>
                  <a:srgbClr val="152F27"/>
                </a:solidFill>
                <a:latin typeface="Arial" pitchFamily="34" charset="0"/>
                <a:ea typeface="Arial" pitchFamily="34" charset="-122"/>
                <a:cs typeface="Arial" pitchFamily="34" charset="-120"/>
              </a:rPr>
              <a:t>constraint at a time.</a:t>
            </a:r>
            <a:endParaRPr lang="en-US" sz="2520" dirty="0"/>
          </a:p>
        </p:txBody>
      </p:sp>
      <p:sp>
        <p:nvSpPr>
          <p:cNvPr id="13" name="slide12_text_7"/>
          <p:cNvSpPr txBox="1"/>
          <p:nvPr/>
        </p:nvSpPr>
        <p:spPr>
          <a:xfrm>
            <a:off x="4472940" y="3451860"/>
            <a:ext cx="3162300" cy="304724"/>
          </a:xfrm>
          <a:prstGeom prst="rect">
            <a:avLst/>
          </a:prstGeom>
          <a:noFill/>
          <a:ln/>
        </p:spPr>
        <p:txBody>
          <a:bodyPr wrap="square" lIns="0" tIns="0" rIns="0" bIns="0" rtlCol="0" anchor="t"/>
          <a:lstStyle/>
          <a:p>
            <a:pPr algn="l" indent="0" marL="0">
              <a:lnSpc>
                <a:spcPct val="100000"/>
              </a:lnSpc>
              <a:buNone/>
            </a:pPr>
            <a:r>
              <a:rPr lang="en-US" sz="1740" dirty="0">
                <a:solidFill>
                  <a:srgbClr val="586B62"/>
                </a:solidFill>
                <a:latin typeface="Arial" pitchFamily="34" charset="0"/>
                <a:ea typeface="Arial" pitchFamily="34" charset="-122"/>
                <a:cs typeface="Arial" pitchFamily="34" charset="-120"/>
              </a:rPr>
              <a:t>Remove repetitive steps before</a:t>
            </a:r>
            <a:endParaRPr lang="en-US" sz="1740" dirty="0"/>
          </a:p>
        </p:txBody>
      </p:sp>
      <p:sp>
        <p:nvSpPr>
          <p:cNvPr id="14" name="slide12_text_7"/>
          <p:cNvSpPr txBox="1"/>
          <p:nvPr/>
        </p:nvSpPr>
        <p:spPr>
          <a:xfrm>
            <a:off x="4472940" y="3741344"/>
            <a:ext cx="3162300" cy="304724"/>
          </a:xfrm>
          <a:prstGeom prst="rect">
            <a:avLst/>
          </a:prstGeom>
          <a:noFill/>
          <a:ln/>
        </p:spPr>
        <p:txBody>
          <a:bodyPr wrap="square" lIns="0" tIns="0" rIns="0" bIns="0" rtlCol="0" anchor="t"/>
          <a:lstStyle/>
          <a:p>
            <a:pPr algn="l" indent="0" marL="0">
              <a:lnSpc>
                <a:spcPct val="100000"/>
              </a:lnSpc>
              <a:buNone/>
            </a:pPr>
            <a:r>
              <a:rPr lang="en-US" sz="1740" dirty="0">
                <a:solidFill>
                  <a:srgbClr val="586B62"/>
                </a:solidFill>
                <a:latin typeface="Arial" pitchFamily="34" charset="0"/>
                <a:ea typeface="Arial" pitchFamily="34" charset="-122"/>
                <a:cs typeface="Arial" pitchFamily="34" charset="-120"/>
              </a:rPr>
              <a:t>adding more complexity.</a:t>
            </a:r>
            <a:endParaRPr lang="en-US" sz="1740" dirty="0"/>
          </a:p>
        </p:txBody>
      </p:sp>
      <p:sp>
        <p:nvSpPr>
          <p:cNvPr id="15" name="slide12_line_8"/>
          <p:cNvSpPr/>
          <p:nvPr/>
        </p:nvSpPr>
        <p:spPr>
          <a:xfrm>
            <a:off x="8366760" y="2125980"/>
            <a:ext cx="3238500" cy="0"/>
          </a:xfrm>
          <a:prstGeom prst="line">
            <a:avLst/>
          </a:prstGeom>
          <a:noFill/>
          <a:ln w="22860">
            <a:solidFill>
              <a:srgbClr val="176C4B"/>
            </a:solidFill>
            <a:prstDash val="solid"/>
            <a:headEnd type="none"/>
            <a:tailEnd type="none"/>
          </a:ln>
        </p:spPr>
        <p:txBody>
          <a:bodyPr/>
          <a:p/>
        </p:txBody>
      </p:sp>
      <p:sp>
        <p:nvSpPr>
          <p:cNvPr id="16" name="slide12_text_9"/>
          <p:cNvSpPr txBox="1"/>
          <p:nvPr/>
        </p:nvSpPr>
        <p:spPr>
          <a:xfrm>
            <a:off x="8366760" y="2423160"/>
            <a:ext cx="3238500" cy="360883"/>
          </a:xfrm>
          <a:prstGeom prst="rect">
            <a:avLst/>
          </a:prstGeom>
          <a:noFill/>
          <a:ln/>
        </p:spPr>
        <p:txBody>
          <a:bodyPr wrap="square" lIns="0" tIns="0" rIns="0" bIns="0" rtlCol="0" anchor="t"/>
          <a:lstStyle/>
          <a:p>
            <a:pPr algn="l" indent="0" marL="0">
              <a:lnSpc>
                <a:spcPct val="100000"/>
              </a:lnSpc>
              <a:buNone/>
            </a:pPr>
            <a:r>
              <a:rPr lang="en-US" sz="2520" b="1" dirty="0">
                <a:solidFill>
                  <a:srgbClr val="152F27"/>
                </a:solidFill>
                <a:latin typeface="Arial" pitchFamily="34" charset="0"/>
                <a:ea typeface="Arial" pitchFamily="34" charset="-122"/>
                <a:cs typeface="Arial" pitchFamily="34" charset="-120"/>
              </a:rPr>
              <a:t>Build with</a:t>
            </a:r>
            <a:endParaRPr lang="en-US" sz="2520" dirty="0"/>
          </a:p>
        </p:txBody>
      </p:sp>
      <p:sp>
        <p:nvSpPr>
          <p:cNvPr id="17" name="slide12_text_9"/>
          <p:cNvSpPr txBox="1"/>
          <p:nvPr/>
        </p:nvSpPr>
        <p:spPr>
          <a:xfrm>
            <a:off x="8366760" y="2768803"/>
            <a:ext cx="3238500" cy="360883"/>
          </a:xfrm>
          <a:prstGeom prst="rect">
            <a:avLst/>
          </a:prstGeom>
          <a:noFill/>
          <a:ln/>
        </p:spPr>
        <p:txBody>
          <a:bodyPr wrap="square" lIns="0" tIns="0" rIns="0" bIns="0" rtlCol="0" anchor="t"/>
          <a:lstStyle/>
          <a:p>
            <a:pPr algn="l" indent="0" marL="0">
              <a:lnSpc>
                <a:spcPct val="100000"/>
              </a:lnSpc>
              <a:buNone/>
            </a:pPr>
            <a:r>
              <a:rPr lang="en-US" sz="2520" b="1" dirty="0">
                <a:solidFill>
                  <a:srgbClr val="152F27"/>
                </a:solidFill>
                <a:latin typeface="Arial" pitchFamily="34" charset="0"/>
                <a:ea typeface="Arial" pitchFamily="34" charset="-122"/>
                <a:cs typeface="Arial" pitchFamily="34" charset="-120"/>
              </a:rPr>
              <a:t>the people using it.</a:t>
            </a:r>
            <a:endParaRPr lang="en-US" sz="2520" dirty="0"/>
          </a:p>
        </p:txBody>
      </p:sp>
      <p:sp>
        <p:nvSpPr>
          <p:cNvPr id="18" name="slide12_text_10"/>
          <p:cNvSpPr txBox="1"/>
          <p:nvPr/>
        </p:nvSpPr>
        <p:spPr>
          <a:xfrm>
            <a:off x="8366760" y="3451860"/>
            <a:ext cx="3162300" cy="304724"/>
          </a:xfrm>
          <a:prstGeom prst="rect">
            <a:avLst/>
          </a:prstGeom>
          <a:noFill/>
          <a:ln/>
        </p:spPr>
        <p:txBody>
          <a:bodyPr wrap="square" lIns="0" tIns="0" rIns="0" bIns="0" rtlCol="0" anchor="t"/>
          <a:lstStyle/>
          <a:p>
            <a:pPr algn="l" indent="0" marL="0">
              <a:lnSpc>
                <a:spcPct val="100000"/>
              </a:lnSpc>
              <a:buNone/>
            </a:pPr>
            <a:r>
              <a:rPr lang="en-US" sz="1740" dirty="0">
                <a:solidFill>
                  <a:srgbClr val="586B62"/>
                </a:solidFill>
                <a:latin typeface="Arial" pitchFamily="34" charset="0"/>
                <a:ea typeface="Arial" pitchFamily="34" charset="-122"/>
                <a:cs typeface="Arial" pitchFamily="34" charset="-120"/>
              </a:rPr>
              <a:t>Partner with engineering and</a:t>
            </a:r>
            <a:endParaRPr lang="en-US" sz="1740" dirty="0"/>
          </a:p>
        </p:txBody>
      </p:sp>
      <p:sp>
        <p:nvSpPr>
          <p:cNvPr id="19" name="slide12_text_10"/>
          <p:cNvSpPr txBox="1"/>
          <p:nvPr/>
        </p:nvSpPr>
        <p:spPr>
          <a:xfrm>
            <a:off x="8366760" y="3741344"/>
            <a:ext cx="3162300" cy="304724"/>
          </a:xfrm>
          <a:prstGeom prst="rect">
            <a:avLst/>
          </a:prstGeom>
          <a:noFill/>
          <a:ln/>
        </p:spPr>
        <p:txBody>
          <a:bodyPr wrap="square" lIns="0" tIns="0" rIns="0" bIns="0" rtlCol="0" anchor="t"/>
          <a:lstStyle/>
          <a:p>
            <a:pPr algn="l" indent="0" marL="0">
              <a:lnSpc>
                <a:spcPct val="100000"/>
              </a:lnSpc>
              <a:buNone/>
            </a:pPr>
            <a:r>
              <a:rPr lang="en-US" sz="1740" dirty="0">
                <a:solidFill>
                  <a:srgbClr val="586B62"/>
                </a:solidFill>
                <a:latin typeface="Arial" pitchFamily="34" charset="0"/>
                <a:ea typeface="Arial" pitchFamily="34" charset="-122"/>
                <a:cs typeface="Arial" pitchFamily="34" charset="-120"/>
              </a:rPr>
              <a:t>support, and keep the</a:t>
            </a:r>
            <a:endParaRPr lang="en-US" sz="1740" dirty="0"/>
          </a:p>
        </p:txBody>
      </p:sp>
      <p:sp>
        <p:nvSpPr>
          <p:cNvPr id="20" name="slide12_text_10"/>
          <p:cNvSpPr txBox="1"/>
          <p:nvPr/>
        </p:nvSpPr>
        <p:spPr>
          <a:xfrm>
            <a:off x="8366760" y="4030828"/>
            <a:ext cx="3162300" cy="304724"/>
          </a:xfrm>
          <a:prstGeom prst="rect">
            <a:avLst/>
          </a:prstGeom>
          <a:noFill/>
          <a:ln/>
        </p:spPr>
        <p:txBody>
          <a:bodyPr wrap="square" lIns="0" tIns="0" rIns="0" bIns="0" rtlCol="0" anchor="t"/>
          <a:lstStyle/>
          <a:p>
            <a:pPr algn="l" indent="0" marL="0">
              <a:lnSpc>
                <a:spcPct val="100000"/>
              </a:lnSpc>
              <a:buNone/>
            </a:pPr>
            <a:r>
              <a:rPr lang="en-US" sz="1740" dirty="0">
                <a:solidFill>
                  <a:srgbClr val="586B62"/>
                </a:solidFill>
                <a:latin typeface="Arial" pitchFamily="34" charset="0"/>
                <a:ea typeface="Arial" pitchFamily="34" charset="-122"/>
                <a:cs typeface="Arial" pitchFamily="34" charset="-120"/>
              </a:rPr>
              <a:t>documentation useful.</a:t>
            </a:r>
            <a:endParaRPr lang="en-US" sz="1740" dirty="0"/>
          </a:p>
        </p:txBody>
      </p:sp>
      <p:sp>
        <p:nvSpPr>
          <p:cNvPr id="22" name="slide12_line_12"/>
          <p:cNvSpPr/>
          <p:nvPr/>
        </p:nvSpPr>
        <p:spPr>
          <a:xfrm>
            <a:off x="579120" y="6301740"/>
            <a:ext cx="11033760" cy="0"/>
          </a:xfrm>
          <a:prstGeom prst="line">
            <a:avLst/>
          </a:prstGeom>
          <a:noFill/>
          <a:ln w="7620">
            <a:solidFill>
              <a:srgbClr val="D2DCD3"/>
            </a:solidFill>
            <a:prstDash val="solid"/>
            <a:headEnd type="none"/>
            <a:tailEnd type="none"/>
          </a:ln>
        </p:spPr>
        <p:txBody>
          <a:bodyPr/>
          <a:p/>
        </p:txBody>
      </p:sp>
      <p:sp>
        <p:nvSpPr>
          <p:cNvPr id="23" name="slide12_text_13"/>
          <p:cNvSpPr txBox="1"/>
          <p:nvPr/>
        </p:nvSpPr>
        <p:spPr>
          <a:xfrm>
            <a:off x="594360" y="6446520"/>
            <a:ext cx="6096000" cy="144780"/>
          </a:xfrm>
          <a:prstGeom prst="rect">
            <a:avLst/>
          </a:prstGeom>
          <a:noFill/>
          <a:ln/>
        </p:spPr>
        <p:txBody>
          <a:bodyPr wrap="square" lIns="0" tIns="0" rIns="0" bIns="0" rtlCol="0" anchor="t"/>
          <a:lstStyle/>
          <a:p>
            <a:pPr algn="l" indent="0" marL="0">
              <a:lnSpc>
                <a:spcPct val="100000"/>
              </a:lnSpc>
              <a:buNone/>
            </a:pPr>
            <a:r>
              <a:rPr lang="en-US" sz="1020" dirty="0">
                <a:solidFill>
                  <a:srgbClr val="586B62"/>
                </a:solidFill>
                <a:latin typeface="Arial" pitchFamily="34" charset="0"/>
                <a:ea typeface="Arial" pitchFamily="34" charset="-122"/>
                <a:cs typeface="Arial" pitchFamily="34" charset="-120"/>
              </a:rPr>
              <a:t>FRANKLIN WAGGONER / LAUNCHPAD</a:t>
            </a:r>
            <a:endParaRPr lang="en-US" sz="1020" dirty="0"/>
          </a:p>
        </p:txBody>
      </p:sp>
      <p:sp>
        <p:nvSpPr>
          <p:cNvPr id="24" name="slide12_text_14"/>
          <p:cNvSpPr txBox="1"/>
          <p:nvPr/>
        </p:nvSpPr>
        <p:spPr>
          <a:xfrm>
            <a:off x="10591800" y="6438900"/>
            <a:ext cx="1021080" cy="144780"/>
          </a:xfrm>
          <a:prstGeom prst="rect">
            <a:avLst/>
          </a:prstGeom>
          <a:noFill/>
          <a:ln/>
        </p:spPr>
        <p:txBody>
          <a:bodyPr wrap="square" lIns="0" tIns="0" rIns="0" bIns="0" rtlCol="0" anchor="t"/>
          <a:lstStyle/>
          <a:p>
            <a:pPr algn="r" indent="0" marL="0">
              <a:lnSpc>
                <a:spcPct val="100000"/>
              </a:lnSpc>
              <a:buNone/>
            </a:pPr>
            <a:r>
              <a:rPr lang="en-US" sz="1020" dirty="0">
                <a:solidFill>
                  <a:srgbClr val="586B62"/>
                </a:solidFill>
                <a:latin typeface="Arial" pitchFamily="34" charset="0"/>
                <a:ea typeface="Arial" pitchFamily="34" charset="-122"/>
                <a:cs typeface="Arial" pitchFamily="34" charset="-120"/>
              </a:rPr>
              <a:t>12 / 12</a:t>
            </a:r>
            <a:endParaRPr lang="en-US" sz="1020" dirty="0"/>
          </a:p>
        </p:txBody>
      </p:sp>
      <p:sp>
        <p:nvSpPr>
          <p:cNvPr id="25" name="Rounded Rectangle 24"/>
          <p:cNvSpPr/>
          <p:nvPr/>
        </p:nvSpPr>
        <p:spPr>
          <a:xfrm>
            <a:off x="579120" y="4632960"/>
            <a:ext cx="11033760" cy="1432560"/>
          </a:xfrm>
          <a:prstGeom prst="roundRect">
            <a:avLst>
              <a:gd name="adj" fmla="val 4500"/>
            </a:avLst>
          </a:prstGeom>
          <a:solidFill>
            <a:srgbClr val="E4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724095"/>
            <a:ext cx="10637520" cy="256032"/>
          </a:xfrm>
          <a:prstGeom prst="rect">
            <a:avLst/>
          </a:prstGeom>
          <a:noFill/>
        </p:spPr>
        <p:txBody>
          <a:bodyPr wrap="none" lIns="0" rIns="0" tIns="0" bIns="0" anchor="t">
            <a:noAutofit/>
          </a:bodyPr>
          <a:lstStyle/>
          <a:p>
            <a:pPr>
              <a:lnSpc>
                <a:spcPct val="100000"/>
              </a:lnSpc>
              <a:spcBef>
                <a:spcPts val="0"/>
              </a:spcBef>
              <a:spcAft>
                <a:spcPts val="0"/>
              </a:spcAft>
            </a:pPr>
            <a:r>
              <a:rPr sz="1680" b="1">
                <a:solidFill>
                  <a:srgbClr val="176C4B"/>
                </a:solidFill>
                <a:latin typeface="Arial"/>
              </a:rPr>
              <a:t>What I would do earlier</a:t>
            </a:r>
          </a:p>
        </p:txBody>
      </p:sp>
      <p:sp>
        <p:nvSpPr>
          <p:cNvPr id="27" name="TextBox 26"/>
          <p:cNvSpPr txBox="1"/>
          <p:nvPr/>
        </p:nvSpPr>
        <p:spPr>
          <a:xfrm>
            <a:off x="777240" y="5081168"/>
            <a:ext cx="10515600" cy="237744"/>
          </a:xfrm>
          <a:prstGeom prst="rect">
            <a:avLst/>
          </a:prstGeom>
          <a:noFill/>
        </p:spPr>
        <p:txBody>
          <a:bodyPr wrap="none" lIns="0" rIns="0" tIns="0" bIns="0" anchor="t">
            <a:noAutofit/>
          </a:bodyPr>
          <a:lstStyle/>
          <a:p>
            <a:pPr>
              <a:lnSpc>
                <a:spcPct val="100000"/>
              </a:lnSpc>
              <a:spcBef>
                <a:spcPts val="0"/>
              </a:spcBef>
              <a:spcAft>
                <a:spcPts val="0"/>
              </a:spcAft>
            </a:pPr>
            <a:r>
              <a:rPr sz="1560" b="0">
                <a:solidFill>
                  <a:srgbClr val="152F27"/>
                </a:solidFill>
                <a:latin typeface="Arial"/>
              </a:rPr>
              <a:t>After the original engineer left, getting help often meant someone learning the script from scratch. I would partner with</a:t>
            </a:r>
          </a:p>
        </p:txBody>
      </p:sp>
      <p:sp>
        <p:nvSpPr>
          <p:cNvPr id="28" name="TextBox 27"/>
          <p:cNvSpPr txBox="1"/>
          <p:nvPr/>
        </p:nvSpPr>
        <p:spPr>
          <a:xfrm>
            <a:off x="777240" y="5325008"/>
            <a:ext cx="10515600" cy="237744"/>
          </a:xfrm>
          <a:prstGeom prst="rect">
            <a:avLst/>
          </a:prstGeom>
          <a:noFill/>
        </p:spPr>
        <p:txBody>
          <a:bodyPr wrap="none" lIns="0" rIns="0" tIns="0" bIns="0" anchor="t">
            <a:noAutofit/>
          </a:bodyPr>
          <a:lstStyle/>
          <a:p>
            <a:pPr>
              <a:lnSpc>
                <a:spcPct val="100000"/>
              </a:lnSpc>
              <a:spcBef>
                <a:spcPts val="0"/>
              </a:spcBef>
              <a:spcAft>
                <a:spcPts val="0"/>
              </a:spcAft>
            </a:pPr>
            <a:r>
              <a:rPr sz="1560" b="0">
                <a:solidFill>
                  <a:srgbClr val="152F27"/>
                </a:solidFill>
                <a:latin typeface="Arial"/>
              </a:rPr>
              <a:t>engineering earlier to establish a backup owner and document the tool as we improved it. That is part of ownership:</a:t>
            </a:r>
          </a:p>
        </p:txBody>
      </p:sp>
      <p:sp>
        <p:nvSpPr>
          <p:cNvPr id="29" name="TextBox 28"/>
          <p:cNvSpPr txBox="1"/>
          <p:nvPr/>
        </p:nvSpPr>
        <p:spPr>
          <a:xfrm>
            <a:off x="777240" y="5568848"/>
            <a:ext cx="10515600" cy="237744"/>
          </a:xfrm>
          <a:prstGeom prst="rect">
            <a:avLst/>
          </a:prstGeom>
          <a:noFill/>
        </p:spPr>
        <p:txBody>
          <a:bodyPr wrap="none" lIns="0" rIns="0" tIns="0" bIns="0" anchor="t">
            <a:noAutofit/>
          </a:bodyPr>
          <a:lstStyle/>
          <a:p>
            <a:pPr>
              <a:lnSpc>
                <a:spcPct val="100000"/>
              </a:lnSpc>
              <a:spcBef>
                <a:spcPts val="0"/>
              </a:spcBef>
              <a:spcAft>
                <a:spcPts val="0"/>
              </a:spcAft>
            </a:pPr>
            <a:r>
              <a:rPr sz="1560" b="0">
                <a:solidFill>
                  <a:srgbClr val="152F27"/>
                </a:solidFill>
                <a:latin typeface="Arial"/>
              </a:rPr>
              <a:t>keeping the workflow supportable when people or teams change.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Launchpad | Account creation at Block</dc:title>
  <dc:subject>Automated account creation at Block</dc:subject>
  <dc:creator>Franklin Waggoner</dc:creator>
  <cp:lastModifiedBy>Franklin Waggoner</cp:lastModifiedBy>
  <cp:revision>1</cp:revision>
  <dcterms:created xsi:type="dcterms:W3CDTF">2026-09-29T18:28:42Z</dcterms:created>
  <dcterms:modified xsi:type="dcterms:W3CDTF">2026-09-29T18:28:42Z</dcterms:modified>
  <dc:description/>
  <cp:keywords>Launchpad, account creation, automation, identity, collaboration</cp:keywords>
  <cp:category>Presentation</cp:category>
  <cp:version/>
</cp:coreProperties>
</file>