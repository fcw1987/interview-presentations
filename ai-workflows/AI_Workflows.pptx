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Block, I initiated two projects to make AI more useful in everyday IT work.</a:t>
            </a:r>
          </a:p>
          <a:p/>
          <a:p>
            <a:r>
              <a:t>For the Jira MCP, I reproduced an inconsistent user mention bug, traced it to account ID parsing, implemented the fix, and tested it with teammates. AI Security reviewed and deployed the change. I then contributed the improvement to the open source Jira MCP project, where the maintainer merged my work.</a:t>
            </a:r>
          </a:p>
          <a:p/>
          <a:p>
            <a:r>
              <a:t>For the IT Support Knowledge Base, I obtained an export of about 500 articles, brought them into GitHub as Markdown, built a documentation site, and tested search and updates through Slack and Goose. My manager and his manager supported the prototype. IT Operations ultimately selected Glean for broader knowledge ingestion.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Block built Goose, and our team was using it with a community Jira MCP before official vendor MCP support was available in our workflow. The MCP carried out Jira actions on behalf of the agent.</a:t>
            </a:r>
          </a:p>
          <a:p/>
          <a:p>
            <a:r>
              <a:t>User mentions behaved inconsistently. Some people appeared as real Jira mentions, while other attempts became plain text. I encountered this myself and used a workaround.</a:t>
            </a:r>
          </a:p>
          <a:p/>
          <a:p>
            <a:r>
              <a:t>IT Support then told me this bug was one reason some coworkers avoided the AI workflow. That made the problem more important to solve. I took ownership of reproducing the failure, finding its cause, and implementing a fix.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worked with one teammate whose mentions worked and another whose mentions failed. I sent test messages, compared the outcomes, and narrowed the difference to the account identifier.</a:t>
            </a:r>
          </a:p>
          <a:p/>
          <a:p>
            <a:r>
              <a:t>The pattern aligned with our Jira Cloud migration. Earlier accounts could be mentioned. Employees who joined after that migration had a newer account ID format containing a colon, and that format was being misparsed by our Jira MCP.</a:t>
            </a:r>
          </a:p>
          <a:p/>
          <a:p>
            <a:r>
              <a:t>Once I had a reproducible difference between the two inputs, I inspected the mention parsing logic. The colon gave me a specific character to trace through the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mention parser used a regular expression to recognize user identifiers. Its allowed characters excluded the colon present in the affected Jira Cloud account IDs. Those identifiers fell through to plain text.</a:t>
            </a:r>
          </a:p>
          <a:p/>
          <a:p>
            <a:r>
              <a:t>I added the colon to the character set and included other missing characters. The core fix was a focused change to the matching pattern.</a:t>
            </a:r>
          </a:p>
          <a:p/>
          <a:p>
            <a:r>
              <a:t>The example on this slide shows why it worked: including the colon allows the full identifier to match. I retested both account formats with the same teammates. The earlier format continued to work, and the previously failing format produced a Jira mention.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changed the parser and retested the mention behavior with the teammates involved in the investigation. I checked that both the previously working account format and the affected Jira Cloud format produced the expected mentions.</a:t>
            </a:r>
          </a:p>
          <a:p/>
          <a:p>
            <a:r>
              <a:t>I brought the tested change to AI Security, who reviewed it and deployed it at Block. The previously failing mentions worked in production.</a:t>
            </a:r>
          </a:p>
          <a:p/>
          <a:p>
            <a:r>
              <a:t>I had taken a frustrating tool behavior through reproduction, diagnosis, implementation, and validation. The result removed a specific bug that IT Support had identified as a barrier to using the workflow.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internal fix, I contributed a related change to the open source Jira MCP project using my personal GitHub account. The maintainer merged it, making this my first accepted open source contribution.</a:t>
            </a:r>
          </a:p>
          <a:p/>
          <a:p>
            <a:r>
              <a:t>Pull request #12 in George5562/Jira-MCP-Server was merged on September 8, 2025. The public contribution expands Jira Cloud mention parsing and converts the result into Atlassian Document Format mention nodes. The pattern shown here captures the identifier value, including a colon within it.</a:t>
            </a:r>
          </a:p>
          <a:p/>
          <a:p>
            <a:r>
              <a:t>This was a meaningful way to give back to a tool our team was already benefiting from. It also made me more attentive to opportunities to contribute fixes to other open source tools.</a:t>
            </a:r>
          </a:p>
          <a:p/>
          <a:p>
            <a:r>
              <a:t>Public pull request: https://github.com/George5562/Jira-MCP-Server/pull/12/files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project focused on the IT Support Knowledge Base. Notion’s available MCP and API access created friction: I had to export PDFs, copy text, or use screenshots to provide context to an AI agent. The integration available to us also granted broad access across shared content. We needed it to honor each reader’s permissions.</a:t>
            </a:r>
          </a:p>
          <a:p/>
          <a:p>
            <a:r>
              <a:t>Our knowledge management team had built a well curated Notion experience, with drafts reviewed before publication. I wanted to carry that curation into an AI native workflow.</a:t>
            </a:r>
          </a:p>
          <a:p/>
          <a:p>
            <a:r>
              <a:t>Cash App and Goose engineering guides showed what GitHub hosted documentation could look like. Engineers were already connecting Slack and AI tools to their work. I saw an opportunity to bring the IT Support Knowledge Base into that same pattern.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proposed GitHub as the home for the IT Support Knowledge Base, with Markdown as the source and a documentation site for readers. Goose would let us find information and describe article changes from Slack or the Goose app.</a:t>
            </a:r>
          </a:p>
          <a:p/>
          <a:p>
            <a:r>
              <a:t>Our existing knowledge process already involved drafting an article, reviewing it, and approving it for publication. I mapped that process to a proposed pull request workflow. A diff would show the change, and the knowledge management team would continue to approve or refine the content.</a:t>
            </a:r>
          </a:p>
          <a:p/>
          <a:p>
            <a:r>
              <a:t>I tested search and article updates in the prototype. The review and publishing flow shown here was the model I proposed for extending it.</a:t>
            </a:r>
          </a:p>
          <a:p/>
          <a:p>
            <a:r>
              <a:t>GitHub was already a platform Block depended on. That made it a practical place to explore an AI native knowledge workflow alongside the engineering documentation that inspired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IT Support Knowledge Base contained about 500 articles. Obtaining the export was the first practical obstacle, so I worked directly with Notion support to get the source material.</a:t>
            </a:r>
          </a:p>
          <a:p/>
          <a:p>
            <a:r>
              <a:t>I brought the exported articles into GitHub as Markdown and built a Docusaurus style documentation site around them. The prototype used our actual support content and gave me a working foundation for testing the AI workflow.</a:t>
            </a:r>
          </a:p>
          <a:p/>
          <a:p>
            <a:r>
              <a:t>I began functional testing with a focused selection of articles covering common IT tasks. That let me check whether Goose could search the content and apply useful updates from the places we already worked.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tested selected articles through the Goose bot in Slack and in Goose itself. I focused on two everyday actions: finding the information needed to answer a support question and updating an article when a step changed.</a:t>
            </a:r>
          </a:p>
          <a:p/>
          <a:p>
            <a:r>
              <a:t>For search, I asked Goose to find relevant information and checked the content it returned. For updates, I described a change and checked the resulting Markdown. Printer setup and WiFi guidance were useful examples of familiar support tasks.</a:t>
            </a:r>
          </a:p>
          <a:p/>
          <a:p>
            <a:r>
              <a:t>Both behaviors worked well on the selected content. The prototype demonstrated a useful connection between our knowledge source and the conversations where support work happened.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manager liked the prototype, and we presented it to his manager, who also supported the idea. I gave leadership a working example of how the IT Support Knowledge Base could be searched and updated through Goose.</a:t>
            </a:r>
          </a:p>
          <a:p/>
          <a:p>
            <a:r>
              <a:t>The knowledge management team had invested in the existing experience. Their review and curation remained central to the workflow I proposed.</a:t>
            </a:r>
          </a:p>
          <a:p/>
          <a:p>
            <a:r>
              <a:t>IT Operations ultimately selected Glean. It supported a broader range of documentation sources and could stay current as people updated the original content. The GitHub work remained a tested prototype, while Glean became the direction for knowledge ingestion.</a:t>
            </a:r>
          </a:p>
          <a:p/>
          <a:p>
            <a:r>
              <a:t>The prototype demonstrated another way to connect AI with support knowledge and gave the team a concrete alternative to evaluate.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The shared lesson is to make the problem specific enough to investigate and the result concrete enough to test. A small parsing change and a working knowledge prototype both started with something I wanted to make better in daily IT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George5562/Jira-MCP-Server/pull/12/files"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579120" y="624840"/>
            <a:ext cx="9906000" cy="1417929"/>
          </a:xfrm>
          <a:prstGeom prst="rect">
            <a:avLst/>
          </a:prstGeom>
          <a:noFill/>
          <a:effectLst/>
        </p:spPr>
        <p:txBody>
          <a:bodyPr wrap="none" lIns="0" rIns="0" tIns="0" bIns="0" anchor="t">
            <a:spAutoFit/>
          </a:bodyPr>
          <a:lstStyle/>
          <a:p>
            <a:pPr algn="l">
              <a:lnSpc>
                <a:spcPts val="5342"/>
              </a:lnSpc>
              <a:spcBef>
                <a:spcPts val="0"/>
              </a:spcBef>
              <a:spcAft>
                <a:spcPts val="0"/>
              </a:spcAft>
            </a:pPr>
            <a:r>
              <a:rPr sz="5040" b="1">
                <a:solidFill>
                  <a:srgbClr val="152F27"/>
                </a:solidFill>
                <a:latin typeface="Arial"/>
              </a:rPr>
              <a:t>Making AI useful</a:t>
            </a:r>
          </a:p>
          <a:p>
            <a:pPr algn="l">
              <a:lnSpc>
                <a:spcPts val="5342"/>
              </a:lnSpc>
              <a:spcBef>
                <a:spcPts val="0"/>
              </a:spcBef>
              <a:spcAft>
                <a:spcPts val="0"/>
              </a:spcAft>
            </a:pPr>
            <a:r>
              <a:rPr sz="5040" b="1">
                <a:solidFill>
                  <a:srgbClr val="152F27"/>
                </a:solidFill>
                <a:latin typeface="Arial"/>
              </a:rPr>
              <a:t>in everyday IT.</a:t>
            </a:r>
          </a:p>
        </p:txBody>
      </p:sp>
      <p:sp>
        <p:nvSpPr>
          <p:cNvPr id="3" name="TextBox 2"/>
          <p:cNvSpPr txBox="1"/>
          <p:nvPr/>
        </p:nvSpPr>
        <p:spPr>
          <a:xfrm>
            <a:off x="609600" y="2217420"/>
            <a:ext cx="9906000" cy="370636"/>
          </a:xfrm>
          <a:prstGeom prst="rect">
            <a:avLst/>
          </a:prstGeom>
          <a:noFill/>
          <a:effectLst/>
        </p:spPr>
        <p:txBody>
          <a:bodyPr wrap="none" lIns="0" rIns="0" tIns="0" bIns="0" anchor="t">
            <a:spAutoFit/>
          </a:bodyPr>
          <a:lstStyle/>
          <a:p>
            <a:pPr algn="l">
              <a:lnSpc>
                <a:spcPts val="2438"/>
              </a:lnSpc>
              <a:spcBef>
                <a:spcPts val="0"/>
              </a:spcBef>
              <a:spcAft>
                <a:spcPts val="0"/>
              </a:spcAft>
            </a:pPr>
            <a:r>
              <a:rPr sz="1920" b="0">
                <a:solidFill>
                  <a:srgbClr val="586B62"/>
                </a:solidFill>
                <a:latin typeface="Arial"/>
              </a:rPr>
              <a:t>Two projects I initiated and built at Block.</a:t>
            </a:r>
          </a:p>
        </p:txBody>
      </p:sp>
      <p:cxnSp>
        <p:nvCxnSpPr>
          <p:cNvPr id="4" name="Connector 3"/>
          <p:cNvCxnSpPr/>
          <p:nvPr/>
        </p:nvCxnSpPr>
        <p:spPr>
          <a:xfrm>
            <a:off x="594360" y="2796540"/>
            <a:ext cx="11018520" cy="0"/>
          </a:xfrm>
          <a:prstGeom prst="line">
            <a:avLst/>
          </a:prstGeom>
          <a:ln w="15240">
            <a:solidFill>
              <a:srgbClr val="D2DCD3"/>
            </a:solidFill>
          </a:ln>
          <a:effectLst/>
        </p:spPr>
      </p:cxnSp>
      <p:sp>
        <p:nvSpPr>
          <p:cNvPr id="5" name="TextBox 4"/>
          <p:cNvSpPr txBox="1"/>
          <p:nvPr/>
        </p:nvSpPr>
        <p:spPr>
          <a:xfrm>
            <a:off x="594360" y="3131820"/>
            <a:ext cx="1295400" cy="680313"/>
          </a:xfrm>
          <a:prstGeom prst="rect">
            <a:avLst/>
          </a:prstGeom>
          <a:noFill/>
          <a:effectLst/>
        </p:spPr>
        <p:txBody>
          <a:bodyPr wrap="none" lIns="0" rIns="0" tIns="0" bIns="0" anchor="t">
            <a:spAutoFit/>
          </a:bodyPr>
          <a:lstStyle/>
          <a:p>
            <a:pPr algn="l">
              <a:lnSpc>
                <a:spcPts val="4876"/>
              </a:lnSpc>
              <a:spcBef>
                <a:spcPts val="0"/>
              </a:spcBef>
              <a:spcAft>
                <a:spcPts val="0"/>
              </a:spcAft>
            </a:pPr>
            <a:r>
              <a:rPr sz="3840" b="0">
                <a:solidFill>
                  <a:srgbClr val="176C4B"/>
                </a:solidFill>
                <a:latin typeface="Arial"/>
              </a:rPr>
              <a:t>01</a:t>
            </a:r>
          </a:p>
        </p:txBody>
      </p:sp>
      <p:sp>
        <p:nvSpPr>
          <p:cNvPr id="6" name="TextBox 5"/>
          <p:cNvSpPr txBox="1"/>
          <p:nvPr/>
        </p:nvSpPr>
        <p:spPr>
          <a:xfrm>
            <a:off x="594360" y="3863339"/>
            <a:ext cx="4914900" cy="405688"/>
          </a:xfrm>
          <a:prstGeom prst="rect">
            <a:avLst/>
          </a:prstGeom>
          <a:noFill/>
          <a:effectLst/>
        </p:spPr>
        <p:txBody>
          <a:bodyPr wrap="none" lIns="0" rIns="0" tIns="0" bIns="0" anchor="t">
            <a:spAutoFit/>
          </a:bodyPr>
          <a:lstStyle/>
          <a:p>
            <a:pPr algn="l">
              <a:lnSpc>
                <a:spcPts val="2714"/>
              </a:lnSpc>
              <a:spcBef>
                <a:spcPts val="0"/>
              </a:spcBef>
              <a:spcAft>
                <a:spcPts val="0"/>
              </a:spcAft>
            </a:pPr>
            <a:r>
              <a:rPr sz="2340" b="1">
                <a:solidFill>
                  <a:srgbClr val="152F27"/>
                </a:solidFill>
                <a:latin typeface="Arial"/>
              </a:rPr>
              <a:t>Reliable Jira MCP mentions</a:t>
            </a:r>
          </a:p>
        </p:txBody>
      </p:sp>
      <p:sp>
        <p:nvSpPr>
          <p:cNvPr id="7" name="TextBox 6"/>
          <p:cNvSpPr txBox="1"/>
          <p:nvPr/>
        </p:nvSpPr>
        <p:spPr>
          <a:xfrm>
            <a:off x="594360" y="4419600"/>
            <a:ext cx="4914900" cy="644347"/>
          </a:xfrm>
          <a:prstGeom prst="rect">
            <a:avLst/>
          </a:prstGeom>
          <a:noFill/>
          <a:effectLst/>
        </p:spPr>
        <p:txBody>
          <a:bodyPr wrap="none" lIns="0" rIns="0" tIns="0" bIns="0" anchor="t">
            <a:spAutoFit/>
          </a:bodyPr>
          <a:lstStyle/>
          <a:p>
            <a:pPr algn="l">
              <a:lnSpc>
                <a:spcPts val="2296"/>
              </a:lnSpc>
              <a:spcBef>
                <a:spcPts val="0"/>
              </a:spcBef>
              <a:spcAft>
                <a:spcPts val="0"/>
              </a:spcAft>
            </a:pPr>
            <a:r>
              <a:rPr sz="1739" b="0">
                <a:solidFill>
                  <a:srgbClr val="152F27"/>
                </a:solidFill>
                <a:latin typeface="Arial"/>
              </a:rPr>
              <a:t>I diagnosed and fixed a user mention bug, then</a:t>
            </a:r>
          </a:p>
          <a:p>
            <a:pPr algn="l">
              <a:lnSpc>
                <a:spcPts val="2296"/>
              </a:lnSpc>
              <a:spcBef>
                <a:spcPts val="0"/>
              </a:spcBef>
              <a:spcAft>
                <a:spcPts val="0"/>
              </a:spcAft>
            </a:pPr>
            <a:r>
              <a:rPr sz="1739" b="0">
                <a:solidFill>
                  <a:srgbClr val="152F27"/>
                </a:solidFill>
                <a:latin typeface="Arial"/>
              </a:rPr>
              <a:t>contributed to the open source Jira MCP project.</a:t>
            </a:r>
          </a:p>
        </p:txBody>
      </p:sp>
      <p:sp>
        <p:nvSpPr>
          <p:cNvPr id="8" name="TextBox 7"/>
          <p:cNvSpPr txBox="1"/>
          <p:nvPr/>
        </p:nvSpPr>
        <p:spPr>
          <a:xfrm>
            <a:off x="594360" y="5768340"/>
            <a:ext cx="4914900" cy="235153"/>
          </a:xfrm>
          <a:prstGeom prst="rect">
            <a:avLst/>
          </a:prstGeom>
          <a:noFill/>
          <a:effectLst/>
        </p:spPr>
        <p:txBody>
          <a:bodyPr wrap="none" lIns="0" rIns="0" tIns="0" bIns="0" anchor="t">
            <a:spAutoFit/>
          </a:bodyPr>
          <a:lstStyle/>
          <a:p>
            <a:pPr algn="l">
              <a:lnSpc>
                <a:spcPts val="1371"/>
              </a:lnSpc>
              <a:spcBef>
                <a:spcPts val="0"/>
              </a:spcBef>
              <a:spcAft>
                <a:spcPts val="0"/>
              </a:spcAft>
            </a:pPr>
            <a:r>
              <a:rPr sz="1080" b="1">
                <a:solidFill>
                  <a:srgbClr val="176C4B"/>
                </a:solidFill>
                <a:latin typeface="Arial"/>
              </a:rPr>
              <a:t>FIX DEPLOYED + OPEN SOURCE MERGED</a:t>
            </a:r>
          </a:p>
        </p:txBody>
      </p:sp>
      <p:sp>
        <p:nvSpPr>
          <p:cNvPr id="9" name="TextBox 8"/>
          <p:cNvSpPr txBox="1"/>
          <p:nvPr/>
        </p:nvSpPr>
        <p:spPr>
          <a:xfrm>
            <a:off x="6347460" y="3131820"/>
            <a:ext cx="1295400" cy="680313"/>
          </a:xfrm>
          <a:prstGeom prst="rect">
            <a:avLst/>
          </a:prstGeom>
          <a:noFill/>
          <a:effectLst/>
        </p:spPr>
        <p:txBody>
          <a:bodyPr wrap="none" lIns="0" rIns="0" tIns="0" bIns="0" anchor="t">
            <a:spAutoFit/>
          </a:bodyPr>
          <a:lstStyle/>
          <a:p>
            <a:pPr algn="l">
              <a:lnSpc>
                <a:spcPts val="4876"/>
              </a:lnSpc>
              <a:spcBef>
                <a:spcPts val="0"/>
              </a:spcBef>
              <a:spcAft>
                <a:spcPts val="0"/>
              </a:spcAft>
            </a:pPr>
            <a:r>
              <a:rPr sz="3840" b="0">
                <a:solidFill>
                  <a:srgbClr val="176C4B"/>
                </a:solidFill>
                <a:latin typeface="Arial"/>
              </a:rPr>
              <a:t>02</a:t>
            </a:r>
          </a:p>
        </p:txBody>
      </p:sp>
      <p:sp>
        <p:nvSpPr>
          <p:cNvPr id="10" name="TextBox 9"/>
          <p:cNvSpPr txBox="1"/>
          <p:nvPr/>
        </p:nvSpPr>
        <p:spPr>
          <a:xfrm>
            <a:off x="6347460" y="3863339"/>
            <a:ext cx="4914900" cy="405688"/>
          </a:xfrm>
          <a:prstGeom prst="rect">
            <a:avLst/>
          </a:prstGeom>
          <a:noFill/>
          <a:effectLst/>
        </p:spPr>
        <p:txBody>
          <a:bodyPr wrap="none" lIns="0" rIns="0" tIns="0" bIns="0" anchor="t">
            <a:spAutoFit/>
          </a:bodyPr>
          <a:lstStyle/>
          <a:p>
            <a:pPr algn="l">
              <a:lnSpc>
                <a:spcPts val="2714"/>
              </a:lnSpc>
              <a:spcBef>
                <a:spcPts val="0"/>
              </a:spcBef>
              <a:spcAft>
                <a:spcPts val="0"/>
              </a:spcAft>
            </a:pPr>
            <a:r>
              <a:rPr sz="2340" b="1">
                <a:solidFill>
                  <a:srgbClr val="152F27"/>
                </a:solidFill>
                <a:latin typeface="Arial"/>
              </a:rPr>
              <a:t>Knowledge that works with AI</a:t>
            </a:r>
          </a:p>
        </p:txBody>
      </p:sp>
      <p:sp>
        <p:nvSpPr>
          <p:cNvPr id="11" name="TextBox 10"/>
          <p:cNvSpPr txBox="1"/>
          <p:nvPr/>
        </p:nvSpPr>
        <p:spPr>
          <a:xfrm>
            <a:off x="6347460" y="4419600"/>
            <a:ext cx="4914900" cy="644347"/>
          </a:xfrm>
          <a:prstGeom prst="rect">
            <a:avLst/>
          </a:prstGeom>
          <a:noFill/>
          <a:effectLst/>
        </p:spPr>
        <p:txBody>
          <a:bodyPr wrap="none" lIns="0" rIns="0" tIns="0" bIns="0" anchor="t">
            <a:spAutoFit/>
          </a:bodyPr>
          <a:lstStyle/>
          <a:p>
            <a:pPr algn="l">
              <a:lnSpc>
                <a:spcPts val="2296"/>
              </a:lnSpc>
              <a:spcBef>
                <a:spcPts val="0"/>
              </a:spcBef>
              <a:spcAft>
                <a:spcPts val="0"/>
              </a:spcAft>
            </a:pPr>
            <a:r>
              <a:rPr sz="1739" b="0">
                <a:solidFill>
                  <a:srgbClr val="152F27"/>
                </a:solidFill>
                <a:latin typeface="Arial"/>
              </a:rPr>
              <a:t>I built a GitHub knowledge base that Goose could</a:t>
            </a:r>
          </a:p>
          <a:p>
            <a:pPr algn="l">
              <a:lnSpc>
                <a:spcPts val="2296"/>
              </a:lnSpc>
              <a:spcBef>
                <a:spcPts val="0"/>
              </a:spcBef>
              <a:spcAft>
                <a:spcPts val="0"/>
              </a:spcAft>
            </a:pPr>
            <a:r>
              <a:rPr sz="1739" b="0">
                <a:solidFill>
                  <a:srgbClr val="152F27"/>
                </a:solidFill>
                <a:latin typeface="Arial"/>
              </a:rPr>
              <a:t>search and update from Slack.</a:t>
            </a:r>
          </a:p>
        </p:txBody>
      </p:sp>
      <p:sp>
        <p:nvSpPr>
          <p:cNvPr id="12" name="TextBox 11"/>
          <p:cNvSpPr txBox="1"/>
          <p:nvPr/>
        </p:nvSpPr>
        <p:spPr>
          <a:xfrm>
            <a:off x="6347460" y="5768340"/>
            <a:ext cx="4914900" cy="235153"/>
          </a:xfrm>
          <a:prstGeom prst="rect">
            <a:avLst/>
          </a:prstGeom>
          <a:noFill/>
          <a:effectLst/>
        </p:spPr>
        <p:txBody>
          <a:bodyPr wrap="none" lIns="0" rIns="0" tIns="0" bIns="0" anchor="t">
            <a:spAutoFit/>
          </a:bodyPr>
          <a:lstStyle/>
          <a:p>
            <a:pPr algn="l">
              <a:lnSpc>
                <a:spcPts val="1371"/>
              </a:lnSpc>
              <a:spcBef>
                <a:spcPts val="0"/>
              </a:spcBef>
              <a:spcAft>
                <a:spcPts val="0"/>
              </a:spcAft>
            </a:pPr>
            <a:r>
              <a:rPr sz="1080" b="1">
                <a:solidFill>
                  <a:srgbClr val="176C4B"/>
                </a:solidFill>
                <a:latin typeface="Arial"/>
              </a:rPr>
              <a:t>PROTOTYPE BUILT + TESTED</a:t>
            </a:r>
          </a:p>
        </p:txBody>
      </p:sp>
      <p:cxnSp>
        <p:nvCxnSpPr>
          <p:cNvPr id="13" name="Connector 12"/>
          <p:cNvCxnSpPr/>
          <p:nvPr/>
        </p:nvCxnSpPr>
        <p:spPr>
          <a:xfrm>
            <a:off x="5989320" y="3131820"/>
            <a:ext cx="0" cy="2895600"/>
          </a:xfrm>
          <a:prstGeom prst="line">
            <a:avLst/>
          </a:prstGeom>
          <a:ln w="15240">
            <a:solidFill>
              <a:srgbClr val="D2DCD3"/>
            </a:solidFill>
          </a:ln>
          <a:effectLst/>
        </p:spPr>
      </p:cxnSp>
      <p:cxnSp>
        <p:nvCxnSpPr>
          <p:cNvPr id="14" name="Connector 13"/>
          <p:cNvCxnSpPr/>
          <p:nvPr/>
        </p:nvCxnSpPr>
        <p:spPr>
          <a:xfrm>
            <a:off x="579120" y="6347460"/>
            <a:ext cx="11033760" cy="0"/>
          </a:xfrm>
          <a:prstGeom prst="line">
            <a:avLst/>
          </a:prstGeom>
          <a:ln w="7620">
            <a:solidFill>
              <a:srgbClr val="D2DCD3"/>
            </a:solidFill>
          </a:ln>
          <a:effectLst/>
        </p:spPr>
      </p:cxnSp>
      <p:sp>
        <p:nvSpPr>
          <p:cNvPr id="15" name="TextBox 14"/>
          <p:cNvSpPr txBox="1"/>
          <p:nvPr/>
        </p:nvSpPr>
        <p:spPr>
          <a:xfrm>
            <a:off x="594360" y="6484620"/>
            <a:ext cx="89916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0">
                <a:solidFill>
                  <a:srgbClr val="586B62"/>
                </a:solidFill>
                <a:latin typeface="Arial"/>
              </a:rPr>
              <a:t>FRANKLIN WAGGONER / AI IN EVERYDAY IT</a:t>
            </a:r>
          </a:p>
        </p:txBody>
      </p:sp>
      <p:sp>
        <p:nvSpPr>
          <p:cNvPr id="16" name="TextBox 15"/>
          <p:cNvSpPr txBox="1"/>
          <p:nvPr/>
        </p:nvSpPr>
        <p:spPr>
          <a:xfrm>
            <a:off x="10591800" y="6484620"/>
            <a:ext cx="1021080" cy="215798"/>
          </a:xfrm>
          <a:prstGeom prst="rect">
            <a:avLst/>
          </a:prstGeom>
          <a:noFill/>
          <a:effectLst/>
        </p:spPr>
        <p:txBody>
          <a:bodyPr wrap="none" lIns="0" rIns="0" tIns="0" bIns="0" anchor="t">
            <a:spAutoFit/>
          </a:bodyPr>
          <a:lstStyle/>
          <a:p>
            <a:pPr algn="r">
              <a:lnSpc>
                <a:spcPts val="1219"/>
              </a:lnSpc>
              <a:spcBef>
                <a:spcPts val="0"/>
              </a:spcBef>
              <a:spcAft>
                <a:spcPts val="0"/>
              </a:spcAft>
            </a:pPr>
            <a:r>
              <a:rPr sz="960" b="0">
                <a:solidFill>
                  <a:srgbClr val="586B62"/>
                </a:solidFill>
                <a:latin typeface="Arial"/>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594360" y="327660"/>
            <a:ext cx="106680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1">
                <a:solidFill>
                  <a:srgbClr val="176C4B"/>
                </a:solidFill>
                <a:latin typeface="Arial"/>
              </a:rPr>
              <a:t>01 / JIRA MCP</a:t>
            </a:r>
          </a:p>
        </p:txBody>
      </p:sp>
      <p:sp>
        <p:nvSpPr>
          <p:cNvPr id="3" name="TextBox 2"/>
          <p:cNvSpPr txBox="1"/>
          <p:nvPr/>
        </p:nvSpPr>
        <p:spPr>
          <a:xfrm>
            <a:off x="579120" y="693420"/>
            <a:ext cx="11033760" cy="517321"/>
          </a:xfrm>
          <a:prstGeom prst="rect">
            <a:avLst/>
          </a:prstGeom>
          <a:noFill/>
          <a:effectLst/>
        </p:spPr>
        <p:txBody>
          <a:bodyPr wrap="none" lIns="0" rIns="0" tIns="0" bIns="0" anchor="t">
            <a:spAutoFit/>
          </a:bodyPr>
          <a:lstStyle/>
          <a:p>
            <a:pPr algn="l">
              <a:lnSpc>
                <a:spcPts val="3593"/>
              </a:lnSpc>
              <a:spcBef>
                <a:spcPts val="0"/>
              </a:spcBef>
              <a:spcAft>
                <a:spcPts val="0"/>
              </a:spcAft>
            </a:pPr>
            <a:r>
              <a:rPr sz="3179" b="1">
                <a:solidFill>
                  <a:srgbClr val="152F27"/>
                </a:solidFill>
                <a:latin typeface="Arial"/>
              </a:rPr>
              <a:t>Some Jira MCP mentions became plain text.</a:t>
            </a:r>
          </a:p>
        </p:txBody>
      </p:sp>
      <p:sp>
        <p:nvSpPr>
          <p:cNvPr id="4" name="TextBox 3"/>
          <p:cNvSpPr txBox="1"/>
          <p:nvPr/>
        </p:nvSpPr>
        <p:spPr>
          <a:xfrm>
            <a:off x="594360" y="1287780"/>
            <a:ext cx="10934700" cy="325526"/>
          </a:xfrm>
          <a:prstGeom prst="rect">
            <a:avLst/>
          </a:prstGeom>
          <a:noFill/>
          <a:effectLst/>
        </p:spPr>
        <p:txBody>
          <a:bodyPr wrap="none" lIns="0" rIns="0" tIns="0" bIns="0" anchor="t">
            <a:spAutoFit/>
          </a:bodyPr>
          <a:lstStyle/>
          <a:p>
            <a:pPr algn="l">
              <a:lnSpc>
                <a:spcPts val="2083"/>
              </a:lnSpc>
              <a:spcBef>
                <a:spcPts val="0"/>
              </a:spcBef>
              <a:spcAft>
                <a:spcPts val="0"/>
              </a:spcAft>
            </a:pPr>
            <a:r>
              <a:rPr sz="1680" b="0">
                <a:solidFill>
                  <a:srgbClr val="586B62"/>
                </a:solidFill>
                <a:latin typeface="Arial"/>
              </a:rPr>
              <a:t>The same action worked for one teammate and failed for another.</a:t>
            </a:r>
          </a:p>
        </p:txBody>
      </p:sp>
      <p:sp>
        <p:nvSpPr>
          <p:cNvPr id="5" name="Rounded Rectangle 4"/>
          <p:cNvSpPr/>
          <p:nvPr/>
        </p:nvSpPr>
        <p:spPr>
          <a:xfrm>
            <a:off x="594360" y="2225040"/>
            <a:ext cx="3238500" cy="1310640"/>
          </a:xfrm>
          <a:prstGeom prst="roundRect">
            <a:avLst>
              <a:gd name="adj" fmla="val 4651"/>
            </a:avLst>
          </a:prstGeom>
          <a:solidFill>
            <a:srgbClr val="FFFFFF"/>
          </a:solidFill>
          <a:ln w="12192">
            <a:solidFill>
              <a:srgbClr val="D2DCD3"/>
            </a:solidFill>
          </a:ln>
          <a:effectLst/>
        </p:spPr>
        <p:txBody>
          <a:bodyPr rtlCol="0" anchor="ctr"/>
          <a:lstStyle/>
          <a:p>
            <a:pPr algn="ctr"/>
          </a:p>
        </p:txBody>
      </p:sp>
      <p:sp>
        <p:nvSpPr>
          <p:cNvPr id="6" name="TextBox 5"/>
          <p:cNvSpPr txBox="1"/>
          <p:nvPr/>
        </p:nvSpPr>
        <p:spPr>
          <a:xfrm>
            <a:off x="777240" y="2392680"/>
            <a:ext cx="2872740" cy="338937"/>
          </a:xfrm>
          <a:prstGeom prst="rect">
            <a:avLst/>
          </a:prstGeom>
          <a:noFill/>
          <a:effectLst/>
        </p:spPr>
        <p:txBody>
          <a:bodyPr wrap="none" lIns="0" rIns="0" tIns="0" bIns="0" anchor="t">
            <a:spAutoFit/>
          </a:bodyPr>
          <a:lstStyle/>
          <a:p>
            <a:pPr algn="l">
              <a:lnSpc>
                <a:spcPts val="2188"/>
              </a:lnSpc>
              <a:spcBef>
                <a:spcPts val="0"/>
              </a:spcBef>
              <a:spcAft>
                <a:spcPts val="0"/>
              </a:spcAft>
            </a:pPr>
            <a:r>
              <a:rPr sz="1920" b="1">
                <a:solidFill>
                  <a:srgbClr val="152F27"/>
                </a:solidFill>
                <a:latin typeface="Arial"/>
              </a:rPr>
              <a:t>Goose</a:t>
            </a:r>
          </a:p>
        </p:txBody>
      </p:sp>
      <p:sp>
        <p:nvSpPr>
          <p:cNvPr id="7" name="TextBox 6"/>
          <p:cNvSpPr txBox="1"/>
          <p:nvPr/>
        </p:nvSpPr>
        <p:spPr>
          <a:xfrm>
            <a:off x="777240" y="2784957"/>
            <a:ext cx="2872740" cy="295275"/>
          </a:xfrm>
          <a:prstGeom prst="rect">
            <a:avLst/>
          </a:prstGeom>
          <a:noFill/>
          <a:effectLst/>
        </p:spPr>
        <p:txBody>
          <a:bodyPr wrap="none" lIns="0" rIns="0" tIns="0" bIns="0" anchor="t">
            <a:spAutoFit/>
          </a:bodyPr>
          <a:lstStyle/>
          <a:p>
            <a:pPr algn="l">
              <a:lnSpc>
                <a:spcPts val="1845"/>
              </a:lnSpc>
              <a:spcBef>
                <a:spcPts val="0"/>
              </a:spcBef>
              <a:spcAft>
                <a:spcPts val="0"/>
              </a:spcAft>
            </a:pPr>
            <a:r>
              <a:rPr sz="1500" b="0">
                <a:solidFill>
                  <a:srgbClr val="586B62"/>
                </a:solidFill>
                <a:latin typeface="Arial"/>
              </a:rPr>
              <a:t>Block’s AI assistant.</a:t>
            </a:r>
          </a:p>
        </p:txBody>
      </p:sp>
      <p:sp>
        <p:nvSpPr>
          <p:cNvPr id="8" name="Rounded Rectangle 7"/>
          <p:cNvSpPr/>
          <p:nvPr/>
        </p:nvSpPr>
        <p:spPr>
          <a:xfrm>
            <a:off x="4404360" y="2225040"/>
            <a:ext cx="3352800" cy="1310640"/>
          </a:xfrm>
          <a:prstGeom prst="roundRect">
            <a:avLst>
              <a:gd name="adj" fmla="val 4651"/>
            </a:avLst>
          </a:prstGeom>
          <a:solidFill>
            <a:srgbClr val="E4F0E6"/>
          </a:solidFill>
          <a:ln w="12192">
            <a:solidFill>
              <a:srgbClr val="176C4B"/>
            </a:solidFill>
          </a:ln>
          <a:effectLst/>
        </p:spPr>
        <p:txBody>
          <a:bodyPr rtlCol="0" anchor="ctr"/>
          <a:lstStyle/>
          <a:p>
            <a:pPr algn="ctr"/>
          </a:p>
        </p:txBody>
      </p:sp>
      <p:sp>
        <p:nvSpPr>
          <p:cNvPr id="9" name="TextBox 8"/>
          <p:cNvSpPr txBox="1"/>
          <p:nvPr/>
        </p:nvSpPr>
        <p:spPr>
          <a:xfrm>
            <a:off x="4587240" y="2392680"/>
            <a:ext cx="2987040" cy="338937"/>
          </a:xfrm>
          <a:prstGeom prst="rect">
            <a:avLst/>
          </a:prstGeom>
          <a:noFill/>
          <a:effectLst/>
        </p:spPr>
        <p:txBody>
          <a:bodyPr wrap="none" lIns="0" rIns="0" tIns="0" bIns="0" anchor="t">
            <a:spAutoFit/>
          </a:bodyPr>
          <a:lstStyle/>
          <a:p>
            <a:pPr algn="l">
              <a:lnSpc>
                <a:spcPts val="2188"/>
              </a:lnSpc>
              <a:spcBef>
                <a:spcPts val="0"/>
              </a:spcBef>
              <a:spcAft>
                <a:spcPts val="0"/>
              </a:spcAft>
            </a:pPr>
            <a:r>
              <a:rPr sz="1920" b="1">
                <a:solidFill>
                  <a:srgbClr val="176C4B"/>
                </a:solidFill>
                <a:latin typeface="Arial"/>
              </a:rPr>
              <a:t>Community Jira MCP</a:t>
            </a:r>
          </a:p>
        </p:txBody>
      </p:sp>
      <p:sp>
        <p:nvSpPr>
          <p:cNvPr id="10" name="TextBox 9"/>
          <p:cNvSpPr txBox="1"/>
          <p:nvPr/>
        </p:nvSpPr>
        <p:spPr>
          <a:xfrm>
            <a:off x="4587240" y="2784957"/>
            <a:ext cx="2987040" cy="529590"/>
          </a:xfrm>
          <a:prstGeom prst="rect">
            <a:avLst/>
          </a:prstGeom>
          <a:noFill/>
          <a:effectLst/>
        </p:spPr>
        <p:txBody>
          <a:bodyPr wrap="none" lIns="0" rIns="0" tIns="0" bIns="0" anchor="t">
            <a:spAutoFit/>
          </a:bodyPr>
          <a:lstStyle/>
          <a:p>
            <a:pPr algn="l">
              <a:lnSpc>
                <a:spcPts val="1845"/>
              </a:lnSpc>
              <a:spcBef>
                <a:spcPts val="0"/>
              </a:spcBef>
              <a:spcAft>
                <a:spcPts val="0"/>
              </a:spcAft>
            </a:pPr>
            <a:r>
              <a:rPr sz="1500" b="0">
                <a:solidFill>
                  <a:srgbClr val="586B62"/>
                </a:solidFill>
                <a:latin typeface="Arial"/>
              </a:rPr>
              <a:t>Parse mentions and perform Jira</a:t>
            </a:r>
          </a:p>
          <a:p>
            <a:pPr algn="l">
              <a:lnSpc>
                <a:spcPts val="1845"/>
              </a:lnSpc>
              <a:spcBef>
                <a:spcPts val="0"/>
              </a:spcBef>
              <a:spcAft>
                <a:spcPts val="0"/>
              </a:spcAft>
            </a:pPr>
            <a:r>
              <a:rPr sz="1500" b="0">
                <a:solidFill>
                  <a:srgbClr val="586B62"/>
                </a:solidFill>
                <a:latin typeface="Arial"/>
              </a:rPr>
              <a:t>actions.</a:t>
            </a:r>
          </a:p>
        </p:txBody>
      </p:sp>
      <p:sp>
        <p:nvSpPr>
          <p:cNvPr id="11" name="Rounded Rectangle 10"/>
          <p:cNvSpPr/>
          <p:nvPr/>
        </p:nvSpPr>
        <p:spPr>
          <a:xfrm>
            <a:off x="8328659" y="2225040"/>
            <a:ext cx="3284220" cy="1310640"/>
          </a:xfrm>
          <a:prstGeom prst="roundRect">
            <a:avLst>
              <a:gd name="adj" fmla="val 4651"/>
            </a:avLst>
          </a:prstGeom>
          <a:solidFill>
            <a:srgbClr val="FFFFFF"/>
          </a:solidFill>
          <a:ln w="12192">
            <a:solidFill>
              <a:srgbClr val="D2DCD3"/>
            </a:solidFill>
          </a:ln>
          <a:effectLst/>
        </p:spPr>
        <p:txBody>
          <a:bodyPr rtlCol="0" anchor="ctr"/>
          <a:lstStyle/>
          <a:p>
            <a:pPr algn="ctr"/>
          </a:p>
        </p:txBody>
      </p:sp>
      <p:sp>
        <p:nvSpPr>
          <p:cNvPr id="12" name="TextBox 11"/>
          <p:cNvSpPr txBox="1"/>
          <p:nvPr/>
        </p:nvSpPr>
        <p:spPr>
          <a:xfrm>
            <a:off x="8511540" y="2392680"/>
            <a:ext cx="2918460" cy="338937"/>
          </a:xfrm>
          <a:prstGeom prst="rect">
            <a:avLst/>
          </a:prstGeom>
          <a:noFill/>
          <a:effectLst/>
        </p:spPr>
        <p:txBody>
          <a:bodyPr wrap="none" lIns="0" rIns="0" tIns="0" bIns="0" anchor="t">
            <a:spAutoFit/>
          </a:bodyPr>
          <a:lstStyle/>
          <a:p>
            <a:pPr algn="l">
              <a:lnSpc>
                <a:spcPts val="2188"/>
              </a:lnSpc>
              <a:spcBef>
                <a:spcPts val="0"/>
              </a:spcBef>
              <a:spcAft>
                <a:spcPts val="0"/>
              </a:spcAft>
            </a:pPr>
            <a:r>
              <a:rPr sz="1920" b="1">
                <a:solidFill>
                  <a:srgbClr val="152F27"/>
                </a:solidFill>
                <a:latin typeface="Arial"/>
              </a:rPr>
              <a:t>Jira</a:t>
            </a:r>
          </a:p>
        </p:txBody>
      </p:sp>
      <p:sp>
        <p:nvSpPr>
          <p:cNvPr id="13" name="TextBox 12"/>
          <p:cNvSpPr txBox="1"/>
          <p:nvPr/>
        </p:nvSpPr>
        <p:spPr>
          <a:xfrm>
            <a:off x="8511540" y="2784957"/>
            <a:ext cx="2918460" cy="295275"/>
          </a:xfrm>
          <a:prstGeom prst="rect">
            <a:avLst/>
          </a:prstGeom>
          <a:noFill/>
          <a:effectLst/>
        </p:spPr>
        <p:txBody>
          <a:bodyPr wrap="none" lIns="0" rIns="0" tIns="0" bIns="0" anchor="t">
            <a:spAutoFit/>
          </a:bodyPr>
          <a:lstStyle/>
          <a:p>
            <a:pPr algn="l">
              <a:lnSpc>
                <a:spcPts val="1845"/>
              </a:lnSpc>
              <a:spcBef>
                <a:spcPts val="0"/>
              </a:spcBef>
              <a:spcAft>
                <a:spcPts val="0"/>
              </a:spcAft>
            </a:pPr>
            <a:r>
              <a:rPr sz="1500" b="0">
                <a:solidFill>
                  <a:srgbClr val="586B62"/>
                </a:solidFill>
                <a:latin typeface="Arial"/>
              </a:rPr>
              <a:t>A user mention or ordinary text.</a:t>
            </a:r>
          </a:p>
        </p:txBody>
      </p:sp>
      <p:cxnSp>
        <p:nvCxnSpPr>
          <p:cNvPr id="14" name="Connector 13"/>
          <p:cNvCxnSpPr/>
          <p:nvPr/>
        </p:nvCxnSpPr>
        <p:spPr>
          <a:xfrm>
            <a:off x="3924300" y="2880360"/>
            <a:ext cx="373380" cy="0"/>
          </a:xfrm>
          <a:prstGeom prst="line">
            <a:avLst/>
          </a:prstGeom>
          <a:ln w="22859">
            <a:solidFill>
              <a:srgbClr val="A6B3A9"/>
            </a:solidFill>
            <a:tailEnd type="triangle" w="sm" len="sm"/>
          </a:ln>
          <a:effectLst/>
        </p:spPr>
      </p:cxnSp>
      <p:cxnSp>
        <p:nvCxnSpPr>
          <p:cNvPr id="15" name="Connector 14"/>
          <p:cNvCxnSpPr/>
          <p:nvPr/>
        </p:nvCxnSpPr>
        <p:spPr>
          <a:xfrm>
            <a:off x="7848600" y="2880360"/>
            <a:ext cx="373380" cy="0"/>
          </a:xfrm>
          <a:prstGeom prst="line">
            <a:avLst/>
          </a:prstGeom>
          <a:ln w="22859">
            <a:solidFill>
              <a:srgbClr val="A6B3A9"/>
            </a:solidFill>
            <a:tailEnd type="triangle" w="sm" len="sm"/>
          </a:ln>
          <a:effectLst/>
        </p:spPr>
      </p:cxnSp>
      <p:cxnSp>
        <p:nvCxnSpPr>
          <p:cNvPr id="16" name="Connector 15"/>
          <p:cNvCxnSpPr/>
          <p:nvPr/>
        </p:nvCxnSpPr>
        <p:spPr>
          <a:xfrm>
            <a:off x="594360" y="3954780"/>
            <a:ext cx="11018520" cy="0"/>
          </a:xfrm>
          <a:prstGeom prst="line">
            <a:avLst/>
          </a:prstGeom>
          <a:ln w="15240">
            <a:solidFill>
              <a:srgbClr val="D2DCD3"/>
            </a:solidFill>
          </a:ln>
          <a:effectLst/>
        </p:spPr>
      </p:cxnSp>
      <p:sp>
        <p:nvSpPr>
          <p:cNvPr id="17" name="TextBox 16"/>
          <p:cNvSpPr txBox="1"/>
          <p:nvPr/>
        </p:nvSpPr>
        <p:spPr>
          <a:xfrm>
            <a:off x="594360" y="4267200"/>
            <a:ext cx="4953000" cy="360959"/>
          </a:xfrm>
          <a:prstGeom prst="rect">
            <a:avLst/>
          </a:prstGeom>
          <a:noFill/>
          <a:effectLst/>
        </p:spPr>
        <p:txBody>
          <a:bodyPr wrap="none" lIns="0" rIns="0" tIns="0" bIns="0" anchor="t">
            <a:spAutoFit/>
          </a:bodyPr>
          <a:lstStyle/>
          <a:p>
            <a:pPr algn="l">
              <a:lnSpc>
                <a:spcPts val="2362"/>
              </a:lnSpc>
              <a:spcBef>
                <a:spcPts val="0"/>
              </a:spcBef>
              <a:spcAft>
                <a:spcPts val="0"/>
              </a:spcAft>
            </a:pPr>
            <a:r>
              <a:rPr sz="1859" b="1">
                <a:solidFill>
                  <a:srgbClr val="152F27"/>
                </a:solidFill>
                <a:latin typeface="Arial"/>
              </a:rPr>
              <a:t>What I saw</a:t>
            </a:r>
          </a:p>
        </p:txBody>
      </p:sp>
      <p:sp>
        <p:nvSpPr>
          <p:cNvPr id="18" name="TextBox 17"/>
          <p:cNvSpPr txBox="1"/>
          <p:nvPr/>
        </p:nvSpPr>
        <p:spPr>
          <a:xfrm>
            <a:off x="594360" y="4671060"/>
            <a:ext cx="4930140" cy="624230"/>
          </a:xfrm>
          <a:prstGeom prst="rect">
            <a:avLst/>
          </a:prstGeom>
          <a:noFill/>
          <a:effectLst/>
        </p:spPr>
        <p:txBody>
          <a:bodyPr wrap="none" lIns="0" rIns="0" tIns="0" bIns="0" anchor="t">
            <a:spAutoFit/>
          </a:bodyPr>
          <a:lstStyle/>
          <a:p>
            <a:pPr algn="l">
              <a:lnSpc>
                <a:spcPts val="2217"/>
              </a:lnSpc>
              <a:spcBef>
                <a:spcPts val="0"/>
              </a:spcBef>
              <a:spcAft>
                <a:spcPts val="0"/>
              </a:spcAft>
            </a:pPr>
            <a:r>
              <a:rPr sz="1680" b="0">
                <a:solidFill>
                  <a:srgbClr val="152F27"/>
                </a:solidFill>
                <a:latin typeface="Arial"/>
              </a:rPr>
              <a:t>Some user IDs resolved as mentions. Others</a:t>
            </a:r>
          </a:p>
          <a:p>
            <a:pPr algn="l">
              <a:lnSpc>
                <a:spcPts val="2217"/>
              </a:lnSpc>
              <a:spcBef>
                <a:spcPts val="0"/>
              </a:spcBef>
              <a:spcAft>
                <a:spcPts val="0"/>
              </a:spcAft>
            </a:pPr>
            <a:r>
              <a:rPr sz="1680" b="0">
                <a:solidFill>
                  <a:srgbClr val="152F27"/>
                </a:solidFill>
                <a:latin typeface="Arial"/>
              </a:rPr>
              <a:t>appeared as ordinary text.</a:t>
            </a:r>
          </a:p>
        </p:txBody>
      </p:sp>
      <p:sp>
        <p:nvSpPr>
          <p:cNvPr id="19" name="TextBox 18"/>
          <p:cNvSpPr txBox="1"/>
          <p:nvPr/>
        </p:nvSpPr>
        <p:spPr>
          <a:xfrm>
            <a:off x="6362700" y="4267200"/>
            <a:ext cx="5250180" cy="360959"/>
          </a:xfrm>
          <a:prstGeom prst="rect">
            <a:avLst/>
          </a:prstGeom>
          <a:noFill/>
          <a:effectLst/>
        </p:spPr>
        <p:txBody>
          <a:bodyPr wrap="none" lIns="0" rIns="0" tIns="0" bIns="0" anchor="t">
            <a:spAutoFit/>
          </a:bodyPr>
          <a:lstStyle/>
          <a:p>
            <a:pPr algn="l">
              <a:lnSpc>
                <a:spcPts val="2362"/>
              </a:lnSpc>
              <a:spcBef>
                <a:spcPts val="0"/>
              </a:spcBef>
              <a:spcAft>
                <a:spcPts val="0"/>
              </a:spcAft>
            </a:pPr>
            <a:r>
              <a:rPr sz="1859" b="1">
                <a:solidFill>
                  <a:srgbClr val="152F27"/>
                </a:solidFill>
                <a:latin typeface="Arial"/>
              </a:rPr>
              <a:t>Support showed me the wider cost.</a:t>
            </a:r>
          </a:p>
        </p:txBody>
      </p:sp>
      <p:sp>
        <p:nvSpPr>
          <p:cNvPr id="20" name="TextBox 19"/>
          <p:cNvSpPr txBox="1"/>
          <p:nvPr/>
        </p:nvSpPr>
        <p:spPr>
          <a:xfrm>
            <a:off x="6362700" y="4671060"/>
            <a:ext cx="5143500" cy="624230"/>
          </a:xfrm>
          <a:prstGeom prst="rect">
            <a:avLst/>
          </a:prstGeom>
          <a:noFill/>
          <a:effectLst/>
        </p:spPr>
        <p:txBody>
          <a:bodyPr wrap="none" lIns="0" rIns="0" tIns="0" bIns="0" anchor="t">
            <a:spAutoFit/>
          </a:bodyPr>
          <a:lstStyle/>
          <a:p>
            <a:pPr algn="l">
              <a:lnSpc>
                <a:spcPts val="2217"/>
              </a:lnSpc>
              <a:spcBef>
                <a:spcPts val="0"/>
              </a:spcBef>
              <a:spcAft>
                <a:spcPts val="0"/>
              </a:spcAft>
            </a:pPr>
            <a:r>
              <a:rPr sz="1680" b="0">
                <a:solidFill>
                  <a:srgbClr val="152F27"/>
                </a:solidFill>
                <a:latin typeface="Arial"/>
              </a:rPr>
              <a:t>The inconsistency was one reason some coworkers</a:t>
            </a:r>
          </a:p>
          <a:p>
            <a:pPr algn="l">
              <a:lnSpc>
                <a:spcPts val="2217"/>
              </a:lnSpc>
              <a:spcBef>
                <a:spcPts val="0"/>
              </a:spcBef>
              <a:spcAft>
                <a:spcPts val="0"/>
              </a:spcAft>
            </a:pPr>
            <a:r>
              <a:rPr sz="1680" b="0">
                <a:solidFill>
                  <a:srgbClr val="152F27"/>
                </a:solidFill>
                <a:latin typeface="Arial"/>
              </a:rPr>
              <a:t>avoided the AI workflow.</a:t>
            </a:r>
          </a:p>
        </p:txBody>
      </p:sp>
      <p:sp>
        <p:nvSpPr>
          <p:cNvPr id="21" name="TextBox 20"/>
          <p:cNvSpPr txBox="1"/>
          <p:nvPr/>
        </p:nvSpPr>
        <p:spPr>
          <a:xfrm>
            <a:off x="594360" y="5836920"/>
            <a:ext cx="10858500" cy="331927"/>
          </a:xfrm>
          <a:prstGeom prst="rect">
            <a:avLst/>
          </a:prstGeom>
          <a:noFill/>
          <a:effectLst/>
        </p:spPr>
        <p:txBody>
          <a:bodyPr wrap="none" lIns="0" rIns="0" tIns="0" bIns="0" anchor="t">
            <a:spAutoFit/>
          </a:bodyPr>
          <a:lstStyle/>
          <a:p>
            <a:pPr algn="l">
              <a:lnSpc>
                <a:spcPts val="2133"/>
              </a:lnSpc>
              <a:spcBef>
                <a:spcPts val="0"/>
              </a:spcBef>
              <a:spcAft>
                <a:spcPts val="0"/>
              </a:spcAft>
            </a:pPr>
            <a:r>
              <a:rPr sz="1680" b="0">
                <a:solidFill>
                  <a:srgbClr val="176C4B"/>
                </a:solidFill>
                <a:latin typeface="Arial"/>
              </a:rPr>
              <a:t>I took ownership of reproducing the bug and finding the cause.</a:t>
            </a:r>
          </a:p>
        </p:txBody>
      </p:sp>
      <p:cxnSp>
        <p:nvCxnSpPr>
          <p:cNvPr id="22" name="Connector 21"/>
          <p:cNvCxnSpPr/>
          <p:nvPr/>
        </p:nvCxnSpPr>
        <p:spPr>
          <a:xfrm>
            <a:off x="579120" y="6347460"/>
            <a:ext cx="11033760" cy="0"/>
          </a:xfrm>
          <a:prstGeom prst="line">
            <a:avLst/>
          </a:prstGeom>
          <a:ln w="7620">
            <a:solidFill>
              <a:srgbClr val="D2DCD3"/>
            </a:solidFill>
          </a:ln>
          <a:effectLst/>
        </p:spPr>
      </p:cxnSp>
      <p:sp>
        <p:nvSpPr>
          <p:cNvPr id="23" name="TextBox 22"/>
          <p:cNvSpPr txBox="1"/>
          <p:nvPr/>
        </p:nvSpPr>
        <p:spPr>
          <a:xfrm>
            <a:off x="594360" y="6484620"/>
            <a:ext cx="89916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0">
                <a:solidFill>
                  <a:srgbClr val="586B62"/>
                </a:solidFill>
                <a:latin typeface="Arial"/>
              </a:rPr>
              <a:t>FRANKLIN WAGGONER / AI IN EVERYDAY IT</a:t>
            </a:r>
          </a:p>
        </p:txBody>
      </p:sp>
      <p:sp>
        <p:nvSpPr>
          <p:cNvPr id="24" name="TextBox 23"/>
          <p:cNvSpPr txBox="1"/>
          <p:nvPr/>
        </p:nvSpPr>
        <p:spPr>
          <a:xfrm>
            <a:off x="10591800" y="6484620"/>
            <a:ext cx="1021080" cy="215798"/>
          </a:xfrm>
          <a:prstGeom prst="rect">
            <a:avLst/>
          </a:prstGeom>
          <a:noFill/>
          <a:effectLst/>
        </p:spPr>
        <p:txBody>
          <a:bodyPr wrap="none" lIns="0" rIns="0" tIns="0" bIns="0" anchor="t">
            <a:spAutoFit/>
          </a:bodyPr>
          <a:lstStyle/>
          <a:p>
            <a:pPr algn="r">
              <a:lnSpc>
                <a:spcPts val="1219"/>
              </a:lnSpc>
              <a:spcBef>
                <a:spcPts val="0"/>
              </a:spcBef>
              <a:spcAft>
                <a:spcPts val="0"/>
              </a:spcAft>
            </a:pPr>
            <a:r>
              <a:rPr sz="960" b="0">
                <a:solidFill>
                  <a:srgbClr val="586B62"/>
                </a:solidFill>
                <a:latin typeface="Arial"/>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594360" y="327660"/>
            <a:ext cx="106680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1">
                <a:solidFill>
                  <a:srgbClr val="176C4B"/>
                </a:solidFill>
                <a:latin typeface="Arial"/>
              </a:rPr>
              <a:t>01 / JIRA MCP</a:t>
            </a:r>
          </a:p>
        </p:txBody>
      </p:sp>
      <p:sp>
        <p:nvSpPr>
          <p:cNvPr id="3" name="TextBox 2"/>
          <p:cNvSpPr txBox="1"/>
          <p:nvPr/>
        </p:nvSpPr>
        <p:spPr>
          <a:xfrm>
            <a:off x="579120" y="693420"/>
            <a:ext cx="11033760" cy="517321"/>
          </a:xfrm>
          <a:prstGeom prst="rect">
            <a:avLst/>
          </a:prstGeom>
          <a:noFill/>
          <a:effectLst/>
        </p:spPr>
        <p:txBody>
          <a:bodyPr wrap="none" lIns="0" rIns="0" tIns="0" bIns="0" anchor="t">
            <a:spAutoFit/>
          </a:bodyPr>
          <a:lstStyle/>
          <a:p>
            <a:pPr algn="l">
              <a:lnSpc>
                <a:spcPts val="3593"/>
              </a:lnSpc>
              <a:spcBef>
                <a:spcPts val="0"/>
              </a:spcBef>
              <a:spcAft>
                <a:spcPts val="0"/>
              </a:spcAft>
            </a:pPr>
            <a:r>
              <a:rPr sz="3179" b="1">
                <a:solidFill>
                  <a:srgbClr val="152F27"/>
                </a:solidFill>
                <a:latin typeface="Arial"/>
              </a:rPr>
              <a:t>I compared a working case with a failing one.</a:t>
            </a:r>
          </a:p>
        </p:txBody>
      </p:sp>
      <p:sp>
        <p:nvSpPr>
          <p:cNvPr id="4" name="TextBox 3"/>
          <p:cNvSpPr txBox="1"/>
          <p:nvPr/>
        </p:nvSpPr>
        <p:spPr>
          <a:xfrm>
            <a:off x="594360" y="1287780"/>
            <a:ext cx="10934700" cy="325526"/>
          </a:xfrm>
          <a:prstGeom prst="rect">
            <a:avLst/>
          </a:prstGeom>
          <a:noFill/>
          <a:effectLst/>
        </p:spPr>
        <p:txBody>
          <a:bodyPr wrap="none" lIns="0" rIns="0" tIns="0" bIns="0" anchor="t">
            <a:spAutoFit/>
          </a:bodyPr>
          <a:lstStyle/>
          <a:p>
            <a:pPr algn="l">
              <a:lnSpc>
                <a:spcPts val="2083"/>
              </a:lnSpc>
              <a:spcBef>
                <a:spcPts val="0"/>
              </a:spcBef>
              <a:spcAft>
                <a:spcPts val="0"/>
              </a:spcAft>
            </a:pPr>
            <a:r>
              <a:rPr sz="1680" b="0">
                <a:solidFill>
                  <a:srgbClr val="586B62"/>
                </a:solidFill>
                <a:latin typeface="Arial"/>
              </a:rPr>
              <a:t>Testing with two teammates isolated the difference to their account ID formats.</a:t>
            </a:r>
          </a:p>
        </p:txBody>
      </p:sp>
      <p:sp>
        <p:nvSpPr>
          <p:cNvPr id="5" name="Rounded Rectangle 4"/>
          <p:cNvSpPr/>
          <p:nvPr/>
        </p:nvSpPr>
        <p:spPr>
          <a:xfrm>
            <a:off x="594360" y="2171700"/>
            <a:ext cx="5234940" cy="2590800"/>
          </a:xfrm>
          <a:prstGeom prst="roundRect">
            <a:avLst>
              <a:gd name="adj" fmla="val 2352"/>
            </a:avLst>
          </a:prstGeom>
          <a:solidFill>
            <a:srgbClr val="FFFFFF"/>
          </a:solidFill>
          <a:ln w="12192">
            <a:solidFill>
              <a:srgbClr val="D2DCD3"/>
            </a:solidFill>
          </a:ln>
          <a:effectLst/>
        </p:spPr>
        <p:txBody>
          <a:bodyPr rtlCol="0" anchor="ctr"/>
          <a:lstStyle/>
          <a:p>
            <a:pPr algn="ctr"/>
          </a:p>
        </p:txBody>
      </p:sp>
      <p:sp>
        <p:nvSpPr>
          <p:cNvPr id="6" name="TextBox 5"/>
          <p:cNvSpPr txBox="1"/>
          <p:nvPr/>
        </p:nvSpPr>
        <p:spPr>
          <a:xfrm>
            <a:off x="822960" y="2423160"/>
            <a:ext cx="4724400" cy="389991"/>
          </a:xfrm>
          <a:prstGeom prst="rect">
            <a:avLst/>
          </a:prstGeom>
          <a:noFill/>
          <a:effectLst/>
        </p:spPr>
        <p:txBody>
          <a:bodyPr wrap="none" lIns="0" rIns="0" tIns="0" bIns="0" anchor="t">
            <a:spAutoFit/>
          </a:bodyPr>
          <a:lstStyle/>
          <a:p>
            <a:pPr algn="l">
              <a:lnSpc>
                <a:spcPts val="2590"/>
              </a:lnSpc>
              <a:spcBef>
                <a:spcPts val="0"/>
              </a:spcBef>
              <a:spcAft>
                <a:spcPts val="0"/>
              </a:spcAft>
            </a:pPr>
            <a:r>
              <a:rPr sz="2039" b="1">
                <a:solidFill>
                  <a:srgbClr val="152F27"/>
                </a:solidFill>
                <a:latin typeface="Arial"/>
              </a:rPr>
              <a:t>Working case</a:t>
            </a:r>
          </a:p>
        </p:txBody>
      </p:sp>
      <p:sp>
        <p:nvSpPr>
          <p:cNvPr id="7" name="TextBox 6"/>
          <p:cNvSpPr txBox="1"/>
          <p:nvPr/>
        </p:nvSpPr>
        <p:spPr>
          <a:xfrm>
            <a:off x="822960" y="2842260"/>
            <a:ext cx="4724400" cy="293217"/>
          </a:xfrm>
          <a:prstGeom prst="rect">
            <a:avLst/>
          </a:prstGeom>
          <a:noFill/>
          <a:effectLst/>
        </p:spPr>
        <p:txBody>
          <a:bodyPr wrap="none" lIns="0" rIns="0" tIns="0" bIns="0" anchor="t">
            <a:spAutoFit/>
          </a:bodyPr>
          <a:lstStyle/>
          <a:p>
            <a:pPr algn="l">
              <a:lnSpc>
                <a:spcPts val="1828"/>
              </a:lnSpc>
              <a:spcBef>
                <a:spcPts val="0"/>
              </a:spcBef>
              <a:spcAft>
                <a:spcPts val="0"/>
              </a:spcAft>
            </a:pPr>
            <a:r>
              <a:rPr sz="1439" b="0">
                <a:solidFill>
                  <a:srgbClr val="586B62"/>
                </a:solidFill>
                <a:latin typeface="Arial"/>
              </a:rPr>
              <a:t>Earlier account format</a:t>
            </a:r>
          </a:p>
        </p:txBody>
      </p:sp>
      <p:sp>
        <p:nvSpPr>
          <p:cNvPr id="8" name="TextBox 7"/>
          <p:cNvSpPr txBox="1"/>
          <p:nvPr/>
        </p:nvSpPr>
        <p:spPr>
          <a:xfrm>
            <a:off x="822960" y="3352800"/>
            <a:ext cx="4724400" cy="525475"/>
          </a:xfrm>
          <a:prstGeom prst="rect">
            <a:avLst/>
          </a:prstGeom>
          <a:noFill/>
          <a:effectLst/>
        </p:spPr>
        <p:txBody>
          <a:bodyPr wrap="none" lIns="0" rIns="0" tIns="0" bIns="0" anchor="t">
            <a:spAutoFit/>
          </a:bodyPr>
          <a:lstStyle/>
          <a:p>
            <a:pPr algn="l">
              <a:lnSpc>
                <a:spcPts val="3657"/>
              </a:lnSpc>
              <a:spcBef>
                <a:spcPts val="0"/>
              </a:spcBef>
              <a:spcAft>
                <a:spcPts val="0"/>
              </a:spcAft>
            </a:pPr>
            <a:r>
              <a:rPr sz="2879" b="1">
                <a:solidFill>
                  <a:srgbClr val="176C4B"/>
                </a:solidFill>
                <a:latin typeface="Courier New"/>
              </a:rPr>
              <a:t>demo123</a:t>
            </a:r>
          </a:p>
        </p:txBody>
      </p:sp>
      <p:sp>
        <p:nvSpPr>
          <p:cNvPr id="9" name="TextBox 8"/>
          <p:cNvSpPr txBox="1"/>
          <p:nvPr/>
        </p:nvSpPr>
        <p:spPr>
          <a:xfrm>
            <a:off x="822960" y="4160520"/>
            <a:ext cx="4724400" cy="331927"/>
          </a:xfrm>
          <a:prstGeom prst="rect">
            <a:avLst/>
          </a:prstGeom>
          <a:noFill/>
          <a:effectLst/>
        </p:spPr>
        <p:txBody>
          <a:bodyPr wrap="none" lIns="0" rIns="0" tIns="0" bIns="0" anchor="t">
            <a:spAutoFit/>
          </a:bodyPr>
          <a:lstStyle/>
          <a:p>
            <a:pPr algn="l">
              <a:lnSpc>
                <a:spcPts val="2133"/>
              </a:lnSpc>
              <a:spcBef>
                <a:spcPts val="0"/>
              </a:spcBef>
              <a:spcAft>
                <a:spcPts val="0"/>
              </a:spcAft>
            </a:pPr>
            <a:r>
              <a:rPr sz="1680" b="0">
                <a:solidFill>
                  <a:srgbClr val="586B62"/>
                </a:solidFill>
                <a:latin typeface="Arial"/>
              </a:rPr>
              <a:t>Jira resolved the user mention.</a:t>
            </a:r>
          </a:p>
        </p:txBody>
      </p:sp>
      <p:sp>
        <p:nvSpPr>
          <p:cNvPr id="10" name="Rounded Rectangle 9"/>
          <p:cNvSpPr/>
          <p:nvPr/>
        </p:nvSpPr>
        <p:spPr>
          <a:xfrm>
            <a:off x="6377940" y="2171700"/>
            <a:ext cx="5234940" cy="2590800"/>
          </a:xfrm>
          <a:prstGeom prst="roundRect">
            <a:avLst>
              <a:gd name="adj" fmla="val 2352"/>
            </a:avLst>
          </a:prstGeom>
          <a:solidFill>
            <a:srgbClr val="FFFFFF"/>
          </a:solidFill>
          <a:ln w="12192">
            <a:solidFill>
              <a:srgbClr val="D2DCD3"/>
            </a:solidFill>
          </a:ln>
          <a:effectLst/>
        </p:spPr>
        <p:txBody>
          <a:bodyPr rtlCol="0" anchor="ctr"/>
          <a:lstStyle/>
          <a:p>
            <a:pPr algn="ctr"/>
          </a:p>
        </p:txBody>
      </p:sp>
      <p:sp>
        <p:nvSpPr>
          <p:cNvPr id="11" name="TextBox 10"/>
          <p:cNvSpPr txBox="1"/>
          <p:nvPr/>
        </p:nvSpPr>
        <p:spPr>
          <a:xfrm>
            <a:off x="6606540" y="2423160"/>
            <a:ext cx="4724400" cy="389991"/>
          </a:xfrm>
          <a:prstGeom prst="rect">
            <a:avLst/>
          </a:prstGeom>
          <a:noFill/>
          <a:effectLst/>
        </p:spPr>
        <p:txBody>
          <a:bodyPr wrap="none" lIns="0" rIns="0" tIns="0" bIns="0" anchor="t">
            <a:spAutoFit/>
          </a:bodyPr>
          <a:lstStyle/>
          <a:p>
            <a:pPr algn="l">
              <a:lnSpc>
                <a:spcPts val="2590"/>
              </a:lnSpc>
              <a:spcBef>
                <a:spcPts val="0"/>
              </a:spcBef>
              <a:spcAft>
                <a:spcPts val="0"/>
              </a:spcAft>
            </a:pPr>
            <a:r>
              <a:rPr sz="2039" b="1">
                <a:solidFill>
                  <a:srgbClr val="152F27"/>
                </a:solidFill>
                <a:latin typeface="Arial"/>
              </a:rPr>
              <a:t>Failing case</a:t>
            </a:r>
          </a:p>
        </p:txBody>
      </p:sp>
      <p:sp>
        <p:nvSpPr>
          <p:cNvPr id="12" name="TextBox 11"/>
          <p:cNvSpPr txBox="1"/>
          <p:nvPr/>
        </p:nvSpPr>
        <p:spPr>
          <a:xfrm>
            <a:off x="6606540" y="2842260"/>
            <a:ext cx="4724400" cy="293217"/>
          </a:xfrm>
          <a:prstGeom prst="rect">
            <a:avLst/>
          </a:prstGeom>
          <a:noFill/>
          <a:effectLst/>
        </p:spPr>
        <p:txBody>
          <a:bodyPr wrap="none" lIns="0" rIns="0" tIns="0" bIns="0" anchor="t">
            <a:spAutoFit/>
          </a:bodyPr>
          <a:lstStyle/>
          <a:p>
            <a:pPr algn="l">
              <a:lnSpc>
                <a:spcPts val="1828"/>
              </a:lnSpc>
              <a:spcBef>
                <a:spcPts val="0"/>
              </a:spcBef>
              <a:spcAft>
                <a:spcPts val="0"/>
              </a:spcAft>
            </a:pPr>
            <a:r>
              <a:rPr sz="1439" b="0">
                <a:solidFill>
                  <a:srgbClr val="586B62"/>
                </a:solidFill>
                <a:latin typeface="Arial"/>
              </a:rPr>
              <a:t>Newer Jira Cloud format</a:t>
            </a:r>
          </a:p>
        </p:txBody>
      </p:sp>
      <p:sp>
        <p:nvSpPr>
          <p:cNvPr id="13" name="TextBox 12"/>
          <p:cNvSpPr txBox="1"/>
          <p:nvPr/>
        </p:nvSpPr>
        <p:spPr>
          <a:xfrm>
            <a:off x="6606540" y="3352800"/>
            <a:ext cx="4724400" cy="477088"/>
          </a:xfrm>
          <a:prstGeom prst="rect">
            <a:avLst/>
          </a:prstGeom>
          <a:noFill/>
          <a:effectLst/>
        </p:spPr>
        <p:txBody>
          <a:bodyPr wrap="none" lIns="0" rIns="0" tIns="0" bIns="0" anchor="t">
            <a:spAutoFit/>
          </a:bodyPr>
          <a:lstStyle/>
          <a:p>
            <a:pPr algn="l">
              <a:lnSpc>
                <a:spcPts val="3276"/>
              </a:lnSpc>
              <a:spcBef>
                <a:spcPts val="0"/>
              </a:spcBef>
              <a:spcAft>
                <a:spcPts val="0"/>
              </a:spcAft>
            </a:pPr>
            <a:r>
              <a:rPr sz="2580" b="1">
                <a:solidFill>
                  <a:srgbClr val="152F27"/>
                </a:solidFill>
                <a:latin typeface="Courier New"/>
              </a:rPr>
              <a:t>712020:demo123</a:t>
            </a:r>
          </a:p>
        </p:txBody>
      </p:sp>
      <p:sp>
        <p:nvSpPr>
          <p:cNvPr id="14" name="TextBox 13"/>
          <p:cNvSpPr txBox="1"/>
          <p:nvPr/>
        </p:nvSpPr>
        <p:spPr>
          <a:xfrm>
            <a:off x="6606540" y="4160520"/>
            <a:ext cx="4724400" cy="331927"/>
          </a:xfrm>
          <a:prstGeom prst="rect">
            <a:avLst/>
          </a:prstGeom>
          <a:noFill/>
          <a:effectLst/>
        </p:spPr>
        <p:txBody>
          <a:bodyPr wrap="none" lIns="0" rIns="0" tIns="0" bIns="0" anchor="t">
            <a:spAutoFit/>
          </a:bodyPr>
          <a:lstStyle/>
          <a:p>
            <a:pPr algn="l">
              <a:lnSpc>
                <a:spcPts val="2133"/>
              </a:lnSpc>
              <a:spcBef>
                <a:spcPts val="0"/>
              </a:spcBef>
              <a:spcAft>
                <a:spcPts val="0"/>
              </a:spcAft>
            </a:pPr>
            <a:r>
              <a:rPr sz="1680" b="0">
                <a:solidFill>
                  <a:srgbClr val="586B62"/>
                </a:solidFill>
                <a:latin typeface="Arial"/>
              </a:rPr>
              <a:t>The mention stayed as plain text.</a:t>
            </a:r>
          </a:p>
        </p:txBody>
      </p:sp>
      <p:sp>
        <p:nvSpPr>
          <p:cNvPr id="15" name="TextBox 14"/>
          <p:cNvSpPr txBox="1"/>
          <p:nvPr/>
        </p:nvSpPr>
        <p:spPr>
          <a:xfrm>
            <a:off x="594360" y="5372100"/>
            <a:ext cx="10820400" cy="428701"/>
          </a:xfrm>
          <a:prstGeom prst="rect">
            <a:avLst/>
          </a:prstGeom>
          <a:noFill/>
          <a:effectLst/>
        </p:spPr>
        <p:txBody>
          <a:bodyPr wrap="none" lIns="0" rIns="0" tIns="0" bIns="0" anchor="t">
            <a:spAutoFit/>
          </a:bodyPr>
          <a:lstStyle/>
          <a:p>
            <a:pPr algn="l">
              <a:lnSpc>
                <a:spcPts val="2895"/>
              </a:lnSpc>
              <a:spcBef>
                <a:spcPts val="0"/>
              </a:spcBef>
              <a:spcAft>
                <a:spcPts val="0"/>
              </a:spcAft>
            </a:pPr>
            <a:r>
              <a:rPr sz="2280" b="1">
                <a:solidFill>
                  <a:srgbClr val="176C4B"/>
                </a:solidFill>
                <a:latin typeface="Arial"/>
              </a:rPr>
              <a:t>The colon explained which accounts failed.</a:t>
            </a:r>
          </a:p>
        </p:txBody>
      </p:sp>
      <p:cxnSp>
        <p:nvCxnSpPr>
          <p:cNvPr id="16" name="Connector 15"/>
          <p:cNvCxnSpPr/>
          <p:nvPr/>
        </p:nvCxnSpPr>
        <p:spPr>
          <a:xfrm>
            <a:off x="579120" y="6347460"/>
            <a:ext cx="11033760" cy="0"/>
          </a:xfrm>
          <a:prstGeom prst="line">
            <a:avLst/>
          </a:prstGeom>
          <a:ln w="7620">
            <a:solidFill>
              <a:srgbClr val="D2DCD3"/>
            </a:solidFill>
          </a:ln>
          <a:effectLst/>
        </p:spPr>
      </p:cxnSp>
      <p:sp>
        <p:nvSpPr>
          <p:cNvPr id="17" name="TextBox 16"/>
          <p:cNvSpPr txBox="1"/>
          <p:nvPr/>
        </p:nvSpPr>
        <p:spPr>
          <a:xfrm>
            <a:off x="594360" y="6484620"/>
            <a:ext cx="89916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0">
                <a:solidFill>
                  <a:srgbClr val="586B62"/>
                </a:solidFill>
                <a:latin typeface="Arial"/>
              </a:rPr>
              <a:t>FRANKLIN WAGGONER / AI IN EVERYDAY IT</a:t>
            </a:r>
          </a:p>
        </p:txBody>
      </p:sp>
      <p:sp>
        <p:nvSpPr>
          <p:cNvPr id="18" name="TextBox 17"/>
          <p:cNvSpPr txBox="1"/>
          <p:nvPr/>
        </p:nvSpPr>
        <p:spPr>
          <a:xfrm>
            <a:off x="10591800" y="6484620"/>
            <a:ext cx="1021080" cy="215798"/>
          </a:xfrm>
          <a:prstGeom prst="rect">
            <a:avLst/>
          </a:prstGeom>
          <a:noFill/>
          <a:effectLst/>
        </p:spPr>
        <p:txBody>
          <a:bodyPr wrap="none" lIns="0" rIns="0" tIns="0" bIns="0" anchor="t">
            <a:spAutoFit/>
          </a:bodyPr>
          <a:lstStyle/>
          <a:p>
            <a:pPr algn="r">
              <a:lnSpc>
                <a:spcPts val="1219"/>
              </a:lnSpc>
              <a:spcBef>
                <a:spcPts val="0"/>
              </a:spcBef>
              <a:spcAft>
                <a:spcPts val="0"/>
              </a:spcAft>
            </a:pPr>
            <a:r>
              <a:rPr sz="960" b="0">
                <a:solidFill>
                  <a:srgbClr val="586B62"/>
                </a:solidFill>
                <a:latin typeface="Arial"/>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594360" y="327660"/>
            <a:ext cx="106680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1">
                <a:solidFill>
                  <a:srgbClr val="176C4B"/>
                </a:solidFill>
                <a:latin typeface="Arial"/>
              </a:rPr>
              <a:t>01 / JIRA MCP</a:t>
            </a:r>
          </a:p>
        </p:txBody>
      </p:sp>
      <p:sp>
        <p:nvSpPr>
          <p:cNvPr id="3" name="TextBox 2"/>
          <p:cNvSpPr txBox="1"/>
          <p:nvPr/>
        </p:nvSpPr>
        <p:spPr>
          <a:xfrm>
            <a:off x="579120" y="693420"/>
            <a:ext cx="11033760" cy="517321"/>
          </a:xfrm>
          <a:prstGeom prst="rect">
            <a:avLst/>
          </a:prstGeom>
          <a:noFill/>
          <a:effectLst/>
        </p:spPr>
        <p:txBody>
          <a:bodyPr wrap="none" lIns="0" rIns="0" tIns="0" bIns="0" anchor="t">
            <a:spAutoFit/>
          </a:bodyPr>
          <a:lstStyle/>
          <a:p>
            <a:pPr algn="l">
              <a:lnSpc>
                <a:spcPts val="3593"/>
              </a:lnSpc>
              <a:spcBef>
                <a:spcPts val="0"/>
              </a:spcBef>
              <a:spcAft>
                <a:spcPts val="0"/>
              </a:spcAft>
            </a:pPr>
            <a:r>
              <a:rPr sz="3179" b="1">
                <a:solidFill>
                  <a:srgbClr val="152F27"/>
                </a:solidFill>
                <a:latin typeface="Arial"/>
              </a:rPr>
              <a:t>The parser excluded the colon.</a:t>
            </a:r>
          </a:p>
        </p:txBody>
      </p:sp>
      <p:sp>
        <p:nvSpPr>
          <p:cNvPr id="4" name="TextBox 3"/>
          <p:cNvSpPr txBox="1"/>
          <p:nvPr/>
        </p:nvSpPr>
        <p:spPr>
          <a:xfrm>
            <a:off x="594360" y="1287780"/>
            <a:ext cx="10934700" cy="325526"/>
          </a:xfrm>
          <a:prstGeom prst="rect">
            <a:avLst/>
          </a:prstGeom>
          <a:noFill/>
          <a:effectLst/>
        </p:spPr>
        <p:txBody>
          <a:bodyPr wrap="none" lIns="0" rIns="0" tIns="0" bIns="0" anchor="t">
            <a:spAutoFit/>
          </a:bodyPr>
          <a:lstStyle/>
          <a:p>
            <a:pPr algn="l">
              <a:lnSpc>
                <a:spcPts val="2083"/>
              </a:lnSpc>
              <a:spcBef>
                <a:spcPts val="0"/>
              </a:spcBef>
              <a:spcAft>
                <a:spcPts val="0"/>
              </a:spcAft>
            </a:pPr>
            <a:r>
              <a:rPr sz="1680" b="0">
                <a:solidFill>
                  <a:srgbClr val="586B62"/>
                </a:solidFill>
                <a:latin typeface="Arial"/>
              </a:rPr>
              <a:t>I changed the matching pattern so it recognized the affected account IDs.</a:t>
            </a:r>
          </a:p>
        </p:txBody>
      </p:sp>
      <p:sp>
        <p:nvSpPr>
          <p:cNvPr id="5" name="Rounded Rectangle 4"/>
          <p:cNvSpPr/>
          <p:nvPr/>
        </p:nvSpPr>
        <p:spPr>
          <a:xfrm>
            <a:off x="594360" y="2133600"/>
            <a:ext cx="11018520" cy="990599"/>
          </a:xfrm>
          <a:prstGeom prst="roundRect">
            <a:avLst>
              <a:gd name="adj" fmla="val 6153"/>
            </a:avLst>
          </a:prstGeom>
          <a:solidFill>
            <a:srgbClr val="E4F0E6"/>
          </a:solidFill>
          <a:ln w="12192">
            <a:solidFill>
              <a:srgbClr val="D2DCD3"/>
            </a:solidFill>
          </a:ln>
          <a:effectLst/>
        </p:spPr>
        <p:txBody>
          <a:bodyPr rtlCol="0" anchor="ctr"/>
          <a:lstStyle/>
          <a:p>
            <a:pPr algn="ctr"/>
          </a:p>
        </p:txBody>
      </p:sp>
      <p:sp>
        <p:nvSpPr>
          <p:cNvPr id="6" name="TextBox 5"/>
          <p:cNvSpPr txBox="1"/>
          <p:nvPr/>
        </p:nvSpPr>
        <p:spPr>
          <a:xfrm>
            <a:off x="845820" y="2385060"/>
            <a:ext cx="2438400" cy="525475"/>
          </a:xfrm>
          <a:prstGeom prst="rect">
            <a:avLst/>
          </a:prstGeom>
          <a:noFill/>
          <a:effectLst/>
        </p:spPr>
        <p:txBody>
          <a:bodyPr wrap="none" lIns="0" rIns="0" tIns="0" bIns="0" anchor="t">
            <a:spAutoFit/>
          </a:bodyPr>
          <a:lstStyle/>
          <a:p>
            <a:pPr algn="l">
              <a:lnSpc>
                <a:spcPts val="3657"/>
              </a:lnSpc>
              <a:spcBef>
                <a:spcPts val="0"/>
              </a:spcBef>
              <a:spcAft>
                <a:spcPts val="0"/>
              </a:spcAft>
            </a:pPr>
            <a:r>
              <a:rPr sz="2879" b="1">
                <a:solidFill>
                  <a:srgbClr val="152F27"/>
                </a:solidFill>
                <a:latin typeface="Courier New"/>
              </a:rPr>
              <a:t>712020</a:t>
            </a:r>
          </a:p>
        </p:txBody>
      </p:sp>
      <p:sp>
        <p:nvSpPr>
          <p:cNvPr id="7" name="TextBox 6"/>
          <p:cNvSpPr txBox="1"/>
          <p:nvPr/>
        </p:nvSpPr>
        <p:spPr>
          <a:xfrm>
            <a:off x="2162770" y="2385060"/>
            <a:ext cx="457200" cy="525475"/>
          </a:xfrm>
          <a:prstGeom prst="rect">
            <a:avLst/>
          </a:prstGeom>
          <a:noFill/>
          <a:effectLst/>
        </p:spPr>
        <p:txBody>
          <a:bodyPr wrap="none" lIns="0" rIns="0" tIns="0" bIns="0" anchor="t">
            <a:spAutoFit/>
          </a:bodyPr>
          <a:lstStyle/>
          <a:p>
            <a:pPr algn="l">
              <a:lnSpc>
                <a:spcPts val="3657"/>
              </a:lnSpc>
              <a:spcBef>
                <a:spcPts val="0"/>
              </a:spcBef>
              <a:spcAft>
                <a:spcPts val="0"/>
              </a:spcAft>
            </a:pPr>
            <a:r>
              <a:rPr sz="2879" b="1">
                <a:solidFill>
                  <a:srgbClr val="176C4B"/>
                </a:solidFill>
                <a:latin typeface="Courier New"/>
              </a:rPr>
              <a:t>:</a:t>
            </a:r>
          </a:p>
        </p:txBody>
      </p:sp>
      <p:sp>
        <p:nvSpPr>
          <p:cNvPr id="8" name="TextBox 7"/>
          <p:cNvSpPr txBox="1"/>
          <p:nvPr/>
        </p:nvSpPr>
        <p:spPr>
          <a:xfrm>
            <a:off x="2382262" y="2385060"/>
            <a:ext cx="2971800" cy="525475"/>
          </a:xfrm>
          <a:prstGeom prst="rect">
            <a:avLst/>
          </a:prstGeom>
          <a:noFill/>
          <a:effectLst/>
        </p:spPr>
        <p:txBody>
          <a:bodyPr wrap="none" lIns="0" rIns="0" tIns="0" bIns="0" anchor="t">
            <a:spAutoFit/>
          </a:bodyPr>
          <a:lstStyle/>
          <a:p>
            <a:pPr algn="l">
              <a:lnSpc>
                <a:spcPts val="3657"/>
              </a:lnSpc>
              <a:spcBef>
                <a:spcPts val="0"/>
              </a:spcBef>
              <a:spcAft>
                <a:spcPts val="0"/>
              </a:spcAft>
            </a:pPr>
            <a:r>
              <a:rPr sz="2879" b="1">
                <a:solidFill>
                  <a:srgbClr val="152F27"/>
                </a:solidFill>
                <a:latin typeface="Courier New"/>
              </a:rPr>
              <a:t>demo123</a:t>
            </a:r>
          </a:p>
        </p:txBody>
      </p:sp>
      <p:sp>
        <p:nvSpPr>
          <p:cNvPr id="9" name="TextBox 8"/>
          <p:cNvSpPr txBox="1"/>
          <p:nvPr/>
        </p:nvSpPr>
        <p:spPr>
          <a:xfrm>
            <a:off x="7162800" y="2529840"/>
            <a:ext cx="4229100" cy="312572"/>
          </a:xfrm>
          <a:prstGeom prst="rect">
            <a:avLst/>
          </a:prstGeom>
          <a:noFill/>
          <a:effectLst/>
        </p:spPr>
        <p:txBody>
          <a:bodyPr wrap="none" lIns="0" rIns="0" tIns="0" bIns="0" anchor="t">
            <a:spAutoFit/>
          </a:bodyPr>
          <a:lstStyle/>
          <a:p>
            <a:pPr algn="l">
              <a:lnSpc>
                <a:spcPts val="1981"/>
              </a:lnSpc>
              <a:spcBef>
                <a:spcPts val="0"/>
              </a:spcBef>
              <a:spcAft>
                <a:spcPts val="0"/>
              </a:spcAft>
            </a:pPr>
            <a:r>
              <a:rPr sz="1560" b="0">
                <a:solidFill>
                  <a:srgbClr val="586B62"/>
                </a:solidFill>
                <a:latin typeface="Arial"/>
              </a:rPr>
              <a:t>The account ID includes a colon.</a:t>
            </a:r>
          </a:p>
        </p:txBody>
      </p:sp>
      <p:sp>
        <p:nvSpPr>
          <p:cNvPr id="10" name="TextBox 9"/>
          <p:cNvSpPr txBox="1"/>
          <p:nvPr/>
        </p:nvSpPr>
        <p:spPr>
          <a:xfrm>
            <a:off x="594360" y="3505200"/>
            <a:ext cx="4953000" cy="380314"/>
          </a:xfrm>
          <a:prstGeom prst="rect">
            <a:avLst/>
          </a:prstGeom>
          <a:noFill/>
          <a:effectLst/>
        </p:spPr>
        <p:txBody>
          <a:bodyPr wrap="none" lIns="0" rIns="0" tIns="0" bIns="0" anchor="t">
            <a:spAutoFit/>
          </a:bodyPr>
          <a:lstStyle/>
          <a:p>
            <a:pPr algn="l">
              <a:lnSpc>
                <a:spcPts val="2514"/>
              </a:lnSpc>
              <a:spcBef>
                <a:spcPts val="0"/>
              </a:spcBef>
              <a:spcAft>
                <a:spcPts val="0"/>
              </a:spcAft>
            </a:pPr>
            <a:r>
              <a:rPr sz="1980" b="1">
                <a:solidFill>
                  <a:srgbClr val="152F27"/>
                </a:solidFill>
                <a:latin typeface="Arial"/>
              </a:rPr>
              <a:t>Before</a:t>
            </a:r>
          </a:p>
        </p:txBody>
      </p:sp>
      <p:sp>
        <p:nvSpPr>
          <p:cNvPr id="11" name="TextBox 10"/>
          <p:cNvSpPr txBox="1"/>
          <p:nvPr/>
        </p:nvSpPr>
        <p:spPr>
          <a:xfrm>
            <a:off x="594360" y="3931920"/>
            <a:ext cx="4953000" cy="322249"/>
          </a:xfrm>
          <a:prstGeom prst="rect">
            <a:avLst/>
          </a:prstGeom>
          <a:noFill/>
          <a:effectLst/>
        </p:spPr>
        <p:txBody>
          <a:bodyPr wrap="none" lIns="0" rIns="0" tIns="0" bIns="0" anchor="t">
            <a:spAutoFit/>
          </a:bodyPr>
          <a:lstStyle/>
          <a:p>
            <a:pPr algn="l">
              <a:lnSpc>
                <a:spcPts val="2057"/>
              </a:lnSpc>
              <a:spcBef>
                <a:spcPts val="0"/>
              </a:spcBef>
              <a:spcAft>
                <a:spcPts val="0"/>
              </a:spcAft>
            </a:pPr>
            <a:r>
              <a:rPr sz="1620" b="0">
                <a:solidFill>
                  <a:srgbClr val="586B62"/>
                </a:solidFill>
                <a:latin typeface="Arial"/>
              </a:rPr>
              <a:t>The pattern excluded the colon.</a:t>
            </a:r>
          </a:p>
        </p:txBody>
      </p:sp>
      <p:sp>
        <p:nvSpPr>
          <p:cNvPr id="12" name="Rounded Rectangle 11"/>
          <p:cNvSpPr/>
          <p:nvPr/>
        </p:nvSpPr>
        <p:spPr>
          <a:xfrm>
            <a:off x="594360" y="4450080"/>
            <a:ext cx="5227320" cy="838200"/>
          </a:xfrm>
          <a:prstGeom prst="roundRect">
            <a:avLst>
              <a:gd name="adj" fmla="val 7272"/>
            </a:avLst>
          </a:prstGeom>
          <a:solidFill>
            <a:srgbClr val="FFFFFF"/>
          </a:solidFill>
          <a:ln w="12192">
            <a:solidFill>
              <a:srgbClr val="D2DCD3"/>
            </a:solidFill>
          </a:ln>
          <a:effectLst/>
        </p:spPr>
        <p:txBody>
          <a:bodyPr rtlCol="0" anchor="ctr"/>
          <a:lstStyle/>
          <a:p>
            <a:pPr algn="ctr"/>
          </a:p>
        </p:txBody>
      </p:sp>
      <p:sp>
        <p:nvSpPr>
          <p:cNvPr id="13" name="TextBox 12"/>
          <p:cNvSpPr txBox="1"/>
          <p:nvPr/>
        </p:nvSpPr>
        <p:spPr>
          <a:xfrm>
            <a:off x="800100" y="4678680"/>
            <a:ext cx="4815840" cy="409346"/>
          </a:xfrm>
          <a:prstGeom prst="rect">
            <a:avLst/>
          </a:prstGeom>
          <a:noFill/>
          <a:effectLst/>
        </p:spPr>
        <p:txBody>
          <a:bodyPr wrap="none" lIns="0" rIns="0" tIns="0" bIns="0" anchor="t">
            <a:spAutoFit/>
          </a:bodyPr>
          <a:lstStyle/>
          <a:p>
            <a:pPr algn="l">
              <a:lnSpc>
                <a:spcPts val="2743"/>
              </a:lnSpc>
              <a:spcBef>
                <a:spcPts val="0"/>
              </a:spcBef>
              <a:spcAft>
                <a:spcPts val="0"/>
              </a:spcAft>
            </a:pPr>
            <a:r>
              <a:rPr sz="2160" b="0">
                <a:solidFill>
                  <a:srgbClr val="152F27"/>
                </a:solidFill>
                <a:latin typeface="Courier New"/>
              </a:rPr>
              <a:t>^[A-Za-z0-9_]+$</a:t>
            </a:r>
          </a:p>
        </p:txBody>
      </p:sp>
      <p:sp>
        <p:nvSpPr>
          <p:cNvPr id="14" name="TextBox 13"/>
          <p:cNvSpPr txBox="1"/>
          <p:nvPr/>
        </p:nvSpPr>
        <p:spPr>
          <a:xfrm>
            <a:off x="6385560" y="3505200"/>
            <a:ext cx="4953000" cy="380314"/>
          </a:xfrm>
          <a:prstGeom prst="rect">
            <a:avLst/>
          </a:prstGeom>
          <a:noFill/>
          <a:effectLst/>
        </p:spPr>
        <p:txBody>
          <a:bodyPr wrap="none" lIns="0" rIns="0" tIns="0" bIns="0" anchor="t">
            <a:spAutoFit/>
          </a:bodyPr>
          <a:lstStyle/>
          <a:p>
            <a:pPr algn="l">
              <a:lnSpc>
                <a:spcPts val="2514"/>
              </a:lnSpc>
              <a:spcBef>
                <a:spcPts val="0"/>
              </a:spcBef>
              <a:spcAft>
                <a:spcPts val="0"/>
              </a:spcAft>
            </a:pPr>
            <a:r>
              <a:rPr sz="1980" b="1">
                <a:solidFill>
                  <a:srgbClr val="176C4B"/>
                </a:solidFill>
                <a:latin typeface="Arial"/>
              </a:rPr>
              <a:t>After</a:t>
            </a:r>
          </a:p>
        </p:txBody>
      </p:sp>
      <p:sp>
        <p:nvSpPr>
          <p:cNvPr id="15" name="TextBox 14"/>
          <p:cNvSpPr txBox="1"/>
          <p:nvPr/>
        </p:nvSpPr>
        <p:spPr>
          <a:xfrm>
            <a:off x="6385560" y="3931920"/>
            <a:ext cx="4953000" cy="322249"/>
          </a:xfrm>
          <a:prstGeom prst="rect">
            <a:avLst/>
          </a:prstGeom>
          <a:noFill/>
          <a:effectLst/>
        </p:spPr>
        <p:txBody>
          <a:bodyPr wrap="none" lIns="0" rIns="0" tIns="0" bIns="0" anchor="t">
            <a:spAutoFit/>
          </a:bodyPr>
          <a:lstStyle/>
          <a:p>
            <a:pPr algn="l">
              <a:lnSpc>
                <a:spcPts val="2057"/>
              </a:lnSpc>
              <a:spcBef>
                <a:spcPts val="0"/>
              </a:spcBef>
              <a:spcAft>
                <a:spcPts val="0"/>
              </a:spcAft>
            </a:pPr>
            <a:r>
              <a:rPr sz="1620" b="0">
                <a:solidFill>
                  <a:srgbClr val="586B62"/>
                </a:solidFill>
                <a:latin typeface="Arial"/>
              </a:rPr>
              <a:t>The pattern accepted the complete ID.</a:t>
            </a:r>
          </a:p>
        </p:txBody>
      </p:sp>
      <p:sp>
        <p:nvSpPr>
          <p:cNvPr id="16" name="Rounded Rectangle 15"/>
          <p:cNvSpPr/>
          <p:nvPr/>
        </p:nvSpPr>
        <p:spPr>
          <a:xfrm>
            <a:off x="6385560" y="4450080"/>
            <a:ext cx="5227320" cy="838200"/>
          </a:xfrm>
          <a:prstGeom prst="roundRect">
            <a:avLst>
              <a:gd name="adj" fmla="val 7272"/>
            </a:avLst>
          </a:prstGeom>
          <a:solidFill>
            <a:srgbClr val="E4F0E6"/>
          </a:solidFill>
          <a:ln w="12192">
            <a:solidFill>
              <a:srgbClr val="176C4B"/>
            </a:solidFill>
          </a:ln>
          <a:effectLst/>
        </p:spPr>
        <p:txBody>
          <a:bodyPr rtlCol="0" anchor="ctr"/>
          <a:lstStyle/>
          <a:p>
            <a:pPr algn="ctr"/>
          </a:p>
        </p:txBody>
      </p:sp>
      <p:sp>
        <p:nvSpPr>
          <p:cNvPr id="17" name="TextBox 16"/>
          <p:cNvSpPr txBox="1"/>
          <p:nvPr/>
        </p:nvSpPr>
        <p:spPr>
          <a:xfrm>
            <a:off x="6591300" y="4678680"/>
            <a:ext cx="4815840" cy="409346"/>
          </a:xfrm>
          <a:prstGeom prst="rect">
            <a:avLst/>
          </a:prstGeom>
          <a:noFill/>
          <a:effectLst/>
        </p:spPr>
        <p:txBody>
          <a:bodyPr wrap="none" lIns="0" rIns="0" tIns="0" bIns="0" anchor="t">
            <a:spAutoFit/>
          </a:bodyPr>
          <a:lstStyle/>
          <a:p>
            <a:pPr algn="l">
              <a:lnSpc>
                <a:spcPts val="2743"/>
              </a:lnSpc>
              <a:spcBef>
                <a:spcPts val="0"/>
              </a:spcBef>
              <a:spcAft>
                <a:spcPts val="0"/>
              </a:spcAft>
            </a:pPr>
            <a:r>
              <a:rPr sz="2160" b="0">
                <a:solidFill>
                  <a:srgbClr val="176C4B"/>
                </a:solidFill>
                <a:latin typeface="Courier New"/>
              </a:rPr>
              <a:t>^[A-Za-z0-9_:]+$</a:t>
            </a:r>
          </a:p>
        </p:txBody>
      </p:sp>
      <p:sp>
        <p:nvSpPr>
          <p:cNvPr id="18" name="TextBox 17"/>
          <p:cNvSpPr txBox="1"/>
          <p:nvPr/>
        </p:nvSpPr>
        <p:spPr>
          <a:xfrm>
            <a:off x="609600" y="5852160"/>
            <a:ext cx="10668000" cy="264185"/>
          </a:xfrm>
          <a:prstGeom prst="rect">
            <a:avLst/>
          </a:prstGeom>
          <a:noFill/>
          <a:effectLst/>
        </p:spPr>
        <p:txBody>
          <a:bodyPr wrap="none" lIns="0" rIns="0" tIns="0" bIns="0" anchor="t">
            <a:spAutoFit/>
          </a:bodyPr>
          <a:lstStyle/>
          <a:p>
            <a:pPr algn="l">
              <a:lnSpc>
                <a:spcPts val="1600"/>
              </a:lnSpc>
              <a:spcBef>
                <a:spcPts val="0"/>
              </a:spcBef>
              <a:spcAft>
                <a:spcPts val="0"/>
              </a:spcAft>
            </a:pPr>
            <a:r>
              <a:rPr sz="1260" b="0">
                <a:solidFill>
                  <a:srgbClr val="586B62"/>
                </a:solidFill>
                <a:latin typeface="Arial"/>
              </a:rPr>
              <a:t>Example matching patterns</a:t>
            </a:r>
          </a:p>
        </p:txBody>
      </p:sp>
      <p:cxnSp>
        <p:nvCxnSpPr>
          <p:cNvPr id="19" name="Connector 18"/>
          <p:cNvCxnSpPr/>
          <p:nvPr/>
        </p:nvCxnSpPr>
        <p:spPr>
          <a:xfrm>
            <a:off x="579120" y="6347460"/>
            <a:ext cx="11033760" cy="0"/>
          </a:xfrm>
          <a:prstGeom prst="line">
            <a:avLst/>
          </a:prstGeom>
          <a:ln w="7620">
            <a:solidFill>
              <a:srgbClr val="D2DCD3"/>
            </a:solidFill>
          </a:ln>
          <a:effectLst/>
        </p:spPr>
      </p:cxnSp>
      <p:sp>
        <p:nvSpPr>
          <p:cNvPr id="20" name="TextBox 19"/>
          <p:cNvSpPr txBox="1"/>
          <p:nvPr/>
        </p:nvSpPr>
        <p:spPr>
          <a:xfrm>
            <a:off x="594360" y="6484620"/>
            <a:ext cx="89916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0">
                <a:solidFill>
                  <a:srgbClr val="586B62"/>
                </a:solidFill>
                <a:latin typeface="Arial"/>
              </a:rPr>
              <a:t>FRANKLIN WAGGONER / AI IN EVERYDAY IT</a:t>
            </a:r>
          </a:p>
        </p:txBody>
      </p:sp>
      <p:sp>
        <p:nvSpPr>
          <p:cNvPr id="21" name="TextBox 20"/>
          <p:cNvSpPr txBox="1"/>
          <p:nvPr/>
        </p:nvSpPr>
        <p:spPr>
          <a:xfrm>
            <a:off x="10591800" y="6484620"/>
            <a:ext cx="1021080" cy="215798"/>
          </a:xfrm>
          <a:prstGeom prst="rect">
            <a:avLst/>
          </a:prstGeom>
          <a:noFill/>
          <a:effectLst/>
        </p:spPr>
        <p:txBody>
          <a:bodyPr wrap="none" lIns="0" rIns="0" tIns="0" bIns="0" anchor="t">
            <a:spAutoFit/>
          </a:bodyPr>
          <a:lstStyle/>
          <a:p>
            <a:pPr algn="r">
              <a:lnSpc>
                <a:spcPts val="1219"/>
              </a:lnSpc>
              <a:spcBef>
                <a:spcPts val="0"/>
              </a:spcBef>
              <a:spcAft>
                <a:spcPts val="0"/>
              </a:spcAft>
            </a:pPr>
            <a:r>
              <a:rPr sz="960" b="0">
                <a:solidFill>
                  <a:srgbClr val="586B62"/>
                </a:solidFill>
                <a:latin typeface="Arial"/>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594360" y="327660"/>
            <a:ext cx="106680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1">
                <a:solidFill>
                  <a:srgbClr val="176C4B"/>
                </a:solidFill>
                <a:latin typeface="Arial"/>
              </a:rPr>
              <a:t>01 / JIRA MCP</a:t>
            </a:r>
          </a:p>
        </p:txBody>
      </p:sp>
      <p:sp>
        <p:nvSpPr>
          <p:cNvPr id="3" name="TextBox 2"/>
          <p:cNvSpPr txBox="1"/>
          <p:nvPr/>
        </p:nvSpPr>
        <p:spPr>
          <a:xfrm>
            <a:off x="579120" y="693420"/>
            <a:ext cx="11033760" cy="517321"/>
          </a:xfrm>
          <a:prstGeom prst="rect">
            <a:avLst/>
          </a:prstGeom>
          <a:noFill/>
          <a:effectLst/>
        </p:spPr>
        <p:txBody>
          <a:bodyPr wrap="none" lIns="0" rIns="0" tIns="0" bIns="0" anchor="t">
            <a:spAutoFit/>
          </a:bodyPr>
          <a:lstStyle/>
          <a:p>
            <a:pPr algn="l">
              <a:lnSpc>
                <a:spcPts val="3593"/>
              </a:lnSpc>
              <a:spcBef>
                <a:spcPts val="0"/>
              </a:spcBef>
              <a:spcAft>
                <a:spcPts val="0"/>
              </a:spcAft>
            </a:pPr>
            <a:r>
              <a:rPr sz="3179" b="1">
                <a:solidFill>
                  <a:srgbClr val="152F27"/>
                </a:solidFill>
                <a:latin typeface="Arial"/>
              </a:rPr>
              <a:t>I took the fix from diagnosis to deployment.</a:t>
            </a:r>
          </a:p>
        </p:txBody>
      </p:sp>
      <p:sp>
        <p:nvSpPr>
          <p:cNvPr id="4" name="TextBox 3"/>
          <p:cNvSpPr txBox="1"/>
          <p:nvPr/>
        </p:nvSpPr>
        <p:spPr>
          <a:xfrm>
            <a:off x="594360" y="1287780"/>
            <a:ext cx="10934700" cy="325526"/>
          </a:xfrm>
          <a:prstGeom prst="rect">
            <a:avLst/>
          </a:prstGeom>
          <a:noFill/>
          <a:effectLst/>
        </p:spPr>
        <p:txBody>
          <a:bodyPr wrap="none" lIns="0" rIns="0" tIns="0" bIns="0" anchor="t">
            <a:spAutoFit/>
          </a:bodyPr>
          <a:lstStyle/>
          <a:p>
            <a:pPr algn="l">
              <a:lnSpc>
                <a:spcPts val="2083"/>
              </a:lnSpc>
              <a:spcBef>
                <a:spcPts val="0"/>
              </a:spcBef>
              <a:spcAft>
                <a:spcPts val="0"/>
              </a:spcAft>
            </a:pPr>
            <a:r>
              <a:rPr sz="1680" b="0">
                <a:solidFill>
                  <a:srgbClr val="586B62"/>
                </a:solidFill>
                <a:latin typeface="Arial"/>
              </a:rPr>
              <a:t>I implemented and tested the change, then brought it to AI Security for review and deployment.</a:t>
            </a:r>
          </a:p>
        </p:txBody>
      </p:sp>
      <p:sp>
        <p:nvSpPr>
          <p:cNvPr id="5" name="TextBox 4"/>
          <p:cNvSpPr txBox="1"/>
          <p:nvPr/>
        </p:nvSpPr>
        <p:spPr>
          <a:xfrm>
            <a:off x="594360" y="2316480"/>
            <a:ext cx="2446020" cy="670636"/>
          </a:xfrm>
          <a:prstGeom prst="rect">
            <a:avLst/>
          </a:prstGeom>
          <a:noFill/>
          <a:effectLst/>
        </p:spPr>
        <p:txBody>
          <a:bodyPr wrap="none" lIns="0" rIns="0" tIns="0" bIns="0" anchor="t">
            <a:spAutoFit/>
          </a:bodyPr>
          <a:lstStyle/>
          <a:p>
            <a:pPr algn="l">
              <a:lnSpc>
                <a:spcPts val="4800"/>
              </a:lnSpc>
              <a:spcBef>
                <a:spcPts val="0"/>
              </a:spcBef>
              <a:spcAft>
                <a:spcPts val="0"/>
              </a:spcAft>
            </a:pPr>
            <a:r>
              <a:rPr sz="3779" b="0">
                <a:solidFill>
                  <a:srgbClr val="A6B3A9"/>
                </a:solidFill>
                <a:latin typeface="Arial"/>
              </a:rPr>
              <a:t>01</a:t>
            </a:r>
          </a:p>
        </p:txBody>
      </p:sp>
      <p:cxnSp>
        <p:nvCxnSpPr>
          <p:cNvPr id="6" name="Connector 5"/>
          <p:cNvCxnSpPr/>
          <p:nvPr/>
        </p:nvCxnSpPr>
        <p:spPr>
          <a:xfrm>
            <a:off x="594360" y="2979420"/>
            <a:ext cx="2446020" cy="0"/>
          </a:xfrm>
          <a:prstGeom prst="line">
            <a:avLst/>
          </a:prstGeom>
          <a:ln w="22859">
            <a:solidFill>
              <a:srgbClr val="D2DCD3"/>
            </a:solidFill>
          </a:ln>
          <a:effectLst/>
        </p:spPr>
      </p:cxnSp>
      <p:sp>
        <p:nvSpPr>
          <p:cNvPr id="7" name="TextBox 6"/>
          <p:cNvSpPr txBox="1"/>
          <p:nvPr/>
        </p:nvSpPr>
        <p:spPr>
          <a:xfrm>
            <a:off x="594360" y="3238500"/>
            <a:ext cx="2446020" cy="636422"/>
          </a:xfrm>
          <a:prstGeom prst="rect">
            <a:avLst/>
          </a:prstGeom>
          <a:noFill/>
          <a:effectLst/>
        </p:spPr>
        <p:txBody>
          <a:bodyPr wrap="none" lIns="0" rIns="0" tIns="0" bIns="0" anchor="t">
            <a:spAutoFit/>
          </a:bodyPr>
          <a:lstStyle/>
          <a:p>
            <a:pPr algn="l">
              <a:lnSpc>
                <a:spcPts val="2265"/>
              </a:lnSpc>
              <a:spcBef>
                <a:spcPts val="0"/>
              </a:spcBef>
              <a:spcAft>
                <a:spcPts val="0"/>
              </a:spcAft>
            </a:pPr>
            <a:r>
              <a:rPr sz="1920" b="1">
                <a:solidFill>
                  <a:srgbClr val="152F27"/>
                </a:solidFill>
                <a:latin typeface="Arial"/>
              </a:rPr>
              <a:t>I changed the</a:t>
            </a:r>
          </a:p>
          <a:p>
            <a:pPr algn="l">
              <a:lnSpc>
                <a:spcPts val="2265"/>
              </a:lnSpc>
              <a:spcBef>
                <a:spcPts val="0"/>
              </a:spcBef>
              <a:spcAft>
                <a:spcPts val="0"/>
              </a:spcAft>
            </a:pPr>
            <a:r>
              <a:rPr sz="1920" b="1">
                <a:solidFill>
                  <a:srgbClr val="152F27"/>
                </a:solidFill>
                <a:latin typeface="Arial"/>
              </a:rPr>
              <a:t>parser</a:t>
            </a:r>
          </a:p>
        </p:txBody>
      </p:sp>
      <p:sp>
        <p:nvSpPr>
          <p:cNvPr id="8" name="TextBox 7"/>
          <p:cNvSpPr txBox="1"/>
          <p:nvPr/>
        </p:nvSpPr>
        <p:spPr>
          <a:xfrm>
            <a:off x="594360" y="4130040"/>
            <a:ext cx="2446020" cy="591769"/>
          </a:xfrm>
          <a:prstGeom prst="rect">
            <a:avLst/>
          </a:prstGeom>
          <a:noFill/>
          <a:effectLst/>
        </p:spPr>
        <p:txBody>
          <a:bodyPr wrap="none" lIns="0" rIns="0" tIns="0" bIns="0" anchor="t">
            <a:spAutoFit/>
          </a:bodyPr>
          <a:lstStyle/>
          <a:p>
            <a:pPr algn="l">
              <a:lnSpc>
                <a:spcPts val="2089"/>
              </a:lnSpc>
              <a:spcBef>
                <a:spcPts val="0"/>
              </a:spcBef>
              <a:spcAft>
                <a:spcPts val="0"/>
              </a:spcAft>
            </a:pPr>
            <a:r>
              <a:rPr sz="1620" b="0">
                <a:solidFill>
                  <a:srgbClr val="586B62"/>
                </a:solidFill>
                <a:latin typeface="Arial"/>
              </a:rPr>
              <a:t>Recognize the affected ID</a:t>
            </a:r>
          </a:p>
          <a:p>
            <a:pPr algn="l">
              <a:lnSpc>
                <a:spcPts val="2089"/>
              </a:lnSpc>
              <a:spcBef>
                <a:spcPts val="0"/>
              </a:spcBef>
              <a:spcAft>
                <a:spcPts val="0"/>
              </a:spcAft>
            </a:pPr>
            <a:r>
              <a:rPr sz="1620" b="0">
                <a:solidFill>
                  <a:srgbClr val="586B62"/>
                </a:solidFill>
                <a:latin typeface="Arial"/>
              </a:rPr>
              <a:t>format.</a:t>
            </a:r>
          </a:p>
        </p:txBody>
      </p:sp>
      <p:cxnSp>
        <p:nvCxnSpPr>
          <p:cNvPr id="9" name="Connector 8"/>
          <p:cNvCxnSpPr/>
          <p:nvPr/>
        </p:nvCxnSpPr>
        <p:spPr>
          <a:xfrm>
            <a:off x="3101340" y="3566160"/>
            <a:ext cx="274320" cy="0"/>
          </a:xfrm>
          <a:prstGeom prst="line">
            <a:avLst/>
          </a:prstGeom>
          <a:ln w="22859">
            <a:solidFill>
              <a:srgbClr val="A6B3A9"/>
            </a:solidFill>
            <a:tailEnd type="triangle" w="sm" len="sm"/>
          </a:ln>
          <a:effectLst/>
        </p:spPr>
      </p:cxnSp>
      <p:sp>
        <p:nvSpPr>
          <p:cNvPr id="10" name="TextBox 9"/>
          <p:cNvSpPr txBox="1"/>
          <p:nvPr/>
        </p:nvSpPr>
        <p:spPr>
          <a:xfrm>
            <a:off x="3451860" y="2316480"/>
            <a:ext cx="2446020" cy="670636"/>
          </a:xfrm>
          <a:prstGeom prst="rect">
            <a:avLst/>
          </a:prstGeom>
          <a:noFill/>
          <a:effectLst/>
        </p:spPr>
        <p:txBody>
          <a:bodyPr wrap="none" lIns="0" rIns="0" tIns="0" bIns="0" anchor="t">
            <a:spAutoFit/>
          </a:bodyPr>
          <a:lstStyle/>
          <a:p>
            <a:pPr algn="l">
              <a:lnSpc>
                <a:spcPts val="4800"/>
              </a:lnSpc>
              <a:spcBef>
                <a:spcPts val="0"/>
              </a:spcBef>
              <a:spcAft>
                <a:spcPts val="0"/>
              </a:spcAft>
            </a:pPr>
            <a:r>
              <a:rPr sz="3779" b="0">
                <a:solidFill>
                  <a:srgbClr val="A6B3A9"/>
                </a:solidFill>
                <a:latin typeface="Arial"/>
              </a:rPr>
              <a:t>02</a:t>
            </a:r>
          </a:p>
        </p:txBody>
      </p:sp>
      <p:cxnSp>
        <p:nvCxnSpPr>
          <p:cNvPr id="11" name="Connector 10"/>
          <p:cNvCxnSpPr/>
          <p:nvPr/>
        </p:nvCxnSpPr>
        <p:spPr>
          <a:xfrm>
            <a:off x="3451860" y="2979420"/>
            <a:ext cx="2446020" cy="0"/>
          </a:xfrm>
          <a:prstGeom prst="line">
            <a:avLst/>
          </a:prstGeom>
          <a:ln w="22859">
            <a:solidFill>
              <a:srgbClr val="D2DCD3"/>
            </a:solidFill>
          </a:ln>
          <a:effectLst/>
        </p:spPr>
      </p:cxnSp>
      <p:sp>
        <p:nvSpPr>
          <p:cNvPr id="12" name="TextBox 11"/>
          <p:cNvSpPr txBox="1"/>
          <p:nvPr/>
        </p:nvSpPr>
        <p:spPr>
          <a:xfrm>
            <a:off x="3451860" y="3238500"/>
            <a:ext cx="2446020" cy="636422"/>
          </a:xfrm>
          <a:prstGeom prst="rect">
            <a:avLst/>
          </a:prstGeom>
          <a:noFill/>
          <a:effectLst/>
        </p:spPr>
        <p:txBody>
          <a:bodyPr wrap="none" lIns="0" rIns="0" tIns="0" bIns="0" anchor="t">
            <a:spAutoFit/>
          </a:bodyPr>
          <a:lstStyle/>
          <a:p>
            <a:pPr algn="l">
              <a:lnSpc>
                <a:spcPts val="2265"/>
              </a:lnSpc>
              <a:spcBef>
                <a:spcPts val="0"/>
              </a:spcBef>
              <a:spcAft>
                <a:spcPts val="0"/>
              </a:spcAft>
            </a:pPr>
            <a:r>
              <a:rPr sz="1920" b="1">
                <a:solidFill>
                  <a:srgbClr val="152F27"/>
                </a:solidFill>
                <a:latin typeface="Arial"/>
              </a:rPr>
              <a:t>I retested both</a:t>
            </a:r>
          </a:p>
          <a:p>
            <a:pPr algn="l">
              <a:lnSpc>
                <a:spcPts val="2265"/>
              </a:lnSpc>
              <a:spcBef>
                <a:spcPts val="0"/>
              </a:spcBef>
              <a:spcAft>
                <a:spcPts val="0"/>
              </a:spcAft>
            </a:pPr>
            <a:r>
              <a:rPr sz="1920" b="1">
                <a:solidFill>
                  <a:srgbClr val="152F27"/>
                </a:solidFill>
                <a:latin typeface="Arial"/>
              </a:rPr>
              <a:t>formats</a:t>
            </a:r>
          </a:p>
        </p:txBody>
      </p:sp>
      <p:sp>
        <p:nvSpPr>
          <p:cNvPr id="13" name="TextBox 12"/>
          <p:cNvSpPr txBox="1"/>
          <p:nvPr/>
        </p:nvSpPr>
        <p:spPr>
          <a:xfrm>
            <a:off x="3451860" y="4130040"/>
            <a:ext cx="2446020" cy="591769"/>
          </a:xfrm>
          <a:prstGeom prst="rect">
            <a:avLst/>
          </a:prstGeom>
          <a:noFill/>
          <a:effectLst/>
        </p:spPr>
        <p:txBody>
          <a:bodyPr wrap="none" lIns="0" rIns="0" tIns="0" bIns="0" anchor="t">
            <a:spAutoFit/>
          </a:bodyPr>
          <a:lstStyle/>
          <a:p>
            <a:pPr algn="l">
              <a:lnSpc>
                <a:spcPts val="2089"/>
              </a:lnSpc>
              <a:spcBef>
                <a:spcPts val="0"/>
              </a:spcBef>
              <a:spcAft>
                <a:spcPts val="0"/>
              </a:spcAft>
            </a:pPr>
            <a:r>
              <a:rPr sz="1620" b="0">
                <a:solidFill>
                  <a:srgbClr val="586B62"/>
                </a:solidFill>
                <a:latin typeface="Arial"/>
              </a:rPr>
              <a:t>Check the working and</a:t>
            </a:r>
          </a:p>
          <a:p>
            <a:pPr algn="l">
              <a:lnSpc>
                <a:spcPts val="2089"/>
              </a:lnSpc>
              <a:spcBef>
                <a:spcPts val="0"/>
              </a:spcBef>
              <a:spcAft>
                <a:spcPts val="0"/>
              </a:spcAft>
            </a:pPr>
            <a:r>
              <a:rPr sz="1620" b="0">
                <a:solidFill>
                  <a:srgbClr val="586B62"/>
                </a:solidFill>
                <a:latin typeface="Arial"/>
              </a:rPr>
              <a:t>previously failing cases.</a:t>
            </a:r>
          </a:p>
        </p:txBody>
      </p:sp>
      <p:cxnSp>
        <p:nvCxnSpPr>
          <p:cNvPr id="14" name="Connector 13"/>
          <p:cNvCxnSpPr/>
          <p:nvPr/>
        </p:nvCxnSpPr>
        <p:spPr>
          <a:xfrm>
            <a:off x="5958840" y="3566160"/>
            <a:ext cx="274320" cy="0"/>
          </a:xfrm>
          <a:prstGeom prst="line">
            <a:avLst/>
          </a:prstGeom>
          <a:ln w="22859">
            <a:solidFill>
              <a:srgbClr val="A6B3A9"/>
            </a:solidFill>
            <a:tailEnd type="triangle" w="sm" len="sm"/>
          </a:ln>
          <a:effectLst/>
        </p:spPr>
      </p:cxnSp>
      <p:sp>
        <p:nvSpPr>
          <p:cNvPr id="15" name="TextBox 14"/>
          <p:cNvSpPr txBox="1"/>
          <p:nvPr/>
        </p:nvSpPr>
        <p:spPr>
          <a:xfrm>
            <a:off x="6309360" y="2316480"/>
            <a:ext cx="2446020" cy="670636"/>
          </a:xfrm>
          <a:prstGeom prst="rect">
            <a:avLst/>
          </a:prstGeom>
          <a:noFill/>
          <a:effectLst/>
        </p:spPr>
        <p:txBody>
          <a:bodyPr wrap="none" lIns="0" rIns="0" tIns="0" bIns="0" anchor="t">
            <a:spAutoFit/>
          </a:bodyPr>
          <a:lstStyle/>
          <a:p>
            <a:pPr algn="l">
              <a:lnSpc>
                <a:spcPts val="4800"/>
              </a:lnSpc>
              <a:spcBef>
                <a:spcPts val="0"/>
              </a:spcBef>
              <a:spcAft>
                <a:spcPts val="0"/>
              </a:spcAft>
            </a:pPr>
            <a:r>
              <a:rPr sz="3779" b="0">
                <a:solidFill>
                  <a:srgbClr val="A6B3A9"/>
                </a:solidFill>
                <a:latin typeface="Arial"/>
              </a:rPr>
              <a:t>03</a:t>
            </a:r>
          </a:p>
        </p:txBody>
      </p:sp>
      <p:cxnSp>
        <p:nvCxnSpPr>
          <p:cNvPr id="16" name="Connector 15"/>
          <p:cNvCxnSpPr/>
          <p:nvPr/>
        </p:nvCxnSpPr>
        <p:spPr>
          <a:xfrm>
            <a:off x="6309360" y="2979420"/>
            <a:ext cx="2446020" cy="0"/>
          </a:xfrm>
          <a:prstGeom prst="line">
            <a:avLst/>
          </a:prstGeom>
          <a:ln w="22859">
            <a:solidFill>
              <a:srgbClr val="D2DCD3"/>
            </a:solidFill>
          </a:ln>
          <a:effectLst/>
        </p:spPr>
      </p:cxnSp>
      <p:sp>
        <p:nvSpPr>
          <p:cNvPr id="17" name="TextBox 16"/>
          <p:cNvSpPr txBox="1"/>
          <p:nvPr/>
        </p:nvSpPr>
        <p:spPr>
          <a:xfrm>
            <a:off x="6309360" y="3238500"/>
            <a:ext cx="2446020" cy="636422"/>
          </a:xfrm>
          <a:prstGeom prst="rect">
            <a:avLst/>
          </a:prstGeom>
          <a:noFill/>
          <a:effectLst/>
        </p:spPr>
        <p:txBody>
          <a:bodyPr wrap="none" lIns="0" rIns="0" tIns="0" bIns="0" anchor="t">
            <a:spAutoFit/>
          </a:bodyPr>
          <a:lstStyle/>
          <a:p>
            <a:pPr algn="l">
              <a:lnSpc>
                <a:spcPts val="2265"/>
              </a:lnSpc>
              <a:spcBef>
                <a:spcPts val="0"/>
              </a:spcBef>
              <a:spcAft>
                <a:spcPts val="0"/>
              </a:spcAft>
            </a:pPr>
            <a:r>
              <a:rPr sz="1920" b="1">
                <a:solidFill>
                  <a:srgbClr val="152F27"/>
                </a:solidFill>
                <a:latin typeface="Arial"/>
              </a:rPr>
              <a:t>Review and</a:t>
            </a:r>
          </a:p>
          <a:p>
            <a:pPr algn="l">
              <a:lnSpc>
                <a:spcPts val="2265"/>
              </a:lnSpc>
              <a:spcBef>
                <a:spcPts val="0"/>
              </a:spcBef>
              <a:spcAft>
                <a:spcPts val="0"/>
              </a:spcAft>
            </a:pPr>
            <a:r>
              <a:rPr sz="1920" b="1">
                <a:solidFill>
                  <a:srgbClr val="152F27"/>
                </a:solidFill>
                <a:latin typeface="Arial"/>
              </a:rPr>
              <a:t>deployment</a:t>
            </a:r>
          </a:p>
        </p:txBody>
      </p:sp>
      <p:sp>
        <p:nvSpPr>
          <p:cNvPr id="18" name="TextBox 17"/>
          <p:cNvSpPr txBox="1"/>
          <p:nvPr/>
        </p:nvSpPr>
        <p:spPr>
          <a:xfrm>
            <a:off x="6309360" y="4130040"/>
            <a:ext cx="2446020" cy="591769"/>
          </a:xfrm>
          <a:prstGeom prst="rect">
            <a:avLst/>
          </a:prstGeom>
          <a:noFill/>
          <a:effectLst/>
        </p:spPr>
        <p:txBody>
          <a:bodyPr wrap="none" lIns="0" rIns="0" tIns="0" bIns="0" anchor="t">
            <a:spAutoFit/>
          </a:bodyPr>
          <a:lstStyle/>
          <a:p>
            <a:pPr algn="l">
              <a:lnSpc>
                <a:spcPts val="2089"/>
              </a:lnSpc>
              <a:spcBef>
                <a:spcPts val="0"/>
              </a:spcBef>
              <a:spcAft>
                <a:spcPts val="0"/>
              </a:spcAft>
            </a:pPr>
            <a:r>
              <a:rPr sz="1620" b="0">
                <a:solidFill>
                  <a:srgbClr val="586B62"/>
                </a:solidFill>
                <a:latin typeface="Arial"/>
              </a:rPr>
              <a:t>AI Security reviewed and</a:t>
            </a:r>
          </a:p>
          <a:p>
            <a:pPr algn="l">
              <a:lnSpc>
                <a:spcPts val="2089"/>
              </a:lnSpc>
              <a:spcBef>
                <a:spcPts val="0"/>
              </a:spcBef>
              <a:spcAft>
                <a:spcPts val="0"/>
              </a:spcAft>
            </a:pPr>
            <a:r>
              <a:rPr sz="1620" b="0">
                <a:solidFill>
                  <a:srgbClr val="586B62"/>
                </a:solidFill>
                <a:latin typeface="Arial"/>
              </a:rPr>
              <a:t>deployed my change.</a:t>
            </a:r>
          </a:p>
        </p:txBody>
      </p:sp>
      <p:cxnSp>
        <p:nvCxnSpPr>
          <p:cNvPr id="19" name="Connector 18"/>
          <p:cNvCxnSpPr/>
          <p:nvPr/>
        </p:nvCxnSpPr>
        <p:spPr>
          <a:xfrm>
            <a:off x="8816340" y="3566160"/>
            <a:ext cx="274320" cy="0"/>
          </a:xfrm>
          <a:prstGeom prst="line">
            <a:avLst/>
          </a:prstGeom>
          <a:ln w="22859">
            <a:solidFill>
              <a:srgbClr val="A6B3A9"/>
            </a:solidFill>
            <a:tailEnd type="triangle" w="sm" len="sm"/>
          </a:ln>
          <a:effectLst/>
        </p:spPr>
      </p:cxnSp>
      <p:sp>
        <p:nvSpPr>
          <p:cNvPr id="20" name="TextBox 19"/>
          <p:cNvSpPr txBox="1"/>
          <p:nvPr/>
        </p:nvSpPr>
        <p:spPr>
          <a:xfrm>
            <a:off x="9166860" y="2316480"/>
            <a:ext cx="2446020" cy="670636"/>
          </a:xfrm>
          <a:prstGeom prst="rect">
            <a:avLst/>
          </a:prstGeom>
          <a:noFill/>
          <a:effectLst/>
        </p:spPr>
        <p:txBody>
          <a:bodyPr wrap="none" lIns="0" rIns="0" tIns="0" bIns="0" anchor="t">
            <a:spAutoFit/>
          </a:bodyPr>
          <a:lstStyle/>
          <a:p>
            <a:pPr algn="l">
              <a:lnSpc>
                <a:spcPts val="4800"/>
              </a:lnSpc>
              <a:spcBef>
                <a:spcPts val="0"/>
              </a:spcBef>
              <a:spcAft>
                <a:spcPts val="0"/>
              </a:spcAft>
            </a:pPr>
            <a:r>
              <a:rPr sz="3779" b="0">
                <a:solidFill>
                  <a:srgbClr val="176C4B"/>
                </a:solidFill>
                <a:latin typeface="Arial"/>
              </a:rPr>
              <a:t>04</a:t>
            </a:r>
          </a:p>
        </p:txBody>
      </p:sp>
      <p:cxnSp>
        <p:nvCxnSpPr>
          <p:cNvPr id="21" name="Connector 20"/>
          <p:cNvCxnSpPr/>
          <p:nvPr/>
        </p:nvCxnSpPr>
        <p:spPr>
          <a:xfrm>
            <a:off x="9166860" y="2979420"/>
            <a:ext cx="2446020" cy="0"/>
          </a:xfrm>
          <a:prstGeom prst="line">
            <a:avLst/>
          </a:prstGeom>
          <a:ln w="22859">
            <a:solidFill>
              <a:srgbClr val="176C4B"/>
            </a:solidFill>
          </a:ln>
          <a:effectLst/>
        </p:spPr>
      </p:cxnSp>
      <p:sp>
        <p:nvSpPr>
          <p:cNvPr id="22" name="TextBox 21"/>
          <p:cNvSpPr txBox="1"/>
          <p:nvPr/>
        </p:nvSpPr>
        <p:spPr>
          <a:xfrm>
            <a:off x="9166860" y="3238500"/>
            <a:ext cx="2446020" cy="636422"/>
          </a:xfrm>
          <a:prstGeom prst="rect">
            <a:avLst/>
          </a:prstGeom>
          <a:noFill/>
          <a:effectLst/>
        </p:spPr>
        <p:txBody>
          <a:bodyPr wrap="none" lIns="0" rIns="0" tIns="0" bIns="0" anchor="t">
            <a:spAutoFit/>
          </a:bodyPr>
          <a:lstStyle/>
          <a:p>
            <a:pPr algn="l">
              <a:lnSpc>
                <a:spcPts val="2265"/>
              </a:lnSpc>
              <a:spcBef>
                <a:spcPts val="0"/>
              </a:spcBef>
              <a:spcAft>
                <a:spcPts val="0"/>
              </a:spcAft>
            </a:pPr>
            <a:r>
              <a:rPr sz="1920" b="1">
                <a:solidFill>
                  <a:srgbClr val="152F27"/>
                </a:solidFill>
                <a:latin typeface="Arial"/>
              </a:rPr>
              <a:t>Working</a:t>
            </a:r>
          </a:p>
          <a:p>
            <a:pPr algn="l">
              <a:lnSpc>
                <a:spcPts val="2265"/>
              </a:lnSpc>
              <a:spcBef>
                <a:spcPts val="0"/>
              </a:spcBef>
              <a:spcAft>
                <a:spcPts val="0"/>
              </a:spcAft>
            </a:pPr>
            <a:r>
              <a:rPr sz="1920" b="1">
                <a:solidFill>
                  <a:srgbClr val="152F27"/>
                </a:solidFill>
                <a:latin typeface="Arial"/>
              </a:rPr>
              <a:t>mentions</a:t>
            </a:r>
          </a:p>
        </p:txBody>
      </p:sp>
      <p:sp>
        <p:nvSpPr>
          <p:cNvPr id="23" name="TextBox 22"/>
          <p:cNvSpPr txBox="1"/>
          <p:nvPr/>
        </p:nvSpPr>
        <p:spPr>
          <a:xfrm>
            <a:off x="9166860" y="4130040"/>
            <a:ext cx="2446020" cy="591769"/>
          </a:xfrm>
          <a:prstGeom prst="rect">
            <a:avLst/>
          </a:prstGeom>
          <a:noFill/>
          <a:effectLst/>
        </p:spPr>
        <p:txBody>
          <a:bodyPr wrap="none" lIns="0" rIns="0" tIns="0" bIns="0" anchor="t">
            <a:spAutoFit/>
          </a:bodyPr>
          <a:lstStyle/>
          <a:p>
            <a:pPr algn="l">
              <a:lnSpc>
                <a:spcPts val="2089"/>
              </a:lnSpc>
              <a:spcBef>
                <a:spcPts val="0"/>
              </a:spcBef>
              <a:spcAft>
                <a:spcPts val="0"/>
              </a:spcAft>
            </a:pPr>
            <a:r>
              <a:rPr sz="1620" b="0">
                <a:solidFill>
                  <a:srgbClr val="586B62"/>
                </a:solidFill>
                <a:latin typeface="Arial"/>
              </a:rPr>
              <a:t>Affected accounts now</a:t>
            </a:r>
          </a:p>
          <a:p>
            <a:pPr algn="l">
              <a:lnSpc>
                <a:spcPts val="2089"/>
              </a:lnSpc>
              <a:spcBef>
                <a:spcPts val="0"/>
              </a:spcBef>
              <a:spcAft>
                <a:spcPts val="0"/>
              </a:spcAft>
            </a:pPr>
            <a:r>
              <a:rPr sz="1620" b="0">
                <a:solidFill>
                  <a:srgbClr val="586B62"/>
                </a:solidFill>
                <a:latin typeface="Arial"/>
              </a:rPr>
              <a:t>resolved in Jira.</a:t>
            </a:r>
          </a:p>
        </p:txBody>
      </p:sp>
      <p:cxnSp>
        <p:nvCxnSpPr>
          <p:cNvPr id="24" name="Connector 23"/>
          <p:cNvCxnSpPr/>
          <p:nvPr/>
        </p:nvCxnSpPr>
        <p:spPr>
          <a:xfrm>
            <a:off x="594360" y="5280660"/>
            <a:ext cx="11018520" cy="0"/>
          </a:xfrm>
          <a:prstGeom prst="line">
            <a:avLst/>
          </a:prstGeom>
          <a:ln w="15240">
            <a:solidFill>
              <a:srgbClr val="D2DCD3"/>
            </a:solidFill>
          </a:ln>
          <a:effectLst/>
        </p:spPr>
      </p:cxnSp>
      <p:sp>
        <p:nvSpPr>
          <p:cNvPr id="25" name="TextBox 24"/>
          <p:cNvSpPr txBox="1"/>
          <p:nvPr/>
        </p:nvSpPr>
        <p:spPr>
          <a:xfrm>
            <a:off x="594360" y="5623560"/>
            <a:ext cx="10934700" cy="351282"/>
          </a:xfrm>
          <a:prstGeom prst="rect">
            <a:avLst/>
          </a:prstGeom>
          <a:noFill/>
          <a:effectLst/>
        </p:spPr>
        <p:txBody>
          <a:bodyPr wrap="none" lIns="0" rIns="0" tIns="0" bIns="0" anchor="t">
            <a:spAutoFit/>
          </a:bodyPr>
          <a:lstStyle/>
          <a:p>
            <a:pPr algn="l">
              <a:lnSpc>
                <a:spcPts val="2286"/>
              </a:lnSpc>
              <a:spcBef>
                <a:spcPts val="0"/>
              </a:spcBef>
              <a:spcAft>
                <a:spcPts val="0"/>
              </a:spcAft>
            </a:pPr>
            <a:r>
              <a:rPr sz="1800" b="0">
                <a:solidFill>
                  <a:srgbClr val="176C4B"/>
                </a:solidFill>
                <a:latin typeface="Arial"/>
              </a:rPr>
              <a:t>The result: the previously failing mentions worked in production.</a:t>
            </a:r>
          </a:p>
        </p:txBody>
      </p:sp>
      <p:cxnSp>
        <p:nvCxnSpPr>
          <p:cNvPr id="26" name="Connector 25"/>
          <p:cNvCxnSpPr/>
          <p:nvPr/>
        </p:nvCxnSpPr>
        <p:spPr>
          <a:xfrm>
            <a:off x="579120" y="6347460"/>
            <a:ext cx="11033760" cy="0"/>
          </a:xfrm>
          <a:prstGeom prst="line">
            <a:avLst/>
          </a:prstGeom>
          <a:ln w="7620">
            <a:solidFill>
              <a:srgbClr val="D2DCD3"/>
            </a:solidFill>
          </a:ln>
          <a:effectLst/>
        </p:spPr>
      </p:cxnSp>
      <p:sp>
        <p:nvSpPr>
          <p:cNvPr id="27" name="TextBox 26"/>
          <p:cNvSpPr txBox="1"/>
          <p:nvPr/>
        </p:nvSpPr>
        <p:spPr>
          <a:xfrm>
            <a:off x="594360" y="6484620"/>
            <a:ext cx="89916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0">
                <a:solidFill>
                  <a:srgbClr val="586B62"/>
                </a:solidFill>
                <a:latin typeface="Arial"/>
              </a:rPr>
              <a:t>FRANKLIN WAGGONER / AI IN EVERYDAY IT</a:t>
            </a:r>
          </a:p>
        </p:txBody>
      </p:sp>
      <p:sp>
        <p:nvSpPr>
          <p:cNvPr id="28" name="TextBox 27"/>
          <p:cNvSpPr txBox="1"/>
          <p:nvPr/>
        </p:nvSpPr>
        <p:spPr>
          <a:xfrm>
            <a:off x="10591800" y="6484620"/>
            <a:ext cx="1021080" cy="215798"/>
          </a:xfrm>
          <a:prstGeom prst="rect">
            <a:avLst/>
          </a:prstGeom>
          <a:noFill/>
          <a:effectLst/>
        </p:spPr>
        <p:txBody>
          <a:bodyPr wrap="none" lIns="0" rIns="0" tIns="0" bIns="0" anchor="t">
            <a:spAutoFit/>
          </a:bodyPr>
          <a:lstStyle/>
          <a:p>
            <a:pPr algn="r">
              <a:lnSpc>
                <a:spcPts val="1219"/>
              </a:lnSpc>
              <a:spcBef>
                <a:spcPts val="0"/>
              </a:spcBef>
              <a:spcAft>
                <a:spcPts val="0"/>
              </a:spcAft>
            </a:pPr>
            <a:r>
              <a:rPr sz="960" b="0">
                <a:solidFill>
                  <a:srgbClr val="586B62"/>
                </a:solidFill>
                <a:latin typeface="Arial"/>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594360" y="327660"/>
            <a:ext cx="106680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1">
                <a:solidFill>
                  <a:srgbClr val="176C4B"/>
                </a:solidFill>
                <a:latin typeface="Arial"/>
              </a:rPr>
              <a:t>01 / JIRA MCP</a:t>
            </a:r>
          </a:p>
        </p:txBody>
      </p:sp>
      <p:sp>
        <p:nvSpPr>
          <p:cNvPr id="3" name="TextBox 2"/>
          <p:cNvSpPr txBox="1"/>
          <p:nvPr/>
        </p:nvSpPr>
        <p:spPr>
          <a:xfrm>
            <a:off x="579120" y="693420"/>
            <a:ext cx="11033760" cy="517321"/>
          </a:xfrm>
          <a:prstGeom prst="rect">
            <a:avLst/>
          </a:prstGeom>
          <a:noFill/>
          <a:effectLst/>
        </p:spPr>
        <p:txBody>
          <a:bodyPr wrap="none" lIns="0" rIns="0" tIns="0" bIns="0" anchor="t">
            <a:spAutoFit/>
          </a:bodyPr>
          <a:lstStyle/>
          <a:p>
            <a:pPr algn="l">
              <a:lnSpc>
                <a:spcPts val="3593"/>
              </a:lnSpc>
              <a:spcBef>
                <a:spcPts val="0"/>
              </a:spcBef>
              <a:spcAft>
                <a:spcPts val="0"/>
              </a:spcAft>
            </a:pPr>
            <a:r>
              <a:rPr sz="3179" b="1">
                <a:solidFill>
                  <a:srgbClr val="152F27"/>
                </a:solidFill>
                <a:latin typeface="Arial"/>
              </a:rPr>
              <a:t>My first open source contribution was merged.</a:t>
            </a:r>
          </a:p>
        </p:txBody>
      </p:sp>
      <p:sp>
        <p:nvSpPr>
          <p:cNvPr id="4" name="TextBox 3"/>
          <p:cNvSpPr txBox="1"/>
          <p:nvPr/>
        </p:nvSpPr>
        <p:spPr>
          <a:xfrm>
            <a:off x="594360" y="1287780"/>
            <a:ext cx="10934700" cy="325526"/>
          </a:xfrm>
          <a:prstGeom prst="rect">
            <a:avLst/>
          </a:prstGeom>
          <a:noFill/>
          <a:effectLst/>
        </p:spPr>
        <p:txBody>
          <a:bodyPr wrap="none" lIns="0" rIns="0" tIns="0" bIns="0" anchor="t">
            <a:spAutoFit/>
          </a:bodyPr>
          <a:lstStyle/>
          <a:p>
            <a:pPr algn="l">
              <a:lnSpc>
                <a:spcPts val="2083"/>
              </a:lnSpc>
              <a:spcBef>
                <a:spcPts val="0"/>
              </a:spcBef>
              <a:spcAft>
                <a:spcPts val="0"/>
              </a:spcAft>
            </a:pPr>
            <a:r>
              <a:rPr sz="1680" b="0">
                <a:solidFill>
                  <a:srgbClr val="586B62"/>
                </a:solidFill>
                <a:latin typeface="Arial"/>
              </a:rPr>
              <a:t>I shared the Jira MCP improvement with the community project we used.</a:t>
            </a:r>
          </a:p>
        </p:txBody>
      </p:sp>
      <p:sp>
        <p:nvSpPr>
          <p:cNvPr id="5" name="Rounded Rectangle 4"/>
          <p:cNvSpPr/>
          <p:nvPr/>
        </p:nvSpPr>
        <p:spPr>
          <a:xfrm>
            <a:off x="594360" y="2148840"/>
            <a:ext cx="4991100" cy="2865120"/>
          </a:xfrm>
          <a:prstGeom prst="roundRect">
            <a:avLst>
              <a:gd name="adj" fmla="val 2127"/>
            </a:avLst>
          </a:prstGeom>
          <a:solidFill>
            <a:srgbClr val="E4F0E6"/>
          </a:solidFill>
          <a:ln w="12192">
            <a:solidFill>
              <a:srgbClr val="176C4B"/>
            </a:solidFill>
          </a:ln>
          <a:effectLst/>
        </p:spPr>
        <p:txBody>
          <a:bodyPr rtlCol="0" anchor="ctr"/>
          <a:lstStyle/>
          <a:p>
            <a:pPr algn="ctr"/>
          </a:p>
        </p:txBody>
      </p:sp>
      <p:sp>
        <p:nvSpPr>
          <p:cNvPr id="6" name="TextBox 5"/>
          <p:cNvSpPr txBox="1"/>
          <p:nvPr/>
        </p:nvSpPr>
        <p:spPr>
          <a:xfrm>
            <a:off x="822960" y="2385060"/>
            <a:ext cx="4229100" cy="235153"/>
          </a:xfrm>
          <a:prstGeom prst="rect">
            <a:avLst/>
          </a:prstGeom>
          <a:noFill/>
          <a:effectLst/>
        </p:spPr>
        <p:txBody>
          <a:bodyPr wrap="none" lIns="0" rIns="0" tIns="0" bIns="0" anchor="t">
            <a:spAutoFit/>
          </a:bodyPr>
          <a:lstStyle/>
          <a:p>
            <a:pPr algn="l">
              <a:lnSpc>
                <a:spcPts val="1371"/>
              </a:lnSpc>
              <a:spcBef>
                <a:spcPts val="0"/>
              </a:spcBef>
              <a:spcAft>
                <a:spcPts val="0"/>
              </a:spcAft>
            </a:pPr>
            <a:r>
              <a:rPr sz="1080" b="1">
                <a:solidFill>
                  <a:srgbClr val="176C4B"/>
                </a:solidFill>
                <a:latin typeface="Arial"/>
              </a:rPr>
              <a:t>MERGED</a:t>
            </a:r>
          </a:p>
        </p:txBody>
      </p:sp>
      <p:sp>
        <p:nvSpPr>
          <p:cNvPr id="7" name="TextBox 6"/>
          <p:cNvSpPr txBox="1"/>
          <p:nvPr/>
        </p:nvSpPr>
        <p:spPr>
          <a:xfrm>
            <a:off x="822960" y="2788920"/>
            <a:ext cx="4305300" cy="486765"/>
          </a:xfrm>
          <a:prstGeom prst="rect">
            <a:avLst/>
          </a:prstGeom>
          <a:noFill/>
          <a:effectLst/>
        </p:spPr>
        <p:txBody>
          <a:bodyPr wrap="none" lIns="0" rIns="0" tIns="0" bIns="0" anchor="t">
            <a:spAutoFit/>
          </a:bodyPr>
          <a:lstStyle/>
          <a:p>
            <a:pPr algn="l">
              <a:lnSpc>
                <a:spcPts val="3352"/>
              </a:lnSpc>
              <a:spcBef>
                <a:spcPts val="0"/>
              </a:spcBef>
              <a:spcAft>
                <a:spcPts val="0"/>
              </a:spcAft>
            </a:pPr>
            <a:r>
              <a:rPr sz="2640" b="1">
                <a:solidFill>
                  <a:srgbClr val="152F27"/>
                </a:solidFill>
                <a:latin typeface="Arial"/>
              </a:rPr>
              <a:t>Pull request #12</a:t>
            </a:r>
          </a:p>
        </p:txBody>
      </p:sp>
      <p:sp>
        <p:nvSpPr>
          <p:cNvPr id="8" name="TextBox 7"/>
          <p:cNvSpPr txBox="1"/>
          <p:nvPr/>
        </p:nvSpPr>
        <p:spPr>
          <a:xfrm>
            <a:off x="822960" y="3337560"/>
            <a:ext cx="4305300" cy="331927"/>
          </a:xfrm>
          <a:prstGeom prst="rect">
            <a:avLst/>
          </a:prstGeom>
          <a:noFill/>
          <a:effectLst/>
        </p:spPr>
        <p:txBody>
          <a:bodyPr wrap="none" lIns="0" rIns="0" tIns="0" bIns="0" anchor="t">
            <a:spAutoFit/>
          </a:bodyPr>
          <a:lstStyle/>
          <a:p>
            <a:pPr algn="l">
              <a:lnSpc>
                <a:spcPts val="2133"/>
              </a:lnSpc>
              <a:spcBef>
                <a:spcPts val="0"/>
              </a:spcBef>
              <a:spcAft>
                <a:spcPts val="0"/>
              </a:spcAft>
            </a:pPr>
            <a:r>
              <a:rPr sz="1680" b="0">
                <a:solidFill>
                  <a:srgbClr val="152F27"/>
                </a:solidFill>
                <a:latin typeface="Arial"/>
              </a:rPr>
              <a:t>George5562 / Jira MCP Server</a:t>
            </a:r>
          </a:p>
        </p:txBody>
      </p:sp>
      <p:sp>
        <p:nvSpPr>
          <p:cNvPr id="9" name="TextBox 8"/>
          <p:cNvSpPr txBox="1"/>
          <p:nvPr/>
        </p:nvSpPr>
        <p:spPr>
          <a:xfrm>
            <a:off x="822960" y="3802380"/>
            <a:ext cx="4305300" cy="370636"/>
          </a:xfrm>
          <a:prstGeom prst="rect">
            <a:avLst/>
          </a:prstGeom>
          <a:noFill/>
          <a:effectLst/>
        </p:spPr>
        <p:txBody>
          <a:bodyPr wrap="none" lIns="0" rIns="0" tIns="0" bIns="0" anchor="t">
            <a:spAutoFit/>
          </a:bodyPr>
          <a:lstStyle/>
          <a:p>
            <a:pPr algn="l">
              <a:lnSpc>
                <a:spcPts val="2438"/>
              </a:lnSpc>
              <a:spcBef>
                <a:spcPts val="0"/>
              </a:spcBef>
              <a:spcAft>
                <a:spcPts val="0"/>
              </a:spcAft>
            </a:pPr>
            <a:r>
              <a:rPr sz="1920" b="0">
                <a:solidFill>
                  <a:srgbClr val="176C4B"/>
                </a:solidFill>
                <a:latin typeface="Arial"/>
              </a:rPr>
              <a:t>September 8, 2025</a:t>
            </a:r>
          </a:p>
        </p:txBody>
      </p:sp>
      <p:sp>
        <p:nvSpPr>
          <p:cNvPr id="10" name="TextBox 9"/>
          <p:cNvSpPr txBox="1"/>
          <p:nvPr/>
        </p:nvSpPr>
        <p:spPr>
          <a:xfrm>
            <a:off x="822960" y="4495800"/>
            <a:ext cx="4305300" cy="302895"/>
          </a:xfrm>
          <a:prstGeom prst="rect">
            <a:avLst/>
          </a:prstGeom>
          <a:noFill/>
          <a:effectLst/>
        </p:spPr>
        <p:txBody>
          <a:bodyPr wrap="none" lIns="0" rIns="0" tIns="0" bIns="0" anchor="t">
            <a:spAutoFit/>
          </a:bodyPr>
          <a:lstStyle/>
          <a:p>
            <a:pPr algn="l">
              <a:lnSpc>
                <a:spcPts val="1905"/>
              </a:lnSpc>
              <a:spcBef>
                <a:spcPts val="0"/>
              </a:spcBef>
              <a:spcAft>
                <a:spcPts val="0"/>
              </a:spcAft>
            </a:pPr>
            <a:r>
              <a:rPr sz="1500" b="0" u="sng">
                <a:solidFill>
                  <a:srgbClr val="176C4B"/>
                </a:solidFill>
                <a:latin typeface="Arial"/>
                <a:hlinkClick r:id="rId2"/>
              </a:rPr>
              <a:t>View the open source change</a:t>
            </a:r>
          </a:p>
        </p:txBody>
      </p:sp>
      <p:sp>
        <p:nvSpPr>
          <p:cNvPr id="11" name="TextBox 10"/>
          <p:cNvSpPr txBox="1"/>
          <p:nvPr/>
        </p:nvSpPr>
        <p:spPr>
          <a:xfrm>
            <a:off x="6126480" y="2240280"/>
            <a:ext cx="5364480" cy="370636"/>
          </a:xfrm>
          <a:prstGeom prst="rect">
            <a:avLst/>
          </a:prstGeom>
          <a:noFill/>
          <a:effectLst/>
        </p:spPr>
        <p:txBody>
          <a:bodyPr wrap="none" lIns="0" rIns="0" tIns="0" bIns="0" anchor="t">
            <a:spAutoFit/>
          </a:bodyPr>
          <a:lstStyle/>
          <a:p>
            <a:pPr algn="l">
              <a:lnSpc>
                <a:spcPts val="2438"/>
              </a:lnSpc>
              <a:spcBef>
                <a:spcPts val="0"/>
              </a:spcBef>
              <a:spcAft>
                <a:spcPts val="0"/>
              </a:spcAft>
            </a:pPr>
            <a:r>
              <a:rPr sz="1920" b="1">
                <a:solidFill>
                  <a:srgbClr val="152F27"/>
                </a:solidFill>
                <a:latin typeface="Arial"/>
              </a:rPr>
              <a:t>Fixing our internal fork</a:t>
            </a:r>
          </a:p>
        </p:txBody>
      </p:sp>
      <p:sp>
        <p:nvSpPr>
          <p:cNvPr id="12" name="TextBox 11"/>
          <p:cNvSpPr txBox="1"/>
          <p:nvPr/>
        </p:nvSpPr>
        <p:spPr>
          <a:xfrm>
            <a:off x="6126480" y="2674620"/>
            <a:ext cx="5311140" cy="615696"/>
          </a:xfrm>
          <a:prstGeom prst="rect">
            <a:avLst/>
          </a:prstGeom>
          <a:noFill/>
          <a:effectLst/>
        </p:spPr>
        <p:txBody>
          <a:bodyPr wrap="none" lIns="0" rIns="0" tIns="0" bIns="0" anchor="t">
            <a:spAutoFit/>
          </a:bodyPr>
          <a:lstStyle/>
          <a:p>
            <a:pPr algn="l">
              <a:lnSpc>
                <a:spcPts val="2184"/>
              </a:lnSpc>
              <a:spcBef>
                <a:spcPts val="0"/>
              </a:spcBef>
              <a:spcAft>
                <a:spcPts val="0"/>
              </a:spcAft>
            </a:pPr>
            <a:r>
              <a:rPr sz="1680" b="0">
                <a:solidFill>
                  <a:srgbClr val="152F27"/>
                </a:solidFill>
                <a:latin typeface="Arial"/>
              </a:rPr>
              <a:t>A focused parsing change accepted the affected Jira</a:t>
            </a:r>
          </a:p>
          <a:p>
            <a:pPr algn="l">
              <a:lnSpc>
                <a:spcPts val="2184"/>
              </a:lnSpc>
              <a:spcBef>
                <a:spcPts val="0"/>
              </a:spcBef>
              <a:spcAft>
                <a:spcPts val="0"/>
              </a:spcAft>
            </a:pPr>
            <a:r>
              <a:rPr sz="1680" b="0">
                <a:solidFill>
                  <a:srgbClr val="152F27"/>
                </a:solidFill>
                <a:latin typeface="Arial"/>
              </a:rPr>
              <a:t>Cloud account IDs.</a:t>
            </a:r>
          </a:p>
        </p:txBody>
      </p:sp>
      <p:sp>
        <p:nvSpPr>
          <p:cNvPr id="13" name="TextBox 12"/>
          <p:cNvSpPr txBox="1"/>
          <p:nvPr/>
        </p:nvSpPr>
        <p:spPr>
          <a:xfrm>
            <a:off x="6126480" y="3619500"/>
            <a:ext cx="5394960" cy="370636"/>
          </a:xfrm>
          <a:prstGeom prst="rect">
            <a:avLst/>
          </a:prstGeom>
          <a:noFill/>
          <a:effectLst/>
        </p:spPr>
        <p:txBody>
          <a:bodyPr wrap="none" lIns="0" rIns="0" tIns="0" bIns="0" anchor="t">
            <a:spAutoFit/>
          </a:bodyPr>
          <a:lstStyle/>
          <a:p>
            <a:pPr algn="l">
              <a:lnSpc>
                <a:spcPts val="2438"/>
              </a:lnSpc>
              <a:spcBef>
                <a:spcPts val="0"/>
              </a:spcBef>
              <a:spcAft>
                <a:spcPts val="0"/>
              </a:spcAft>
            </a:pPr>
            <a:r>
              <a:rPr sz="1920" b="1">
                <a:solidFill>
                  <a:srgbClr val="152F27"/>
                </a:solidFill>
                <a:latin typeface="Arial"/>
              </a:rPr>
              <a:t>Improving the community project</a:t>
            </a:r>
          </a:p>
        </p:txBody>
      </p:sp>
      <p:sp>
        <p:nvSpPr>
          <p:cNvPr id="14" name="TextBox 13"/>
          <p:cNvSpPr txBox="1"/>
          <p:nvPr/>
        </p:nvSpPr>
        <p:spPr>
          <a:xfrm>
            <a:off x="6126480" y="4053840"/>
            <a:ext cx="5349240" cy="615696"/>
          </a:xfrm>
          <a:prstGeom prst="rect">
            <a:avLst/>
          </a:prstGeom>
          <a:noFill/>
          <a:effectLst/>
        </p:spPr>
        <p:txBody>
          <a:bodyPr wrap="none" lIns="0" rIns="0" tIns="0" bIns="0" anchor="t">
            <a:spAutoFit/>
          </a:bodyPr>
          <a:lstStyle/>
          <a:p>
            <a:pPr algn="l">
              <a:lnSpc>
                <a:spcPts val="2184"/>
              </a:lnSpc>
              <a:spcBef>
                <a:spcPts val="0"/>
              </a:spcBef>
              <a:spcAft>
                <a:spcPts val="0"/>
              </a:spcAft>
            </a:pPr>
            <a:r>
              <a:rPr sz="1680" b="0">
                <a:solidFill>
                  <a:srgbClr val="152F27"/>
                </a:solidFill>
                <a:latin typeface="Arial"/>
              </a:rPr>
              <a:t>The public change handled Jira Cloud IDs and produced</a:t>
            </a:r>
          </a:p>
          <a:p>
            <a:pPr algn="l">
              <a:lnSpc>
                <a:spcPts val="2184"/>
              </a:lnSpc>
              <a:spcBef>
                <a:spcPts val="0"/>
              </a:spcBef>
              <a:spcAft>
                <a:spcPts val="0"/>
              </a:spcAft>
            </a:pPr>
            <a:r>
              <a:rPr sz="1680" b="0">
                <a:solidFill>
                  <a:srgbClr val="152F27"/>
                </a:solidFill>
                <a:latin typeface="Arial"/>
              </a:rPr>
              <a:t>structured user mentions.</a:t>
            </a:r>
          </a:p>
        </p:txBody>
      </p:sp>
      <p:sp>
        <p:nvSpPr>
          <p:cNvPr id="15" name="Rounded Rectangle 14"/>
          <p:cNvSpPr/>
          <p:nvPr/>
        </p:nvSpPr>
        <p:spPr>
          <a:xfrm>
            <a:off x="594360" y="5410200"/>
            <a:ext cx="11018520" cy="586740"/>
          </a:xfrm>
          <a:prstGeom prst="roundRect">
            <a:avLst>
              <a:gd name="adj" fmla="val 7792"/>
            </a:avLst>
          </a:prstGeom>
          <a:solidFill>
            <a:srgbClr val="FFFFFF"/>
          </a:solidFill>
          <a:ln w="12192">
            <a:solidFill>
              <a:srgbClr val="D2DCD3"/>
            </a:solidFill>
          </a:ln>
          <a:effectLst/>
        </p:spPr>
        <p:txBody>
          <a:bodyPr rtlCol="0" anchor="ctr"/>
          <a:lstStyle/>
          <a:p>
            <a:pPr algn="ctr"/>
          </a:p>
        </p:txBody>
      </p:sp>
      <p:sp>
        <p:nvSpPr>
          <p:cNvPr id="16" name="TextBox 15"/>
          <p:cNvSpPr txBox="1"/>
          <p:nvPr/>
        </p:nvSpPr>
        <p:spPr>
          <a:xfrm>
            <a:off x="800100" y="5577840"/>
            <a:ext cx="10568940" cy="331927"/>
          </a:xfrm>
          <a:prstGeom prst="rect">
            <a:avLst/>
          </a:prstGeom>
          <a:noFill/>
          <a:effectLst/>
        </p:spPr>
        <p:txBody>
          <a:bodyPr wrap="none" lIns="0" rIns="0" tIns="0" bIns="0" anchor="t">
            <a:spAutoFit/>
          </a:bodyPr>
          <a:lstStyle/>
          <a:p>
            <a:pPr algn="l">
              <a:lnSpc>
                <a:spcPts val="2133"/>
              </a:lnSpc>
              <a:spcBef>
                <a:spcPts val="0"/>
              </a:spcBef>
              <a:spcAft>
                <a:spcPts val="0"/>
              </a:spcAft>
            </a:pPr>
            <a:r>
              <a:rPr sz="1680" b="0">
                <a:solidFill>
                  <a:srgbClr val="152F27"/>
                </a:solidFill>
                <a:latin typeface="Courier New"/>
              </a:rPr>
              <a:t>/&lt;@\s*(accountId|email|legacy)?\s*:\s*([^&gt;]+)&gt;/g</a:t>
            </a:r>
          </a:p>
        </p:txBody>
      </p:sp>
      <p:sp>
        <p:nvSpPr>
          <p:cNvPr id="17" name="TextBox 16"/>
          <p:cNvSpPr txBox="1"/>
          <p:nvPr/>
        </p:nvSpPr>
        <p:spPr>
          <a:xfrm>
            <a:off x="6134100" y="4945380"/>
            <a:ext cx="5295900" cy="254508"/>
          </a:xfrm>
          <a:prstGeom prst="rect">
            <a:avLst/>
          </a:prstGeom>
          <a:noFill/>
          <a:effectLst/>
        </p:spPr>
        <p:txBody>
          <a:bodyPr wrap="none" lIns="0" rIns="0" tIns="0" bIns="0" anchor="t">
            <a:spAutoFit/>
          </a:bodyPr>
          <a:lstStyle/>
          <a:p>
            <a:pPr algn="l">
              <a:lnSpc>
                <a:spcPts val="1524"/>
              </a:lnSpc>
              <a:spcBef>
                <a:spcPts val="0"/>
              </a:spcBef>
              <a:spcAft>
                <a:spcPts val="0"/>
              </a:spcAft>
            </a:pPr>
            <a:r>
              <a:rPr sz="1200" b="0">
                <a:solidFill>
                  <a:srgbClr val="586B62"/>
                </a:solidFill>
                <a:latin typeface="Arial"/>
              </a:rPr>
              <a:t>From the merged public pull request</a:t>
            </a:r>
          </a:p>
        </p:txBody>
      </p:sp>
      <p:cxnSp>
        <p:nvCxnSpPr>
          <p:cNvPr id="18" name="Connector 17"/>
          <p:cNvCxnSpPr/>
          <p:nvPr/>
        </p:nvCxnSpPr>
        <p:spPr>
          <a:xfrm>
            <a:off x="579120" y="6347460"/>
            <a:ext cx="11033760" cy="0"/>
          </a:xfrm>
          <a:prstGeom prst="line">
            <a:avLst/>
          </a:prstGeom>
          <a:ln w="7620">
            <a:solidFill>
              <a:srgbClr val="D2DCD3"/>
            </a:solidFill>
          </a:ln>
          <a:effectLst/>
        </p:spPr>
      </p:cxnSp>
      <p:sp>
        <p:nvSpPr>
          <p:cNvPr id="19" name="TextBox 18"/>
          <p:cNvSpPr txBox="1"/>
          <p:nvPr/>
        </p:nvSpPr>
        <p:spPr>
          <a:xfrm>
            <a:off x="594360" y="6484620"/>
            <a:ext cx="89916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0">
                <a:solidFill>
                  <a:srgbClr val="586B62"/>
                </a:solidFill>
                <a:latin typeface="Arial"/>
              </a:rPr>
              <a:t>FRANKLIN WAGGONER / AI IN EVERYDAY IT</a:t>
            </a:r>
          </a:p>
        </p:txBody>
      </p:sp>
      <p:sp>
        <p:nvSpPr>
          <p:cNvPr id="20" name="TextBox 19"/>
          <p:cNvSpPr txBox="1"/>
          <p:nvPr/>
        </p:nvSpPr>
        <p:spPr>
          <a:xfrm>
            <a:off x="10591800" y="6484620"/>
            <a:ext cx="1021080" cy="215798"/>
          </a:xfrm>
          <a:prstGeom prst="rect">
            <a:avLst/>
          </a:prstGeom>
          <a:noFill/>
          <a:effectLst/>
        </p:spPr>
        <p:txBody>
          <a:bodyPr wrap="none" lIns="0" rIns="0" tIns="0" bIns="0" anchor="t">
            <a:spAutoFit/>
          </a:bodyPr>
          <a:lstStyle/>
          <a:p>
            <a:pPr algn="r">
              <a:lnSpc>
                <a:spcPts val="1219"/>
              </a:lnSpc>
              <a:spcBef>
                <a:spcPts val="0"/>
              </a:spcBef>
              <a:spcAft>
                <a:spcPts val="0"/>
              </a:spcAft>
            </a:pPr>
            <a:r>
              <a:rPr sz="960" b="0">
                <a:solidFill>
                  <a:srgbClr val="586B62"/>
                </a:solidFill>
                <a:latin typeface="Arial"/>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594360" y="579120"/>
            <a:ext cx="1828800" cy="1357731"/>
          </a:xfrm>
          <a:prstGeom prst="rect">
            <a:avLst/>
          </a:prstGeom>
          <a:noFill/>
          <a:effectLst/>
        </p:spPr>
        <p:txBody>
          <a:bodyPr wrap="none" lIns="0" rIns="0" tIns="0" bIns="0" anchor="t">
            <a:spAutoFit/>
          </a:bodyPr>
          <a:lstStyle/>
          <a:p>
            <a:pPr algn="l">
              <a:lnSpc>
                <a:spcPts val="10210"/>
              </a:lnSpc>
              <a:spcBef>
                <a:spcPts val="0"/>
              </a:spcBef>
              <a:spcAft>
                <a:spcPts val="0"/>
              </a:spcAft>
            </a:pPr>
            <a:r>
              <a:rPr sz="8039" b="1">
                <a:solidFill>
                  <a:srgbClr val="176C4B"/>
                </a:solidFill>
                <a:latin typeface="Arial"/>
              </a:rPr>
              <a:t>02</a:t>
            </a:r>
          </a:p>
        </p:txBody>
      </p:sp>
      <p:sp>
        <p:nvSpPr>
          <p:cNvPr id="3" name="TextBox 2"/>
          <p:cNvSpPr txBox="1"/>
          <p:nvPr/>
        </p:nvSpPr>
        <p:spPr>
          <a:xfrm>
            <a:off x="2598420" y="693420"/>
            <a:ext cx="8839200" cy="254508"/>
          </a:xfrm>
          <a:prstGeom prst="rect">
            <a:avLst/>
          </a:prstGeom>
          <a:noFill/>
          <a:effectLst/>
        </p:spPr>
        <p:txBody>
          <a:bodyPr wrap="none" lIns="0" rIns="0" tIns="0" bIns="0" anchor="t">
            <a:spAutoFit/>
          </a:bodyPr>
          <a:lstStyle/>
          <a:p>
            <a:pPr algn="l">
              <a:lnSpc>
                <a:spcPts val="1524"/>
              </a:lnSpc>
              <a:spcBef>
                <a:spcPts val="0"/>
              </a:spcBef>
              <a:spcAft>
                <a:spcPts val="0"/>
              </a:spcAft>
            </a:pPr>
            <a:r>
              <a:rPr sz="1200" b="1">
                <a:solidFill>
                  <a:srgbClr val="176C4B"/>
                </a:solidFill>
                <a:latin typeface="Arial"/>
              </a:rPr>
              <a:t>KNOWLEDGE WORKFLOWS</a:t>
            </a:r>
          </a:p>
        </p:txBody>
      </p:sp>
      <p:sp>
        <p:nvSpPr>
          <p:cNvPr id="4" name="TextBox 3"/>
          <p:cNvSpPr txBox="1"/>
          <p:nvPr/>
        </p:nvSpPr>
        <p:spPr>
          <a:xfrm>
            <a:off x="2598420" y="1112520"/>
            <a:ext cx="8763000" cy="1157325"/>
          </a:xfrm>
          <a:prstGeom prst="rect">
            <a:avLst/>
          </a:prstGeom>
          <a:noFill/>
          <a:effectLst/>
        </p:spPr>
        <p:txBody>
          <a:bodyPr wrap="none" lIns="0" rIns="0" tIns="0" bIns="0" anchor="t">
            <a:spAutoFit/>
          </a:bodyPr>
          <a:lstStyle/>
          <a:p>
            <a:pPr algn="l">
              <a:lnSpc>
                <a:spcPts val="4316"/>
              </a:lnSpc>
              <a:spcBef>
                <a:spcPts val="0"/>
              </a:spcBef>
              <a:spcAft>
                <a:spcPts val="0"/>
              </a:spcAft>
            </a:pPr>
            <a:r>
              <a:rPr sz="3960" b="1">
                <a:solidFill>
                  <a:srgbClr val="152F27"/>
                </a:solidFill>
                <a:latin typeface="Arial"/>
              </a:rPr>
              <a:t>An AI native IT Support</a:t>
            </a:r>
          </a:p>
          <a:p>
            <a:pPr algn="l">
              <a:lnSpc>
                <a:spcPts val="4316"/>
              </a:lnSpc>
              <a:spcBef>
                <a:spcPts val="0"/>
              </a:spcBef>
              <a:spcAft>
                <a:spcPts val="0"/>
              </a:spcAft>
            </a:pPr>
            <a:r>
              <a:rPr sz="3960" b="1">
                <a:solidFill>
                  <a:srgbClr val="152F27"/>
                </a:solidFill>
                <a:latin typeface="Arial"/>
              </a:rPr>
              <a:t>Knowledge Base</a:t>
            </a:r>
          </a:p>
        </p:txBody>
      </p:sp>
      <p:sp>
        <p:nvSpPr>
          <p:cNvPr id="5" name="TextBox 4"/>
          <p:cNvSpPr txBox="1"/>
          <p:nvPr/>
        </p:nvSpPr>
        <p:spPr>
          <a:xfrm>
            <a:off x="2613660" y="2552700"/>
            <a:ext cx="8763000" cy="353568"/>
          </a:xfrm>
          <a:prstGeom prst="rect">
            <a:avLst/>
          </a:prstGeom>
          <a:noFill/>
          <a:effectLst/>
        </p:spPr>
        <p:txBody>
          <a:bodyPr wrap="none" lIns="0" rIns="0" tIns="0" bIns="0" anchor="t">
            <a:spAutoFit/>
          </a:bodyPr>
          <a:lstStyle/>
          <a:p>
            <a:pPr algn="l">
              <a:lnSpc>
                <a:spcPts val="2304"/>
              </a:lnSpc>
              <a:spcBef>
                <a:spcPts val="0"/>
              </a:spcBef>
              <a:spcAft>
                <a:spcPts val="0"/>
              </a:spcAft>
            </a:pPr>
            <a:r>
              <a:rPr sz="1800" b="0">
                <a:solidFill>
                  <a:srgbClr val="586B62"/>
                </a:solidFill>
                <a:latin typeface="Arial"/>
              </a:rPr>
              <a:t>I built a GitHub prototype for search and updates through Goose.</a:t>
            </a:r>
          </a:p>
        </p:txBody>
      </p:sp>
      <p:cxnSp>
        <p:nvCxnSpPr>
          <p:cNvPr id="6" name="Connector 5"/>
          <p:cNvCxnSpPr/>
          <p:nvPr/>
        </p:nvCxnSpPr>
        <p:spPr>
          <a:xfrm>
            <a:off x="594360" y="3497580"/>
            <a:ext cx="11018520" cy="0"/>
          </a:xfrm>
          <a:prstGeom prst="line">
            <a:avLst/>
          </a:prstGeom>
          <a:ln w="15240">
            <a:solidFill>
              <a:srgbClr val="D2DCD3"/>
            </a:solidFill>
          </a:ln>
          <a:effectLst/>
        </p:spPr>
      </p:cxnSp>
      <p:sp>
        <p:nvSpPr>
          <p:cNvPr id="7" name="TextBox 6"/>
          <p:cNvSpPr txBox="1"/>
          <p:nvPr/>
        </p:nvSpPr>
        <p:spPr>
          <a:xfrm>
            <a:off x="594360" y="3909060"/>
            <a:ext cx="4991100" cy="380314"/>
          </a:xfrm>
          <a:prstGeom prst="rect">
            <a:avLst/>
          </a:prstGeom>
          <a:noFill/>
          <a:effectLst/>
        </p:spPr>
        <p:txBody>
          <a:bodyPr wrap="none" lIns="0" rIns="0" tIns="0" bIns="0" anchor="t">
            <a:spAutoFit/>
          </a:bodyPr>
          <a:lstStyle/>
          <a:p>
            <a:pPr algn="l">
              <a:lnSpc>
                <a:spcPts val="2514"/>
              </a:lnSpc>
              <a:spcBef>
                <a:spcPts val="0"/>
              </a:spcBef>
              <a:spcAft>
                <a:spcPts val="0"/>
              </a:spcAft>
            </a:pPr>
            <a:r>
              <a:rPr sz="1980" b="1">
                <a:solidFill>
                  <a:srgbClr val="152F27"/>
                </a:solidFill>
                <a:latin typeface="Arial"/>
              </a:rPr>
              <a:t>The Notion constraint</a:t>
            </a:r>
          </a:p>
        </p:txBody>
      </p:sp>
      <p:sp>
        <p:nvSpPr>
          <p:cNvPr id="8" name="TextBox 7"/>
          <p:cNvSpPr txBox="1"/>
          <p:nvPr/>
        </p:nvSpPr>
        <p:spPr>
          <a:xfrm>
            <a:off x="594360" y="4373880"/>
            <a:ext cx="4953000" cy="942670"/>
          </a:xfrm>
          <a:prstGeom prst="rect">
            <a:avLst/>
          </a:prstGeom>
          <a:noFill/>
          <a:effectLst/>
        </p:spPr>
        <p:txBody>
          <a:bodyPr wrap="none" lIns="0" rIns="0" tIns="0" bIns="0" anchor="t">
            <a:spAutoFit/>
          </a:bodyPr>
          <a:lstStyle/>
          <a:p>
            <a:pPr algn="l">
              <a:lnSpc>
                <a:spcPts val="2314"/>
              </a:lnSpc>
              <a:spcBef>
                <a:spcPts val="0"/>
              </a:spcBef>
              <a:spcAft>
                <a:spcPts val="0"/>
              </a:spcAft>
            </a:pPr>
            <a:r>
              <a:rPr sz="1739" b="0">
                <a:solidFill>
                  <a:srgbClr val="152F27"/>
                </a:solidFill>
                <a:latin typeface="Arial"/>
              </a:rPr>
              <a:t>At the time, the available MCP and API access</a:t>
            </a:r>
          </a:p>
          <a:p>
            <a:pPr algn="l">
              <a:lnSpc>
                <a:spcPts val="2314"/>
              </a:lnSpc>
              <a:spcBef>
                <a:spcPts val="0"/>
              </a:spcBef>
              <a:spcAft>
                <a:spcPts val="0"/>
              </a:spcAft>
            </a:pPr>
            <a:r>
              <a:rPr sz="1739" b="0">
                <a:solidFill>
                  <a:srgbClr val="152F27"/>
                </a:solidFill>
                <a:latin typeface="Arial"/>
              </a:rPr>
              <a:t>meant manual context sharing and broad</a:t>
            </a:r>
          </a:p>
          <a:p>
            <a:pPr algn="l">
              <a:lnSpc>
                <a:spcPts val="2314"/>
              </a:lnSpc>
              <a:spcBef>
                <a:spcPts val="0"/>
              </a:spcBef>
              <a:spcAft>
                <a:spcPts val="0"/>
              </a:spcAft>
            </a:pPr>
            <a:r>
              <a:rPr sz="1739" b="0">
                <a:solidFill>
                  <a:srgbClr val="152F27"/>
                </a:solidFill>
                <a:latin typeface="Arial"/>
              </a:rPr>
              <a:t>integration permissions.</a:t>
            </a:r>
          </a:p>
        </p:txBody>
      </p:sp>
      <p:sp>
        <p:nvSpPr>
          <p:cNvPr id="9" name="TextBox 8"/>
          <p:cNvSpPr txBox="1"/>
          <p:nvPr/>
        </p:nvSpPr>
        <p:spPr>
          <a:xfrm>
            <a:off x="6370320" y="3909060"/>
            <a:ext cx="5242560" cy="380314"/>
          </a:xfrm>
          <a:prstGeom prst="rect">
            <a:avLst/>
          </a:prstGeom>
          <a:noFill/>
          <a:effectLst/>
        </p:spPr>
        <p:txBody>
          <a:bodyPr wrap="none" lIns="0" rIns="0" tIns="0" bIns="0" anchor="t">
            <a:spAutoFit/>
          </a:bodyPr>
          <a:lstStyle/>
          <a:p>
            <a:pPr algn="l">
              <a:lnSpc>
                <a:spcPts val="2514"/>
              </a:lnSpc>
              <a:spcBef>
                <a:spcPts val="0"/>
              </a:spcBef>
              <a:spcAft>
                <a:spcPts val="0"/>
              </a:spcAft>
            </a:pPr>
            <a:r>
              <a:rPr sz="1980" b="1">
                <a:solidFill>
                  <a:srgbClr val="176C4B"/>
                </a:solidFill>
                <a:latin typeface="Arial"/>
              </a:rPr>
              <a:t>The opportunity</a:t>
            </a:r>
          </a:p>
        </p:txBody>
      </p:sp>
      <p:sp>
        <p:nvSpPr>
          <p:cNvPr id="10" name="TextBox 9"/>
          <p:cNvSpPr txBox="1"/>
          <p:nvPr/>
        </p:nvSpPr>
        <p:spPr>
          <a:xfrm>
            <a:off x="6370320" y="4373880"/>
            <a:ext cx="5181600" cy="942670"/>
          </a:xfrm>
          <a:prstGeom prst="rect">
            <a:avLst/>
          </a:prstGeom>
          <a:noFill/>
          <a:effectLst/>
        </p:spPr>
        <p:txBody>
          <a:bodyPr wrap="none" lIns="0" rIns="0" tIns="0" bIns="0" anchor="t">
            <a:spAutoFit/>
          </a:bodyPr>
          <a:lstStyle/>
          <a:p>
            <a:pPr algn="l">
              <a:lnSpc>
                <a:spcPts val="2314"/>
              </a:lnSpc>
              <a:spcBef>
                <a:spcPts val="0"/>
              </a:spcBef>
              <a:spcAft>
                <a:spcPts val="0"/>
              </a:spcAft>
            </a:pPr>
            <a:r>
              <a:rPr sz="1739" b="0">
                <a:solidFill>
                  <a:srgbClr val="152F27"/>
                </a:solidFill>
                <a:latin typeface="Arial"/>
              </a:rPr>
              <a:t>Bring AI assisted search, article updates, and the</a:t>
            </a:r>
          </a:p>
          <a:p>
            <a:pPr algn="l">
              <a:lnSpc>
                <a:spcPts val="2314"/>
              </a:lnSpc>
              <a:spcBef>
                <a:spcPts val="0"/>
              </a:spcBef>
              <a:spcAft>
                <a:spcPts val="0"/>
              </a:spcAft>
            </a:pPr>
            <a:r>
              <a:rPr sz="1739" b="0">
                <a:solidFill>
                  <a:srgbClr val="152F27"/>
                </a:solidFill>
                <a:latin typeface="Arial"/>
              </a:rPr>
              <a:t>knowledge team’s review into a GitHub based</a:t>
            </a:r>
          </a:p>
          <a:p>
            <a:pPr algn="l">
              <a:lnSpc>
                <a:spcPts val="2314"/>
              </a:lnSpc>
              <a:spcBef>
                <a:spcPts val="0"/>
              </a:spcBef>
              <a:spcAft>
                <a:spcPts val="0"/>
              </a:spcAft>
            </a:pPr>
            <a:r>
              <a:rPr sz="1739" b="0">
                <a:solidFill>
                  <a:srgbClr val="152F27"/>
                </a:solidFill>
                <a:latin typeface="Arial"/>
              </a:rPr>
              <a:t>workflow.</a:t>
            </a:r>
          </a:p>
        </p:txBody>
      </p:sp>
      <p:cxnSp>
        <p:nvCxnSpPr>
          <p:cNvPr id="11" name="Connector 10"/>
          <p:cNvCxnSpPr/>
          <p:nvPr/>
        </p:nvCxnSpPr>
        <p:spPr>
          <a:xfrm>
            <a:off x="579120" y="6347460"/>
            <a:ext cx="11033760" cy="0"/>
          </a:xfrm>
          <a:prstGeom prst="line">
            <a:avLst/>
          </a:prstGeom>
          <a:ln w="7620">
            <a:solidFill>
              <a:srgbClr val="D2DCD3"/>
            </a:solidFill>
          </a:ln>
          <a:effectLst/>
        </p:spPr>
      </p:cxnSp>
      <p:sp>
        <p:nvSpPr>
          <p:cNvPr id="12" name="TextBox 11"/>
          <p:cNvSpPr txBox="1"/>
          <p:nvPr/>
        </p:nvSpPr>
        <p:spPr>
          <a:xfrm>
            <a:off x="594360" y="6484620"/>
            <a:ext cx="89916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0">
                <a:solidFill>
                  <a:srgbClr val="586B62"/>
                </a:solidFill>
                <a:latin typeface="Arial"/>
              </a:rPr>
              <a:t>FRANKLIN WAGGONER / AI IN EVERYDAY IT</a:t>
            </a:r>
          </a:p>
        </p:txBody>
      </p:sp>
      <p:sp>
        <p:nvSpPr>
          <p:cNvPr id="13" name="TextBox 12"/>
          <p:cNvSpPr txBox="1"/>
          <p:nvPr/>
        </p:nvSpPr>
        <p:spPr>
          <a:xfrm>
            <a:off x="10591800" y="6484620"/>
            <a:ext cx="1021080" cy="215798"/>
          </a:xfrm>
          <a:prstGeom prst="rect">
            <a:avLst/>
          </a:prstGeom>
          <a:noFill/>
          <a:effectLst/>
        </p:spPr>
        <p:txBody>
          <a:bodyPr wrap="none" lIns="0" rIns="0" tIns="0" bIns="0" anchor="t">
            <a:spAutoFit/>
          </a:bodyPr>
          <a:lstStyle/>
          <a:p>
            <a:pPr algn="r">
              <a:lnSpc>
                <a:spcPts val="1219"/>
              </a:lnSpc>
              <a:spcBef>
                <a:spcPts val="0"/>
              </a:spcBef>
              <a:spcAft>
                <a:spcPts val="0"/>
              </a:spcAft>
            </a:pPr>
            <a:r>
              <a:rPr sz="960" b="0">
                <a:solidFill>
                  <a:srgbClr val="586B62"/>
                </a:solidFill>
                <a:latin typeface="Arial"/>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594360" y="327660"/>
            <a:ext cx="106680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1">
                <a:solidFill>
                  <a:srgbClr val="176C4B"/>
                </a:solidFill>
                <a:latin typeface="Arial"/>
              </a:rPr>
              <a:t>02 / KNOWLEDGE BASE</a:t>
            </a:r>
          </a:p>
        </p:txBody>
      </p:sp>
      <p:sp>
        <p:nvSpPr>
          <p:cNvPr id="3" name="TextBox 2"/>
          <p:cNvSpPr txBox="1"/>
          <p:nvPr/>
        </p:nvSpPr>
        <p:spPr>
          <a:xfrm>
            <a:off x="579120" y="693420"/>
            <a:ext cx="11033760" cy="517321"/>
          </a:xfrm>
          <a:prstGeom prst="rect">
            <a:avLst/>
          </a:prstGeom>
          <a:noFill/>
          <a:effectLst/>
        </p:spPr>
        <p:txBody>
          <a:bodyPr wrap="none" lIns="0" rIns="0" tIns="0" bIns="0" anchor="t">
            <a:spAutoFit/>
          </a:bodyPr>
          <a:lstStyle/>
          <a:p>
            <a:pPr algn="l">
              <a:lnSpc>
                <a:spcPts val="3593"/>
              </a:lnSpc>
              <a:spcBef>
                <a:spcPts val="0"/>
              </a:spcBef>
              <a:spcAft>
                <a:spcPts val="0"/>
              </a:spcAft>
            </a:pPr>
            <a:r>
              <a:rPr sz="3179" b="1">
                <a:solidFill>
                  <a:srgbClr val="152F27"/>
                </a:solidFill>
                <a:latin typeface="Arial"/>
              </a:rPr>
              <a:t>One knowledge source, two everyday actions.</a:t>
            </a:r>
          </a:p>
        </p:txBody>
      </p:sp>
      <p:sp>
        <p:nvSpPr>
          <p:cNvPr id="4" name="TextBox 3"/>
          <p:cNvSpPr txBox="1"/>
          <p:nvPr/>
        </p:nvSpPr>
        <p:spPr>
          <a:xfrm>
            <a:off x="594360" y="1287780"/>
            <a:ext cx="10934700" cy="325526"/>
          </a:xfrm>
          <a:prstGeom prst="rect">
            <a:avLst/>
          </a:prstGeom>
          <a:noFill/>
          <a:effectLst/>
        </p:spPr>
        <p:txBody>
          <a:bodyPr wrap="none" lIns="0" rIns="0" tIns="0" bIns="0" anchor="t">
            <a:spAutoFit/>
          </a:bodyPr>
          <a:lstStyle/>
          <a:p>
            <a:pPr algn="l">
              <a:lnSpc>
                <a:spcPts val="2083"/>
              </a:lnSpc>
              <a:spcBef>
                <a:spcPts val="0"/>
              </a:spcBef>
              <a:spcAft>
                <a:spcPts val="0"/>
              </a:spcAft>
            </a:pPr>
            <a:r>
              <a:rPr sz="1680" b="0">
                <a:solidFill>
                  <a:srgbClr val="586B62"/>
                </a:solidFill>
                <a:latin typeface="Arial"/>
              </a:rPr>
              <a:t>I put Markdown at the center and designed the review flow around pull requests.</a:t>
            </a:r>
          </a:p>
        </p:txBody>
      </p:sp>
      <p:sp>
        <p:nvSpPr>
          <p:cNvPr id="5" name="TextBox 4"/>
          <p:cNvSpPr txBox="1"/>
          <p:nvPr/>
        </p:nvSpPr>
        <p:spPr>
          <a:xfrm>
            <a:off x="594360" y="2019300"/>
            <a:ext cx="10668000" cy="244830"/>
          </a:xfrm>
          <a:prstGeom prst="rect">
            <a:avLst/>
          </a:prstGeom>
          <a:noFill/>
          <a:effectLst/>
        </p:spPr>
        <p:txBody>
          <a:bodyPr wrap="none" lIns="0" rIns="0" tIns="0" bIns="0" anchor="t">
            <a:spAutoFit/>
          </a:bodyPr>
          <a:lstStyle/>
          <a:p>
            <a:pPr algn="l">
              <a:lnSpc>
                <a:spcPts val="1447"/>
              </a:lnSpc>
              <a:spcBef>
                <a:spcPts val="0"/>
              </a:spcBef>
              <a:spcAft>
                <a:spcPts val="0"/>
              </a:spcAft>
            </a:pPr>
            <a:r>
              <a:rPr sz="1140" b="1">
                <a:solidFill>
                  <a:srgbClr val="176C4B"/>
                </a:solidFill>
                <a:latin typeface="Arial"/>
              </a:rPr>
              <a:t>PROPOSED EDITING AND PUBLISHING WORKFLOW</a:t>
            </a:r>
          </a:p>
        </p:txBody>
      </p:sp>
      <p:sp>
        <p:nvSpPr>
          <p:cNvPr id="6" name="Rounded Rectangle 5"/>
          <p:cNvSpPr/>
          <p:nvPr/>
        </p:nvSpPr>
        <p:spPr>
          <a:xfrm>
            <a:off x="594360" y="2415540"/>
            <a:ext cx="1935480" cy="1287780"/>
          </a:xfrm>
          <a:prstGeom prst="roundRect">
            <a:avLst>
              <a:gd name="adj" fmla="val 4733"/>
            </a:avLst>
          </a:prstGeom>
          <a:solidFill>
            <a:srgbClr val="FFFFFF"/>
          </a:solidFill>
          <a:ln w="12192">
            <a:solidFill>
              <a:srgbClr val="D2DCD3"/>
            </a:solidFill>
          </a:ln>
          <a:effectLst/>
        </p:spPr>
        <p:txBody>
          <a:bodyPr rtlCol="0" anchor="ctr"/>
          <a:lstStyle/>
          <a:p>
            <a:pPr algn="ctr"/>
          </a:p>
        </p:txBody>
      </p:sp>
      <p:sp>
        <p:nvSpPr>
          <p:cNvPr id="7" name="TextBox 6"/>
          <p:cNvSpPr txBox="1"/>
          <p:nvPr/>
        </p:nvSpPr>
        <p:spPr>
          <a:xfrm>
            <a:off x="777240" y="2583180"/>
            <a:ext cx="1569720" cy="304190"/>
          </a:xfrm>
          <a:prstGeom prst="rect">
            <a:avLst/>
          </a:prstGeom>
          <a:noFill/>
          <a:effectLst/>
        </p:spPr>
        <p:txBody>
          <a:bodyPr wrap="none" lIns="0" rIns="0" tIns="0" bIns="0" anchor="t">
            <a:spAutoFit/>
          </a:bodyPr>
          <a:lstStyle/>
          <a:p>
            <a:pPr algn="l">
              <a:lnSpc>
                <a:spcPts val="1915"/>
              </a:lnSpc>
              <a:spcBef>
                <a:spcPts val="0"/>
              </a:spcBef>
              <a:spcAft>
                <a:spcPts val="0"/>
              </a:spcAft>
            </a:pPr>
            <a:r>
              <a:rPr sz="1680" b="1">
                <a:solidFill>
                  <a:srgbClr val="152F27"/>
                </a:solidFill>
                <a:latin typeface="Arial"/>
              </a:rPr>
              <a:t>Slack / Goose</a:t>
            </a:r>
          </a:p>
        </p:txBody>
      </p:sp>
      <p:sp>
        <p:nvSpPr>
          <p:cNvPr id="8" name="TextBox 7"/>
          <p:cNvSpPr txBox="1"/>
          <p:nvPr/>
        </p:nvSpPr>
        <p:spPr>
          <a:xfrm>
            <a:off x="777240" y="2940710"/>
            <a:ext cx="1569720" cy="285902"/>
          </a:xfrm>
          <a:prstGeom prst="rect">
            <a:avLst/>
          </a:prstGeom>
          <a:noFill/>
          <a:effectLst/>
        </p:spPr>
        <p:txBody>
          <a:bodyPr wrap="none" lIns="0" rIns="0" tIns="0" bIns="0" anchor="t">
            <a:spAutoFit/>
          </a:bodyPr>
          <a:lstStyle/>
          <a:p>
            <a:pPr algn="l">
              <a:lnSpc>
                <a:spcPts val="1771"/>
              </a:lnSpc>
              <a:spcBef>
                <a:spcPts val="0"/>
              </a:spcBef>
              <a:spcAft>
                <a:spcPts val="0"/>
              </a:spcAft>
            </a:pPr>
            <a:r>
              <a:rPr sz="1439" b="0">
                <a:solidFill>
                  <a:srgbClr val="586B62"/>
                </a:solidFill>
                <a:latin typeface="Arial"/>
              </a:rPr>
              <a:t>Request a change</a:t>
            </a:r>
          </a:p>
        </p:txBody>
      </p:sp>
      <p:cxnSp>
        <p:nvCxnSpPr>
          <p:cNvPr id="9" name="Connector 8"/>
          <p:cNvCxnSpPr/>
          <p:nvPr/>
        </p:nvCxnSpPr>
        <p:spPr>
          <a:xfrm>
            <a:off x="2621280" y="3055620"/>
            <a:ext cx="144780" cy="0"/>
          </a:xfrm>
          <a:prstGeom prst="line">
            <a:avLst/>
          </a:prstGeom>
          <a:ln w="22859">
            <a:solidFill>
              <a:srgbClr val="A6B3A9"/>
            </a:solidFill>
            <a:tailEnd type="triangle" w="sm" len="sm"/>
          </a:ln>
          <a:effectLst/>
        </p:spPr>
      </p:cxnSp>
      <p:sp>
        <p:nvSpPr>
          <p:cNvPr id="10" name="Rounded Rectangle 9"/>
          <p:cNvSpPr/>
          <p:nvPr/>
        </p:nvSpPr>
        <p:spPr>
          <a:xfrm>
            <a:off x="2865120" y="2415540"/>
            <a:ext cx="1935480" cy="1287780"/>
          </a:xfrm>
          <a:prstGeom prst="roundRect">
            <a:avLst>
              <a:gd name="adj" fmla="val 4733"/>
            </a:avLst>
          </a:prstGeom>
          <a:solidFill>
            <a:srgbClr val="E4F0E6"/>
          </a:solidFill>
          <a:ln w="12192">
            <a:solidFill>
              <a:srgbClr val="176C4B"/>
            </a:solidFill>
          </a:ln>
          <a:effectLst/>
        </p:spPr>
        <p:txBody>
          <a:bodyPr rtlCol="0" anchor="ctr"/>
          <a:lstStyle/>
          <a:p>
            <a:pPr algn="ctr"/>
          </a:p>
        </p:txBody>
      </p:sp>
      <p:sp>
        <p:nvSpPr>
          <p:cNvPr id="11" name="TextBox 10"/>
          <p:cNvSpPr txBox="1"/>
          <p:nvPr/>
        </p:nvSpPr>
        <p:spPr>
          <a:xfrm>
            <a:off x="3048000" y="2583180"/>
            <a:ext cx="1569720" cy="304190"/>
          </a:xfrm>
          <a:prstGeom prst="rect">
            <a:avLst/>
          </a:prstGeom>
          <a:noFill/>
          <a:effectLst/>
        </p:spPr>
        <p:txBody>
          <a:bodyPr wrap="none" lIns="0" rIns="0" tIns="0" bIns="0" anchor="t">
            <a:spAutoFit/>
          </a:bodyPr>
          <a:lstStyle/>
          <a:p>
            <a:pPr algn="l">
              <a:lnSpc>
                <a:spcPts val="1915"/>
              </a:lnSpc>
              <a:spcBef>
                <a:spcPts val="0"/>
              </a:spcBef>
              <a:spcAft>
                <a:spcPts val="0"/>
              </a:spcAft>
            </a:pPr>
            <a:r>
              <a:rPr sz="1680" b="1">
                <a:solidFill>
                  <a:srgbClr val="176C4B"/>
                </a:solidFill>
                <a:latin typeface="Arial"/>
              </a:rPr>
              <a:t>GitHub</a:t>
            </a:r>
          </a:p>
        </p:txBody>
      </p:sp>
      <p:sp>
        <p:nvSpPr>
          <p:cNvPr id="12" name="TextBox 11"/>
          <p:cNvSpPr txBox="1"/>
          <p:nvPr/>
        </p:nvSpPr>
        <p:spPr>
          <a:xfrm>
            <a:off x="3048000" y="2940710"/>
            <a:ext cx="1569720" cy="285902"/>
          </a:xfrm>
          <a:prstGeom prst="rect">
            <a:avLst/>
          </a:prstGeom>
          <a:noFill/>
          <a:effectLst/>
        </p:spPr>
        <p:txBody>
          <a:bodyPr wrap="none" lIns="0" rIns="0" tIns="0" bIns="0" anchor="t">
            <a:spAutoFit/>
          </a:bodyPr>
          <a:lstStyle/>
          <a:p>
            <a:pPr algn="l">
              <a:lnSpc>
                <a:spcPts val="1771"/>
              </a:lnSpc>
              <a:spcBef>
                <a:spcPts val="0"/>
              </a:spcBef>
              <a:spcAft>
                <a:spcPts val="0"/>
              </a:spcAft>
            </a:pPr>
            <a:r>
              <a:rPr sz="1439" b="0">
                <a:solidFill>
                  <a:srgbClr val="586B62"/>
                </a:solidFill>
                <a:latin typeface="Arial"/>
              </a:rPr>
              <a:t>Markdown source</a:t>
            </a:r>
          </a:p>
        </p:txBody>
      </p:sp>
      <p:cxnSp>
        <p:nvCxnSpPr>
          <p:cNvPr id="13" name="Connector 12"/>
          <p:cNvCxnSpPr/>
          <p:nvPr/>
        </p:nvCxnSpPr>
        <p:spPr>
          <a:xfrm>
            <a:off x="4892040" y="3055620"/>
            <a:ext cx="144780" cy="0"/>
          </a:xfrm>
          <a:prstGeom prst="line">
            <a:avLst/>
          </a:prstGeom>
          <a:ln w="22859">
            <a:solidFill>
              <a:srgbClr val="A6B3A9"/>
            </a:solidFill>
            <a:tailEnd type="triangle" w="sm" len="sm"/>
          </a:ln>
          <a:effectLst/>
        </p:spPr>
      </p:cxnSp>
      <p:sp>
        <p:nvSpPr>
          <p:cNvPr id="14" name="Rounded Rectangle 13"/>
          <p:cNvSpPr/>
          <p:nvPr/>
        </p:nvSpPr>
        <p:spPr>
          <a:xfrm>
            <a:off x="5135880" y="2415540"/>
            <a:ext cx="1935480" cy="1287780"/>
          </a:xfrm>
          <a:prstGeom prst="roundRect">
            <a:avLst>
              <a:gd name="adj" fmla="val 4733"/>
            </a:avLst>
          </a:prstGeom>
          <a:solidFill>
            <a:srgbClr val="E4F0E6"/>
          </a:solidFill>
          <a:ln w="12192">
            <a:solidFill>
              <a:srgbClr val="176C4B"/>
            </a:solidFill>
          </a:ln>
          <a:effectLst/>
        </p:spPr>
        <p:txBody>
          <a:bodyPr rtlCol="0" anchor="ctr"/>
          <a:lstStyle/>
          <a:p>
            <a:pPr algn="ctr"/>
          </a:p>
        </p:txBody>
      </p:sp>
      <p:sp>
        <p:nvSpPr>
          <p:cNvPr id="15" name="TextBox 14"/>
          <p:cNvSpPr txBox="1"/>
          <p:nvPr/>
        </p:nvSpPr>
        <p:spPr>
          <a:xfrm>
            <a:off x="5318760" y="2583180"/>
            <a:ext cx="1569720" cy="304190"/>
          </a:xfrm>
          <a:prstGeom prst="rect">
            <a:avLst/>
          </a:prstGeom>
          <a:noFill/>
          <a:effectLst/>
        </p:spPr>
        <p:txBody>
          <a:bodyPr wrap="none" lIns="0" rIns="0" tIns="0" bIns="0" anchor="t">
            <a:spAutoFit/>
          </a:bodyPr>
          <a:lstStyle/>
          <a:p>
            <a:pPr algn="l">
              <a:lnSpc>
                <a:spcPts val="1915"/>
              </a:lnSpc>
              <a:spcBef>
                <a:spcPts val="0"/>
              </a:spcBef>
              <a:spcAft>
                <a:spcPts val="0"/>
              </a:spcAft>
            </a:pPr>
            <a:r>
              <a:rPr sz="1680" b="1">
                <a:solidFill>
                  <a:srgbClr val="176C4B"/>
                </a:solidFill>
                <a:latin typeface="Arial"/>
              </a:rPr>
              <a:t>Pull request</a:t>
            </a:r>
          </a:p>
        </p:txBody>
      </p:sp>
      <p:sp>
        <p:nvSpPr>
          <p:cNvPr id="16" name="TextBox 15"/>
          <p:cNvSpPr txBox="1"/>
          <p:nvPr/>
        </p:nvSpPr>
        <p:spPr>
          <a:xfrm>
            <a:off x="5318760" y="2940710"/>
            <a:ext cx="1569720" cy="285902"/>
          </a:xfrm>
          <a:prstGeom prst="rect">
            <a:avLst/>
          </a:prstGeom>
          <a:noFill/>
          <a:effectLst/>
        </p:spPr>
        <p:txBody>
          <a:bodyPr wrap="none" lIns="0" rIns="0" tIns="0" bIns="0" anchor="t">
            <a:spAutoFit/>
          </a:bodyPr>
          <a:lstStyle/>
          <a:p>
            <a:pPr algn="l">
              <a:lnSpc>
                <a:spcPts val="1771"/>
              </a:lnSpc>
              <a:spcBef>
                <a:spcPts val="0"/>
              </a:spcBef>
              <a:spcAft>
                <a:spcPts val="0"/>
              </a:spcAft>
            </a:pPr>
            <a:r>
              <a:rPr sz="1439" b="0">
                <a:solidFill>
                  <a:srgbClr val="586B62"/>
                </a:solidFill>
                <a:latin typeface="Arial"/>
              </a:rPr>
              <a:t>Review the diff</a:t>
            </a:r>
          </a:p>
        </p:txBody>
      </p:sp>
      <p:cxnSp>
        <p:nvCxnSpPr>
          <p:cNvPr id="17" name="Connector 16"/>
          <p:cNvCxnSpPr/>
          <p:nvPr/>
        </p:nvCxnSpPr>
        <p:spPr>
          <a:xfrm>
            <a:off x="7162800" y="3055620"/>
            <a:ext cx="144780" cy="0"/>
          </a:xfrm>
          <a:prstGeom prst="line">
            <a:avLst/>
          </a:prstGeom>
          <a:ln w="22859">
            <a:solidFill>
              <a:srgbClr val="A6B3A9"/>
            </a:solidFill>
            <a:tailEnd type="triangle" w="sm" len="sm"/>
          </a:ln>
          <a:effectLst/>
        </p:spPr>
      </p:cxnSp>
      <p:sp>
        <p:nvSpPr>
          <p:cNvPr id="18" name="Rounded Rectangle 17"/>
          <p:cNvSpPr/>
          <p:nvPr/>
        </p:nvSpPr>
        <p:spPr>
          <a:xfrm>
            <a:off x="7406640" y="2415540"/>
            <a:ext cx="1935480" cy="1287780"/>
          </a:xfrm>
          <a:prstGeom prst="roundRect">
            <a:avLst>
              <a:gd name="adj" fmla="val 4733"/>
            </a:avLst>
          </a:prstGeom>
          <a:solidFill>
            <a:srgbClr val="FFFFFF"/>
          </a:solidFill>
          <a:ln w="12192">
            <a:solidFill>
              <a:srgbClr val="D2DCD3"/>
            </a:solidFill>
          </a:ln>
          <a:effectLst/>
        </p:spPr>
        <p:txBody>
          <a:bodyPr rtlCol="0" anchor="ctr"/>
          <a:lstStyle/>
          <a:p>
            <a:pPr algn="ctr"/>
          </a:p>
        </p:txBody>
      </p:sp>
      <p:sp>
        <p:nvSpPr>
          <p:cNvPr id="19" name="TextBox 18"/>
          <p:cNvSpPr txBox="1"/>
          <p:nvPr/>
        </p:nvSpPr>
        <p:spPr>
          <a:xfrm>
            <a:off x="7589520" y="2583180"/>
            <a:ext cx="1569720" cy="547420"/>
          </a:xfrm>
          <a:prstGeom prst="rect">
            <a:avLst/>
          </a:prstGeom>
          <a:noFill/>
          <a:effectLst/>
        </p:spPr>
        <p:txBody>
          <a:bodyPr wrap="none" lIns="0" rIns="0" tIns="0" bIns="0" anchor="t">
            <a:spAutoFit/>
          </a:bodyPr>
          <a:lstStyle/>
          <a:p>
            <a:pPr algn="l">
              <a:lnSpc>
                <a:spcPts val="1915"/>
              </a:lnSpc>
              <a:spcBef>
                <a:spcPts val="0"/>
              </a:spcBef>
              <a:spcAft>
                <a:spcPts val="0"/>
              </a:spcAft>
            </a:pPr>
            <a:r>
              <a:rPr sz="1680" b="1">
                <a:solidFill>
                  <a:srgbClr val="152F27"/>
                </a:solidFill>
                <a:latin typeface="Arial"/>
              </a:rPr>
              <a:t>Knowledge</a:t>
            </a:r>
          </a:p>
          <a:p>
            <a:pPr algn="l">
              <a:lnSpc>
                <a:spcPts val="1915"/>
              </a:lnSpc>
              <a:spcBef>
                <a:spcPts val="0"/>
              </a:spcBef>
              <a:spcAft>
                <a:spcPts val="0"/>
              </a:spcAft>
            </a:pPr>
            <a:r>
              <a:rPr sz="1680" b="1">
                <a:solidFill>
                  <a:srgbClr val="152F27"/>
                </a:solidFill>
                <a:latin typeface="Arial"/>
              </a:rPr>
              <a:t>team</a:t>
            </a:r>
          </a:p>
        </p:txBody>
      </p:sp>
      <p:sp>
        <p:nvSpPr>
          <p:cNvPr id="20" name="TextBox 19"/>
          <p:cNvSpPr txBox="1"/>
          <p:nvPr/>
        </p:nvSpPr>
        <p:spPr>
          <a:xfrm>
            <a:off x="7589520" y="3183940"/>
            <a:ext cx="1569720" cy="285902"/>
          </a:xfrm>
          <a:prstGeom prst="rect">
            <a:avLst/>
          </a:prstGeom>
          <a:noFill/>
          <a:effectLst/>
        </p:spPr>
        <p:txBody>
          <a:bodyPr wrap="none" lIns="0" rIns="0" tIns="0" bIns="0" anchor="t">
            <a:spAutoFit/>
          </a:bodyPr>
          <a:lstStyle/>
          <a:p>
            <a:pPr algn="l">
              <a:lnSpc>
                <a:spcPts val="1771"/>
              </a:lnSpc>
              <a:spcBef>
                <a:spcPts val="0"/>
              </a:spcBef>
              <a:spcAft>
                <a:spcPts val="0"/>
              </a:spcAft>
            </a:pPr>
            <a:r>
              <a:rPr sz="1439" b="0">
                <a:solidFill>
                  <a:srgbClr val="586B62"/>
                </a:solidFill>
                <a:latin typeface="Arial"/>
              </a:rPr>
              <a:t>Approve or refine</a:t>
            </a:r>
          </a:p>
        </p:txBody>
      </p:sp>
      <p:cxnSp>
        <p:nvCxnSpPr>
          <p:cNvPr id="21" name="Connector 20"/>
          <p:cNvCxnSpPr/>
          <p:nvPr/>
        </p:nvCxnSpPr>
        <p:spPr>
          <a:xfrm>
            <a:off x="9433560" y="3055620"/>
            <a:ext cx="144780" cy="0"/>
          </a:xfrm>
          <a:prstGeom prst="line">
            <a:avLst/>
          </a:prstGeom>
          <a:ln w="22859">
            <a:solidFill>
              <a:srgbClr val="A6B3A9"/>
            </a:solidFill>
            <a:tailEnd type="triangle" w="sm" len="sm"/>
          </a:ln>
          <a:effectLst/>
        </p:spPr>
      </p:cxnSp>
      <p:sp>
        <p:nvSpPr>
          <p:cNvPr id="22" name="Rounded Rectangle 21"/>
          <p:cNvSpPr/>
          <p:nvPr/>
        </p:nvSpPr>
        <p:spPr>
          <a:xfrm>
            <a:off x="9677400" y="2415540"/>
            <a:ext cx="1935480" cy="1287780"/>
          </a:xfrm>
          <a:prstGeom prst="roundRect">
            <a:avLst>
              <a:gd name="adj" fmla="val 4733"/>
            </a:avLst>
          </a:prstGeom>
          <a:solidFill>
            <a:srgbClr val="FFFFFF"/>
          </a:solidFill>
          <a:ln w="12192">
            <a:solidFill>
              <a:srgbClr val="D2DCD3"/>
            </a:solidFill>
          </a:ln>
          <a:effectLst/>
        </p:spPr>
        <p:txBody>
          <a:bodyPr rtlCol="0" anchor="ctr"/>
          <a:lstStyle/>
          <a:p>
            <a:pPr algn="ctr"/>
          </a:p>
        </p:txBody>
      </p:sp>
      <p:sp>
        <p:nvSpPr>
          <p:cNvPr id="23" name="TextBox 22"/>
          <p:cNvSpPr txBox="1"/>
          <p:nvPr/>
        </p:nvSpPr>
        <p:spPr>
          <a:xfrm>
            <a:off x="9860280" y="2583180"/>
            <a:ext cx="1569720" cy="547420"/>
          </a:xfrm>
          <a:prstGeom prst="rect">
            <a:avLst/>
          </a:prstGeom>
          <a:noFill/>
          <a:effectLst/>
        </p:spPr>
        <p:txBody>
          <a:bodyPr wrap="none" lIns="0" rIns="0" tIns="0" bIns="0" anchor="t">
            <a:spAutoFit/>
          </a:bodyPr>
          <a:lstStyle/>
          <a:p>
            <a:pPr algn="l">
              <a:lnSpc>
                <a:spcPts val="1915"/>
              </a:lnSpc>
              <a:spcBef>
                <a:spcPts val="0"/>
              </a:spcBef>
              <a:spcAft>
                <a:spcPts val="0"/>
              </a:spcAft>
            </a:pPr>
            <a:r>
              <a:rPr sz="1680" b="1">
                <a:solidFill>
                  <a:srgbClr val="152F27"/>
                </a:solidFill>
                <a:latin typeface="Arial"/>
              </a:rPr>
              <a:t>Published</a:t>
            </a:r>
          </a:p>
          <a:p>
            <a:pPr algn="l">
              <a:lnSpc>
                <a:spcPts val="1915"/>
              </a:lnSpc>
              <a:spcBef>
                <a:spcPts val="0"/>
              </a:spcBef>
              <a:spcAft>
                <a:spcPts val="0"/>
              </a:spcAft>
            </a:pPr>
            <a:r>
              <a:rPr sz="1680" b="1">
                <a:solidFill>
                  <a:srgbClr val="152F27"/>
                </a:solidFill>
                <a:latin typeface="Arial"/>
              </a:rPr>
              <a:t>docs</a:t>
            </a:r>
          </a:p>
        </p:txBody>
      </p:sp>
      <p:sp>
        <p:nvSpPr>
          <p:cNvPr id="24" name="TextBox 23"/>
          <p:cNvSpPr txBox="1"/>
          <p:nvPr/>
        </p:nvSpPr>
        <p:spPr>
          <a:xfrm>
            <a:off x="9860280" y="3183940"/>
            <a:ext cx="1569720" cy="285902"/>
          </a:xfrm>
          <a:prstGeom prst="rect">
            <a:avLst/>
          </a:prstGeom>
          <a:noFill/>
          <a:effectLst/>
        </p:spPr>
        <p:txBody>
          <a:bodyPr wrap="none" lIns="0" rIns="0" tIns="0" bIns="0" anchor="t">
            <a:spAutoFit/>
          </a:bodyPr>
          <a:lstStyle/>
          <a:p>
            <a:pPr algn="l">
              <a:lnSpc>
                <a:spcPts val="1771"/>
              </a:lnSpc>
              <a:spcBef>
                <a:spcPts val="0"/>
              </a:spcBef>
              <a:spcAft>
                <a:spcPts val="0"/>
              </a:spcAft>
            </a:pPr>
            <a:r>
              <a:rPr sz="1439" b="0">
                <a:solidFill>
                  <a:srgbClr val="586B62"/>
                </a:solidFill>
                <a:latin typeface="Arial"/>
              </a:rPr>
              <a:t>Updated article</a:t>
            </a:r>
          </a:p>
        </p:txBody>
      </p:sp>
      <p:cxnSp>
        <p:nvCxnSpPr>
          <p:cNvPr id="25" name="Connector 24"/>
          <p:cNvCxnSpPr/>
          <p:nvPr/>
        </p:nvCxnSpPr>
        <p:spPr>
          <a:xfrm>
            <a:off x="594360" y="4175760"/>
            <a:ext cx="11018520" cy="0"/>
          </a:xfrm>
          <a:prstGeom prst="line">
            <a:avLst/>
          </a:prstGeom>
          <a:ln w="15240">
            <a:solidFill>
              <a:srgbClr val="D2DCD3"/>
            </a:solidFill>
          </a:ln>
          <a:effectLst/>
        </p:spPr>
      </p:cxnSp>
      <p:sp>
        <p:nvSpPr>
          <p:cNvPr id="26" name="TextBox 25"/>
          <p:cNvSpPr txBox="1"/>
          <p:nvPr/>
        </p:nvSpPr>
        <p:spPr>
          <a:xfrm>
            <a:off x="594360" y="4495800"/>
            <a:ext cx="4953000" cy="370636"/>
          </a:xfrm>
          <a:prstGeom prst="rect">
            <a:avLst/>
          </a:prstGeom>
          <a:noFill/>
          <a:effectLst/>
        </p:spPr>
        <p:txBody>
          <a:bodyPr wrap="none" lIns="0" rIns="0" tIns="0" bIns="0" anchor="t">
            <a:spAutoFit/>
          </a:bodyPr>
          <a:lstStyle/>
          <a:p>
            <a:pPr algn="l">
              <a:lnSpc>
                <a:spcPts val="2438"/>
              </a:lnSpc>
              <a:spcBef>
                <a:spcPts val="0"/>
              </a:spcBef>
              <a:spcAft>
                <a:spcPts val="0"/>
              </a:spcAft>
            </a:pPr>
            <a:r>
              <a:rPr sz="1920" b="1">
                <a:solidFill>
                  <a:srgbClr val="152F27"/>
                </a:solidFill>
                <a:latin typeface="Arial"/>
              </a:rPr>
              <a:t>Search stays where we work.</a:t>
            </a:r>
          </a:p>
        </p:txBody>
      </p:sp>
      <p:sp>
        <p:nvSpPr>
          <p:cNvPr id="27" name="TextBox 26"/>
          <p:cNvSpPr txBox="1"/>
          <p:nvPr/>
        </p:nvSpPr>
        <p:spPr>
          <a:xfrm>
            <a:off x="594360" y="4960620"/>
            <a:ext cx="4953000" cy="644347"/>
          </a:xfrm>
          <a:prstGeom prst="rect">
            <a:avLst/>
          </a:prstGeom>
          <a:noFill/>
          <a:effectLst/>
        </p:spPr>
        <p:txBody>
          <a:bodyPr wrap="none" lIns="0" rIns="0" tIns="0" bIns="0" anchor="t">
            <a:spAutoFit/>
          </a:bodyPr>
          <a:lstStyle/>
          <a:p>
            <a:pPr algn="l">
              <a:lnSpc>
                <a:spcPts val="2296"/>
              </a:lnSpc>
              <a:spcBef>
                <a:spcPts val="0"/>
              </a:spcBef>
              <a:spcAft>
                <a:spcPts val="0"/>
              </a:spcAft>
            </a:pPr>
            <a:r>
              <a:rPr sz="1739" b="0">
                <a:solidFill>
                  <a:srgbClr val="152F27"/>
                </a:solidFill>
                <a:latin typeface="Arial"/>
              </a:rPr>
              <a:t>Goose retrieves the relevant Markdown and</a:t>
            </a:r>
          </a:p>
          <a:p>
            <a:pPr algn="l">
              <a:lnSpc>
                <a:spcPts val="2296"/>
              </a:lnSpc>
              <a:spcBef>
                <a:spcPts val="0"/>
              </a:spcBef>
              <a:spcAft>
                <a:spcPts val="0"/>
              </a:spcAft>
            </a:pPr>
            <a:r>
              <a:rPr sz="1739" b="0">
                <a:solidFill>
                  <a:srgbClr val="152F27"/>
                </a:solidFill>
                <a:latin typeface="Arial"/>
              </a:rPr>
              <a:t>returns it in Slack or Goose.</a:t>
            </a:r>
          </a:p>
        </p:txBody>
      </p:sp>
      <p:sp>
        <p:nvSpPr>
          <p:cNvPr id="28" name="TextBox 27"/>
          <p:cNvSpPr txBox="1"/>
          <p:nvPr/>
        </p:nvSpPr>
        <p:spPr>
          <a:xfrm>
            <a:off x="6370320" y="4495800"/>
            <a:ext cx="5242560" cy="351282"/>
          </a:xfrm>
          <a:prstGeom prst="rect">
            <a:avLst/>
          </a:prstGeom>
          <a:noFill/>
          <a:effectLst/>
        </p:spPr>
        <p:txBody>
          <a:bodyPr wrap="none" lIns="0" rIns="0" tIns="0" bIns="0" anchor="t">
            <a:spAutoFit/>
          </a:bodyPr>
          <a:lstStyle/>
          <a:p>
            <a:pPr algn="l">
              <a:lnSpc>
                <a:spcPts val="2286"/>
              </a:lnSpc>
              <a:spcBef>
                <a:spcPts val="0"/>
              </a:spcBef>
              <a:spcAft>
                <a:spcPts val="0"/>
              </a:spcAft>
            </a:pPr>
            <a:r>
              <a:rPr sz="1800" b="1">
                <a:solidFill>
                  <a:srgbClr val="152F27"/>
                </a:solidFill>
                <a:latin typeface="Arial"/>
              </a:rPr>
              <a:t>Review stays with the knowledge team.</a:t>
            </a:r>
          </a:p>
        </p:txBody>
      </p:sp>
      <p:sp>
        <p:nvSpPr>
          <p:cNvPr id="29" name="TextBox 28"/>
          <p:cNvSpPr txBox="1"/>
          <p:nvPr/>
        </p:nvSpPr>
        <p:spPr>
          <a:xfrm>
            <a:off x="6370320" y="4960620"/>
            <a:ext cx="5181600" cy="644347"/>
          </a:xfrm>
          <a:prstGeom prst="rect">
            <a:avLst/>
          </a:prstGeom>
          <a:noFill/>
          <a:effectLst/>
        </p:spPr>
        <p:txBody>
          <a:bodyPr wrap="none" lIns="0" rIns="0" tIns="0" bIns="0" anchor="t">
            <a:spAutoFit/>
          </a:bodyPr>
          <a:lstStyle/>
          <a:p>
            <a:pPr algn="l">
              <a:lnSpc>
                <a:spcPts val="2296"/>
              </a:lnSpc>
              <a:spcBef>
                <a:spcPts val="0"/>
              </a:spcBef>
              <a:spcAft>
                <a:spcPts val="0"/>
              </a:spcAft>
            </a:pPr>
            <a:r>
              <a:rPr sz="1739" b="0">
                <a:solidFill>
                  <a:srgbClr val="152F27"/>
                </a:solidFill>
                <a:latin typeface="Arial"/>
              </a:rPr>
              <a:t>Their draft and approval process carries into the</a:t>
            </a:r>
          </a:p>
          <a:p>
            <a:pPr algn="l">
              <a:lnSpc>
                <a:spcPts val="2296"/>
              </a:lnSpc>
              <a:spcBef>
                <a:spcPts val="0"/>
              </a:spcBef>
              <a:spcAft>
                <a:spcPts val="0"/>
              </a:spcAft>
            </a:pPr>
            <a:r>
              <a:rPr sz="1739" b="0">
                <a:solidFill>
                  <a:srgbClr val="152F27"/>
                </a:solidFill>
                <a:latin typeface="Arial"/>
              </a:rPr>
              <a:t>proposed GitHub workflow.</a:t>
            </a:r>
          </a:p>
        </p:txBody>
      </p:sp>
      <p:cxnSp>
        <p:nvCxnSpPr>
          <p:cNvPr id="30" name="Connector 29"/>
          <p:cNvCxnSpPr/>
          <p:nvPr/>
        </p:nvCxnSpPr>
        <p:spPr>
          <a:xfrm>
            <a:off x="579120" y="6347460"/>
            <a:ext cx="11033760" cy="0"/>
          </a:xfrm>
          <a:prstGeom prst="line">
            <a:avLst/>
          </a:prstGeom>
          <a:ln w="7620">
            <a:solidFill>
              <a:srgbClr val="D2DCD3"/>
            </a:solidFill>
          </a:ln>
          <a:effectLst/>
        </p:spPr>
      </p:cxnSp>
      <p:sp>
        <p:nvSpPr>
          <p:cNvPr id="31" name="TextBox 30"/>
          <p:cNvSpPr txBox="1"/>
          <p:nvPr/>
        </p:nvSpPr>
        <p:spPr>
          <a:xfrm>
            <a:off x="594360" y="6484620"/>
            <a:ext cx="89916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0">
                <a:solidFill>
                  <a:srgbClr val="586B62"/>
                </a:solidFill>
                <a:latin typeface="Arial"/>
              </a:rPr>
              <a:t>FRANKLIN WAGGONER / AI IN EVERYDAY IT</a:t>
            </a:r>
          </a:p>
        </p:txBody>
      </p:sp>
      <p:sp>
        <p:nvSpPr>
          <p:cNvPr id="32" name="TextBox 31"/>
          <p:cNvSpPr txBox="1"/>
          <p:nvPr/>
        </p:nvSpPr>
        <p:spPr>
          <a:xfrm>
            <a:off x="10591800" y="6484620"/>
            <a:ext cx="1021080" cy="215798"/>
          </a:xfrm>
          <a:prstGeom prst="rect">
            <a:avLst/>
          </a:prstGeom>
          <a:noFill/>
          <a:effectLst/>
        </p:spPr>
        <p:txBody>
          <a:bodyPr wrap="none" lIns="0" rIns="0" tIns="0" bIns="0" anchor="t">
            <a:spAutoFit/>
          </a:bodyPr>
          <a:lstStyle/>
          <a:p>
            <a:pPr algn="r">
              <a:lnSpc>
                <a:spcPts val="1219"/>
              </a:lnSpc>
              <a:spcBef>
                <a:spcPts val="0"/>
              </a:spcBef>
              <a:spcAft>
                <a:spcPts val="0"/>
              </a:spcAft>
            </a:pPr>
            <a:r>
              <a:rPr sz="960" b="0">
                <a:solidFill>
                  <a:srgbClr val="586B62"/>
                </a:solidFill>
                <a:latin typeface="Arial"/>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594360" y="327660"/>
            <a:ext cx="106680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1">
                <a:solidFill>
                  <a:srgbClr val="176C4B"/>
                </a:solidFill>
                <a:latin typeface="Arial"/>
              </a:rPr>
              <a:t>02 / KNOWLEDGE BASE</a:t>
            </a:r>
          </a:p>
        </p:txBody>
      </p:sp>
      <p:sp>
        <p:nvSpPr>
          <p:cNvPr id="3" name="TextBox 2"/>
          <p:cNvSpPr txBox="1"/>
          <p:nvPr/>
        </p:nvSpPr>
        <p:spPr>
          <a:xfrm>
            <a:off x="579120" y="693420"/>
            <a:ext cx="11033760" cy="517321"/>
          </a:xfrm>
          <a:prstGeom prst="rect">
            <a:avLst/>
          </a:prstGeom>
          <a:noFill/>
          <a:effectLst/>
        </p:spPr>
        <p:txBody>
          <a:bodyPr wrap="none" lIns="0" rIns="0" tIns="0" bIns="0" anchor="t">
            <a:spAutoFit/>
          </a:bodyPr>
          <a:lstStyle/>
          <a:p>
            <a:pPr algn="l">
              <a:lnSpc>
                <a:spcPts val="3593"/>
              </a:lnSpc>
              <a:spcBef>
                <a:spcPts val="0"/>
              </a:spcBef>
              <a:spcAft>
                <a:spcPts val="0"/>
              </a:spcAft>
            </a:pPr>
            <a:r>
              <a:rPr sz="3179" b="1">
                <a:solidFill>
                  <a:srgbClr val="152F27"/>
                </a:solidFill>
                <a:latin typeface="Arial"/>
              </a:rPr>
              <a:t>I built the prototype from our knowledge base.</a:t>
            </a:r>
          </a:p>
        </p:txBody>
      </p:sp>
      <p:sp>
        <p:nvSpPr>
          <p:cNvPr id="4" name="TextBox 3"/>
          <p:cNvSpPr txBox="1"/>
          <p:nvPr/>
        </p:nvSpPr>
        <p:spPr>
          <a:xfrm>
            <a:off x="594360" y="1287780"/>
            <a:ext cx="10934700" cy="325526"/>
          </a:xfrm>
          <a:prstGeom prst="rect">
            <a:avLst/>
          </a:prstGeom>
          <a:noFill/>
          <a:effectLst/>
        </p:spPr>
        <p:txBody>
          <a:bodyPr wrap="none" lIns="0" rIns="0" tIns="0" bIns="0" anchor="t">
            <a:spAutoFit/>
          </a:bodyPr>
          <a:lstStyle/>
          <a:p>
            <a:pPr algn="l">
              <a:lnSpc>
                <a:spcPts val="2083"/>
              </a:lnSpc>
              <a:spcBef>
                <a:spcPts val="0"/>
              </a:spcBef>
              <a:spcAft>
                <a:spcPts val="0"/>
              </a:spcAft>
            </a:pPr>
            <a:r>
              <a:rPr sz="1680" b="0">
                <a:solidFill>
                  <a:srgbClr val="586B62"/>
                </a:solidFill>
                <a:latin typeface="Arial"/>
              </a:rPr>
              <a:t>I worked with Notion support to obtain the export, then built the GitHub prototype.</a:t>
            </a:r>
          </a:p>
        </p:txBody>
      </p:sp>
      <p:sp>
        <p:nvSpPr>
          <p:cNvPr id="5" name="TextBox 4"/>
          <p:cNvSpPr txBox="1"/>
          <p:nvPr/>
        </p:nvSpPr>
        <p:spPr>
          <a:xfrm>
            <a:off x="594360" y="2209800"/>
            <a:ext cx="3924300" cy="1202893"/>
          </a:xfrm>
          <a:prstGeom prst="rect">
            <a:avLst/>
          </a:prstGeom>
          <a:noFill/>
          <a:effectLst/>
        </p:spPr>
        <p:txBody>
          <a:bodyPr wrap="none" lIns="0" rIns="0" tIns="0" bIns="0" anchor="t">
            <a:spAutoFit/>
          </a:bodyPr>
          <a:lstStyle/>
          <a:p>
            <a:pPr algn="l">
              <a:lnSpc>
                <a:spcPts val="8991"/>
              </a:lnSpc>
              <a:spcBef>
                <a:spcPts val="0"/>
              </a:spcBef>
              <a:spcAft>
                <a:spcPts val="0"/>
              </a:spcAft>
            </a:pPr>
            <a:r>
              <a:rPr sz="7080" b="1">
                <a:solidFill>
                  <a:srgbClr val="176C4B"/>
                </a:solidFill>
                <a:latin typeface="Arial"/>
              </a:rPr>
              <a:t>~500</a:t>
            </a:r>
          </a:p>
        </p:txBody>
      </p:sp>
      <p:sp>
        <p:nvSpPr>
          <p:cNvPr id="6" name="TextBox 5"/>
          <p:cNvSpPr txBox="1"/>
          <p:nvPr/>
        </p:nvSpPr>
        <p:spPr>
          <a:xfrm>
            <a:off x="624840" y="3398520"/>
            <a:ext cx="3962399" cy="646176"/>
          </a:xfrm>
          <a:prstGeom prst="rect">
            <a:avLst/>
          </a:prstGeom>
          <a:noFill/>
          <a:effectLst/>
        </p:spPr>
        <p:txBody>
          <a:bodyPr wrap="none" lIns="0" rIns="0" tIns="0" bIns="0" anchor="t">
            <a:spAutoFit/>
          </a:bodyPr>
          <a:lstStyle/>
          <a:p>
            <a:pPr algn="l">
              <a:lnSpc>
                <a:spcPts val="2304"/>
              </a:lnSpc>
              <a:spcBef>
                <a:spcPts val="0"/>
              </a:spcBef>
              <a:spcAft>
                <a:spcPts val="0"/>
              </a:spcAft>
            </a:pPr>
            <a:r>
              <a:rPr sz="1800" b="0">
                <a:solidFill>
                  <a:srgbClr val="152F27"/>
                </a:solidFill>
                <a:latin typeface="Arial"/>
              </a:rPr>
              <a:t>articles in the</a:t>
            </a:r>
          </a:p>
          <a:p>
            <a:pPr algn="l">
              <a:lnSpc>
                <a:spcPts val="2304"/>
              </a:lnSpc>
              <a:spcBef>
                <a:spcPts val="0"/>
              </a:spcBef>
              <a:spcAft>
                <a:spcPts val="0"/>
              </a:spcAft>
            </a:pPr>
            <a:r>
              <a:rPr sz="1800" b="0">
                <a:solidFill>
                  <a:srgbClr val="152F27"/>
                </a:solidFill>
                <a:latin typeface="Arial"/>
              </a:rPr>
              <a:t>IT Support Knowledge Base</a:t>
            </a:r>
          </a:p>
        </p:txBody>
      </p:sp>
      <p:cxnSp>
        <p:nvCxnSpPr>
          <p:cNvPr id="7" name="Connector 6"/>
          <p:cNvCxnSpPr/>
          <p:nvPr/>
        </p:nvCxnSpPr>
        <p:spPr>
          <a:xfrm>
            <a:off x="4770120" y="2171700"/>
            <a:ext cx="0" cy="3474720"/>
          </a:xfrm>
          <a:prstGeom prst="line">
            <a:avLst/>
          </a:prstGeom>
          <a:ln w="15240">
            <a:solidFill>
              <a:srgbClr val="D2DCD3"/>
            </a:solidFill>
          </a:ln>
          <a:effectLst/>
        </p:spPr>
      </p:cxnSp>
      <p:sp>
        <p:nvSpPr>
          <p:cNvPr id="8" name="TextBox 7"/>
          <p:cNvSpPr txBox="1"/>
          <p:nvPr/>
        </p:nvSpPr>
        <p:spPr>
          <a:xfrm>
            <a:off x="5227320" y="2194560"/>
            <a:ext cx="662940" cy="486765"/>
          </a:xfrm>
          <a:prstGeom prst="rect">
            <a:avLst/>
          </a:prstGeom>
          <a:noFill/>
          <a:effectLst/>
        </p:spPr>
        <p:txBody>
          <a:bodyPr wrap="none" lIns="0" rIns="0" tIns="0" bIns="0" anchor="t">
            <a:spAutoFit/>
          </a:bodyPr>
          <a:lstStyle/>
          <a:p>
            <a:pPr algn="l">
              <a:lnSpc>
                <a:spcPts val="3352"/>
              </a:lnSpc>
              <a:spcBef>
                <a:spcPts val="0"/>
              </a:spcBef>
              <a:spcAft>
                <a:spcPts val="0"/>
              </a:spcAft>
            </a:pPr>
            <a:r>
              <a:rPr sz="2640" b="0">
                <a:solidFill>
                  <a:srgbClr val="176C4B"/>
                </a:solidFill>
                <a:latin typeface="Arial"/>
              </a:rPr>
              <a:t>01</a:t>
            </a:r>
          </a:p>
        </p:txBody>
      </p:sp>
      <p:sp>
        <p:nvSpPr>
          <p:cNvPr id="9" name="TextBox 8"/>
          <p:cNvSpPr txBox="1"/>
          <p:nvPr/>
        </p:nvSpPr>
        <p:spPr>
          <a:xfrm>
            <a:off x="6012180" y="2194560"/>
            <a:ext cx="5539740" cy="380314"/>
          </a:xfrm>
          <a:prstGeom prst="rect">
            <a:avLst/>
          </a:prstGeom>
          <a:noFill/>
          <a:effectLst/>
        </p:spPr>
        <p:txBody>
          <a:bodyPr wrap="none" lIns="0" rIns="0" tIns="0" bIns="0" anchor="t">
            <a:spAutoFit/>
          </a:bodyPr>
          <a:lstStyle/>
          <a:p>
            <a:pPr algn="l">
              <a:lnSpc>
                <a:spcPts val="2514"/>
              </a:lnSpc>
              <a:spcBef>
                <a:spcPts val="0"/>
              </a:spcBef>
              <a:spcAft>
                <a:spcPts val="0"/>
              </a:spcAft>
            </a:pPr>
            <a:r>
              <a:rPr sz="1980" b="1">
                <a:solidFill>
                  <a:srgbClr val="152F27"/>
                </a:solidFill>
                <a:latin typeface="Arial"/>
              </a:rPr>
              <a:t>Obtain the export</a:t>
            </a:r>
          </a:p>
        </p:txBody>
      </p:sp>
      <p:sp>
        <p:nvSpPr>
          <p:cNvPr id="10" name="TextBox 9"/>
          <p:cNvSpPr txBox="1"/>
          <p:nvPr/>
        </p:nvSpPr>
        <p:spPr>
          <a:xfrm>
            <a:off x="6012180" y="2628900"/>
            <a:ext cx="5425440" cy="318135"/>
          </a:xfrm>
          <a:prstGeom prst="rect">
            <a:avLst/>
          </a:prstGeom>
          <a:noFill/>
          <a:effectLst/>
        </p:spPr>
        <p:txBody>
          <a:bodyPr wrap="none" lIns="0" rIns="0" tIns="0" bIns="0" anchor="t">
            <a:spAutoFit/>
          </a:bodyPr>
          <a:lstStyle/>
          <a:p>
            <a:pPr algn="l">
              <a:lnSpc>
                <a:spcPts val="2025"/>
              </a:lnSpc>
              <a:spcBef>
                <a:spcPts val="0"/>
              </a:spcBef>
              <a:spcAft>
                <a:spcPts val="0"/>
              </a:spcAft>
            </a:pPr>
            <a:r>
              <a:rPr sz="1620" b="0">
                <a:solidFill>
                  <a:srgbClr val="586B62"/>
                </a:solidFill>
                <a:latin typeface="Arial"/>
              </a:rPr>
              <a:t>Notion support supplied the space export.</a:t>
            </a:r>
          </a:p>
        </p:txBody>
      </p:sp>
      <p:sp>
        <p:nvSpPr>
          <p:cNvPr id="11" name="TextBox 10"/>
          <p:cNvSpPr txBox="1"/>
          <p:nvPr/>
        </p:nvSpPr>
        <p:spPr>
          <a:xfrm>
            <a:off x="5227320" y="3436620"/>
            <a:ext cx="662940" cy="486765"/>
          </a:xfrm>
          <a:prstGeom prst="rect">
            <a:avLst/>
          </a:prstGeom>
          <a:noFill/>
          <a:effectLst/>
        </p:spPr>
        <p:txBody>
          <a:bodyPr wrap="none" lIns="0" rIns="0" tIns="0" bIns="0" anchor="t">
            <a:spAutoFit/>
          </a:bodyPr>
          <a:lstStyle/>
          <a:p>
            <a:pPr algn="l">
              <a:lnSpc>
                <a:spcPts val="3352"/>
              </a:lnSpc>
              <a:spcBef>
                <a:spcPts val="0"/>
              </a:spcBef>
              <a:spcAft>
                <a:spcPts val="0"/>
              </a:spcAft>
            </a:pPr>
            <a:r>
              <a:rPr sz="2640" b="0">
                <a:solidFill>
                  <a:srgbClr val="176C4B"/>
                </a:solidFill>
                <a:latin typeface="Arial"/>
              </a:rPr>
              <a:t>02</a:t>
            </a:r>
          </a:p>
        </p:txBody>
      </p:sp>
      <p:sp>
        <p:nvSpPr>
          <p:cNvPr id="12" name="TextBox 11"/>
          <p:cNvSpPr txBox="1"/>
          <p:nvPr/>
        </p:nvSpPr>
        <p:spPr>
          <a:xfrm>
            <a:off x="6012180" y="3436620"/>
            <a:ext cx="5539740" cy="380314"/>
          </a:xfrm>
          <a:prstGeom prst="rect">
            <a:avLst/>
          </a:prstGeom>
          <a:noFill/>
          <a:effectLst/>
        </p:spPr>
        <p:txBody>
          <a:bodyPr wrap="none" lIns="0" rIns="0" tIns="0" bIns="0" anchor="t">
            <a:spAutoFit/>
          </a:bodyPr>
          <a:lstStyle/>
          <a:p>
            <a:pPr algn="l">
              <a:lnSpc>
                <a:spcPts val="2514"/>
              </a:lnSpc>
              <a:spcBef>
                <a:spcPts val="0"/>
              </a:spcBef>
              <a:spcAft>
                <a:spcPts val="0"/>
              </a:spcAft>
            </a:pPr>
            <a:r>
              <a:rPr sz="1980" b="1">
                <a:solidFill>
                  <a:srgbClr val="152F27"/>
                </a:solidFill>
                <a:latin typeface="Arial"/>
              </a:rPr>
              <a:t>Prepare the repository</a:t>
            </a:r>
          </a:p>
        </p:txBody>
      </p:sp>
      <p:sp>
        <p:nvSpPr>
          <p:cNvPr id="13" name="TextBox 12"/>
          <p:cNvSpPr txBox="1"/>
          <p:nvPr/>
        </p:nvSpPr>
        <p:spPr>
          <a:xfrm>
            <a:off x="6012180" y="3870960"/>
            <a:ext cx="5425440" cy="318135"/>
          </a:xfrm>
          <a:prstGeom prst="rect">
            <a:avLst/>
          </a:prstGeom>
          <a:noFill/>
          <a:effectLst/>
        </p:spPr>
        <p:txBody>
          <a:bodyPr wrap="none" lIns="0" rIns="0" tIns="0" bIns="0" anchor="t">
            <a:spAutoFit/>
          </a:bodyPr>
          <a:lstStyle/>
          <a:p>
            <a:pPr algn="l">
              <a:lnSpc>
                <a:spcPts val="2025"/>
              </a:lnSpc>
              <a:spcBef>
                <a:spcPts val="0"/>
              </a:spcBef>
              <a:spcAft>
                <a:spcPts val="0"/>
              </a:spcAft>
            </a:pPr>
            <a:r>
              <a:rPr sz="1620" b="0">
                <a:solidFill>
                  <a:srgbClr val="586B62"/>
                </a:solidFill>
                <a:latin typeface="Arial"/>
              </a:rPr>
              <a:t>I brought the articles into GitHub as Markdown.</a:t>
            </a:r>
          </a:p>
        </p:txBody>
      </p:sp>
      <p:sp>
        <p:nvSpPr>
          <p:cNvPr id="14" name="TextBox 13"/>
          <p:cNvSpPr txBox="1"/>
          <p:nvPr/>
        </p:nvSpPr>
        <p:spPr>
          <a:xfrm>
            <a:off x="5227320" y="4678680"/>
            <a:ext cx="662940" cy="486765"/>
          </a:xfrm>
          <a:prstGeom prst="rect">
            <a:avLst/>
          </a:prstGeom>
          <a:noFill/>
          <a:effectLst/>
        </p:spPr>
        <p:txBody>
          <a:bodyPr wrap="none" lIns="0" rIns="0" tIns="0" bIns="0" anchor="t">
            <a:spAutoFit/>
          </a:bodyPr>
          <a:lstStyle/>
          <a:p>
            <a:pPr algn="l">
              <a:lnSpc>
                <a:spcPts val="3352"/>
              </a:lnSpc>
              <a:spcBef>
                <a:spcPts val="0"/>
              </a:spcBef>
              <a:spcAft>
                <a:spcPts val="0"/>
              </a:spcAft>
            </a:pPr>
            <a:r>
              <a:rPr sz="2640" b="0">
                <a:solidFill>
                  <a:srgbClr val="176C4B"/>
                </a:solidFill>
                <a:latin typeface="Arial"/>
              </a:rPr>
              <a:t>03</a:t>
            </a:r>
          </a:p>
        </p:txBody>
      </p:sp>
      <p:sp>
        <p:nvSpPr>
          <p:cNvPr id="15" name="TextBox 14"/>
          <p:cNvSpPr txBox="1"/>
          <p:nvPr/>
        </p:nvSpPr>
        <p:spPr>
          <a:xfrm>
            <a:off x="6012180" y="4678680"/>
            <a:ext cx="5539740" cy="380314"/>
          </a:xfrm>
          <a:prstGeom prst="rect">
            <a:avLst/>
          </a:prstGeom>
          <a:noFill/>
          <a:effectLst/>
        </p:spPr>
        <p:txBody>
          <a:bodyPr wrap="none" lIns="0" rIns="0" tIns="0" bIns="0" anchor="t">
            <a:spAutoFit/>
          </a:bodyPr>
          <a:lstStyle/>
          <a:p>
            <a:pPr algn="l">
              <a:lnSpc>
                <a:spcPts val="2514"/>
              </a:lnSpc>
              <a:spcBef>
                <a:spcPts val="0"/>
              </a:spcBef>
              <a:spcAft>
                <a:spcPts val="0"/>
              </a:spcAft>
            </a:pPr>
            <a:r>
              <a:rPr sz="1980" b="1">
                <a:solidFill>
                  <a:srgbClr val="152F27"/>
                </a:solidFill>
                <a:latin typeface="Arial"/>
              </a:rPr>
              <a:t>Build the site</a:t>
            </a:r>
          </a:p>
        </p:txBody>
      </p:sp>
      <p:sp>
        <p:nvSpPr>
          <p:cNvPr id="16" name="TextBox 15"/>
          <p:cNvSpPr txBox="1"/>
          <p:nvPr/>
        </p:nvSpPr>
        <p:spPr>
          <a:xfrm>
            <a:off x="6012180" y="5113020"/>
            <a:ext cx="5425440" cy="318135"/>
          </a:xfrm>
          <a:prstGeom prst="rect">
            <a:avLst/>
          </a:prstGeom>
          <a:noFill/>
          <a:effectLst/>
        </p:spPr>
        <p:txBody>
          <a:bodyPr wrap="none" lIns="0" rIns="0" tIns="0" bIns="0" anchor="t">
            <a:spAutoFit/>
          </a:bodyPr>
          <a:lstStyle/>
          <a:p>
            <a:pPr algn="l">
              <a:lnSpc>
                <a:spcPts val="2025"/>
              </a:lnSpc>
              <a:spcBef>
                <a:spcPts val="0"/>
              </a:spcBef>
              <a:spcAft>
                <a:spcPts val="0"/>
              </a:spcAft>
            </a:pPr>
            <a:r>
              <a:rPr sz="1620" b="0">
                <a:solidFill>
                  <a:srgbClr val="586B62"/>
                </a:solidFill>
                <a:latin typeface="Arial"/>
              </a:rPr>
              <a:t>I created a Docusaurus style documentation site.</a:t>
            </a:r>
          </a:p>
        </p:txBody>
      </p:sp>
      <p:sp>
        <p:nvSpPr>
          <p:cNvPr id="17" name="TextBox 16"/>
          <p:cNvSpPr txBox="1"/>
          <p:nvPr/>
        </p:nvSpPr>
        <p:spPr>
          <a:xfrm>
            <a:off x="594360" y="5935980"/>
            <a:ext cx="10668000" cy="302895"/>
          </a:xfrm>
          <a:prstGeom prst="rect">
            <a:avLst/>
          </a:prstGeom>
          <a:noFill/>
          <a:effectLst/>
        </p:spPr>
        <p:txBody>
          <a:bodyPr wrap="none" lIns="0" rIns="0" tIns="0" bIns="0" anchor="t">
            <a:spAutoFit/>
          </a:bodyPr>
          <a:lstStyle/>
          <a:p>
            <a:pPr algn="l">
              <a:lnSpc>
                <a:spcPts val="1905"/>
              </a:lnSpc>
              <a:spcBef>
                <a:spcPts val="0"/>
              </a:spcBef>
              <a:spcAft>
                <a:spcPts val="0"/>
              </a:spcAft>
            </a:pPr>
            <a:r>
              <a:rPr sz="1500" b="0">
                <a:solidFill>
                  <a:srgbClr val="176C4B"/>
                </a:solidFill>
                <a:latin typeface="Arial"/>
              </a:rPr>
              <a:t>I began testing with a focused selection of common IT tasks.</a:t>
            </a:r>
          </a:p>
        </p:txBody>
      </p:sp>
      <p:cxnSp>
        <p:nvCxnSpPr>
          <p:cNvPr id="18" name="Connector 17"/>
          <p:cNvCxnSpPr/>
          <p:nvPr/>
        </p:nvCxnSpPr>
        <p:spPr>
          <a:xfrm>
            <a:off x="579120" y="6347460"/>
            <a:ext cx="11033760" cy="0"/>
          </a:xfrm>
          <a:prstGeom prst="line">
            <a:avLst/>
          </a:prstGeom>
          <a:ln w="7620">
            <a:solidFill>
              <a:srgbClr val="D2DCD3"/>
            </a:solidFill>
          </a:ln>
          <a:effectLst/>
        </p:spPr>
      </p:cxnSp>
      <p:sp>
        <p:nvSpPr>
          <p:cNvPr id="19" name="TextBox 18"/>
          <p:cNvSpPr txBox="1"/>
          <p:nvPr/>
        </p:nvSpPr>
        <p:spPr>
          <a:xfrm>
            <a:off x="594360" y="6484620"/>
            <a:ext cx="89916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0">
                <a:solidFill>
                  <a:srgbClr val="586B62"/>
                </a:solidFill>
                <a:latin typeface="Arial"/>
              </a:rPr>
              <a:t>FRANKLIN WAGGONER / AI IN EVERYDAY IT</a:t>
            </a:r>
          </a:p>
        </p:txBody>
      </p:sp>
      <p:sp>
        <p:nvSpPr>
          <p:cNvPr id="20" name="TextBox 19"/>
          <p:cNvSpPr txBox="1"/>
          <p:nvPr/>
        </p:nvSpPr>
        <p:spPr>
          <a:xfrm>
            <a:off x="10591800" y="6484620"/>
            <a:ext cx="1021080" cy="215798"/>
          </a:xfrm>
          <a:prstGeom prst="rect">
            <a:avLst/>
          </a:prstGeom>
          <a:noFill/>
          <a:effectLst/>
        </p:spPr>
        <p:txBody>
          <a:bodyPr wrap="none" lIns="0" rIns="0" tIns="0" bIns="0" anchor="t">
            <a:spAutoFit/>
          </a:bodyPr>
          <a:lstStyle/>
          <a:p>
            <a:pPr algn="r">
              <a:lnSpc>
                <a:spcPts val="1219"/>
              </a:lnSpc>
              <a:spcBef>
                <a:spcPts val="0"/>
              </a:spcBef>
              <a:spcAft>
                <a:spcPts val="0"/>
              </a:spcAft>
            </a:pPr>
            <a:r>
              <a:rPr sz="960" b="0">
                <a:solidFill>
                  <a:srgbClr val="586B62"/>
                </a:solidFill>
                <a:latin typeface="Arial"/>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594360" y="327660"/>
            <a:ext cx="106680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1">
                <a:solidFill>
                  <a:srgbClr val="176C4B"/>
                </a:solidFill>
                <a:latin typeface="Arial"/>
              </a:rPr>
              <a:t>02 / KNOWLEDGE BASE</a:t>
            </a:r>
          </a:p>
        </p:txBody>
      </p:sp>
      <p:sp>
        <p:nvSpPr>
          <p:cNvPr id="3" name="TextBox 2"/>
          <p:cNvSpPr txBox="1"/>
          <p:nvPr/>
        </p:nvSpPr>
        <p:spPr>
          <a:xfrm>
            <a:off x="579120" y="693420"/>
            <a:ext cx="11033760" cy="517321"/>
          </a:xfrm>
          <a:prstGeom prst="rect">
            <a:avLst/>
          </a:prstGeom>
          <a:noFill/>
          <a:effectLst/>
        </p:spPr>
        <p:txBody>
          <a:bodyPr wrap="none" lIns="0" rIns="0" tIns="0" bIns="0" anchor="t">
            <a:spAutoFit/>
          </a:bodyPr>
          <a:lstStyle/>
          <a:p>
            <a:pPr algn="l">
              <a:lnSpc>
                <a:spcPts val="3593"/>
              </a:lnSpc>
              <a:spcBef>
                <a:spcPts val="0"/>
              </a:spcBef>
              <a:spcAft>
                <a:spcPts val="0"/>
              </a:spcAft>
            </a:pPr>
            <a:r>
              <a:rPr sz="3179" b="1">
                <a:solidFill>
                  <a:srgbClr val="152F27"/>
                </a:solidFill>
                <a:latin typeface="Arial"/>
              </a:rPr>
              <a:t>I tested search and updates in Slack and Goose.</a:t>
            </a:r>
          </a:p>
        </p:txBody>
      </p:sp>
      <p:sp>
        <p:nvSpPr>
          <p:cNvPr id="4" name="TextBox 3"/>
          <p:cNvSpPr txBox="1"/>
          <p:nvPr/>
        </p:nvSpPr>
        <p:spPr>
          <a:xfrm>
            <a:off x="594360" y="1287780"/>
            <a:ext cx="10934700" cy="325526"/>
          </a:xfrm>
          <a:prstGeom prst="rect">
            <a:avLst/>
          </a:prstGeom>
          <a:noFill/>
          <a:effectLst/>
        </p:spPr>
        <p:txBody>
          <a:bodyPr wrap="none" lIns="0" rIns="0" tIns="0" bIns="0" anchor="t">
            <a:spAutoFit/>
          </a:bodyPr>
          <a:lstStyle/>
          <a:p>
            <a:pPr algn="l">
              <a:lnSpc>
                <a:spcPts val="2083"/>
              </a:lnSpc>
              <a:spcBef>
                <a:spcPts val="0"/>
              </a:spcBef>
              <a:spcAft>
                <a:spcPts val="0"/>
              </a:spcAft>
            </a:pPr>
            <a:r>
              <a:rPr sz="1680" b="0">
                <a:solidFill>
                  <a:srgbClr val="586B62"/>
                </a:solidFill>
                <a:latin typeface="Arial"/>
              </a:rPr>
              <a:t>Common IT tasks gave me a practical way to test the knowledge workflow.</a:t>
            </a:r>
          </a:p>
        </p:txBody>
      </p:sp>
      <p:sp>
        <p:nvSpPr>
          <p:cNvPr id="5" name="Rounded Rectangle 4"/>
          <p:cNvSpPr/>
          <p:nvPr/>
        </p:nvSpPr>
        <p:spPr>
          <a:xfrm>
            <a:off x="594360" y="2202180"/>
            <a:ext cx="5265420" cy="3215640"/>
          </a:xfrm>
          <a:prstGeom prst="roundRect">
            <a:avLst>
              <a:gd name="adj" fmla="val 1895"/>
            </a:avLst>
          </a:prstGeom>
          <a:solidFill>
            <a:srgbClr val="FFFFFF"/>
          </a:solidFill>
          <a:ln w="12192">
            <a:solidFill>
              <a:srgbClr val="D2DCD3"/>
            </a:solidFill>
          </a:ln>
          <a:effectLst/>
        </p:spPr>
        <p:txBody>
          <a:bodyPr rtlCol="0" anchor="ctr"/>
          <a:lstStyle/>
          <a:p>
            <a:pPr algn="ctr"/>
          </a:p>
        </p:txBody>
      </p:sp>
      <p:sp>
        <p:nvSpPr>
          <p:cNvPr id="6" name="TextBox 5"/>
          <p:cNvSpPr txBox="1"/>
          <p:nvPr/>
        </p:nvSpPr>
        <p:spPr>
          <a:xfrm>
            <a:off x="822960" y="2476500"/>
            <a:ext cx="4800600" cy="409346"/>
          </a:xfrm>
          <a:prstGeom prst="rect">
            <a:avLst/>
          </a:prstGeom>
          <a:noFill/>
          <a:effectLst/>
        </p:spPr>
        <p:txBody>
          <a:bodyPr wrap="none" lIns="0" rIns="0" tIns="0" bIns="0" anchor="t">
            <a:spAutoFit/>
          </a:bodyPr>
          <a:lstStyle/>
          <a:p>
            <a:pPr algn="l">
              <a:lnSpc>
                <a:spcPts val="2743"/>
              </a:lnSpc>
              <a:spcBef>
                <a:spcPts val="0"/>
              </a:spcBef>
              <a:spcAft>
                <a:spcPts val="0"/>
              </a:spcAft>
            </a:pPr>
            <a:r>
              <a:rPr sz="2160" b="1">
                <a:solidFill>
                  <a:srgbClr val="152F27"/>
                </a:solidFill>
                <a:latin typeface="Arial"/>
              </a:rPr>
              <a:t>Find an article</a:t>
            </a:r>
          </a:p>
        </p:txBody>
      </p:sp>
      <p:sp>
        <p:nvSpPr>
          <p:cNvPr id="7" name="TextBox 6"/>
          <p:cNvSpPr txBox="1"/>
          <p:nvPr/>
        </p:nvSpPr>
        <p:spPr>
          <a:xfrm>
            <a:off x="822960" y="2979420"/>
            <a:ext cx="4800600" cy="225475"/>
          </a:xfrm>
          <a:prstGeom prst="rect">
            <a:avLst/>
          </a:prstGeom>
          <a:noFill/>
          <a:effectLst/>
        </p:spPr>
        <p:txBody>
          <a:bodyPr wrap="none" lIns="0" rIns="0" tIns="0" bIns="0" anchor="t">
            <a:spAutoFit/>
          </a:bodyPr>
          <a:lstStyle/>
          <a:p>
            <a:pPr algn="l">
              <a:lnSpc>
                <a:spcPts val="1295"/>
              </a:lnSpc>
              <a:spcBef>
                <a:spcPts val="0"/>
              </a:spcBef>
              <a:spcAft>
                <a:spcPts val="0"/>
              </a:spcAft>
            </a:pPr>
            <a:r>
              <a:rPr sz="1019" b="1">
                <a:solidFill>
                  <a:srgbClr val="586B62"/>
                </a:solidFill>
                <a:latin typeface="Arial"/>
              </a:rPr>
              <a:t>EXAMPLE REQUEST</a:t>
            </a:r>
          </a:p>
        </p:txBody>
      </p:sp>
      <p:sp>
        <p:nvSpPr>
          <p:cNvPr id="8" name="Rounded Rectangle 7"/>
          <p:cNvSpPr/>
          <p:nvPr/>
        </p:nvSpPr>
        <p:spPr>
          <a:xfrm>
            <a:off x="822960" y="3246120"/>
            <a:ext cx="4808220" cy="891540"/>
          </a:xfrm>
          <a:prstGeom prst="roundRect">
            <a:avLst>
              <a:gd name="adj" fmla="val 5128"/>
            </a:avLst>
          </a:prstGeom>
          <a:solidFill>
            <a:srgbClr val="E4F0E6"/>
          </a:solidFill>
          <a:ln>
            <a:noFill/>
          </a:ln>
          <a:effectLst/>
        </p:spPr>
        <p:txBody>
          <a:bodyPr rtlCol="0" anchor="ctr"/>
          <a:lstStyle/>
          <a:p>
            <a:pPr algn="ctr"/>
          </a:p>
        </p:txBody>
      </p:sp>
      <p:sp>
        <p:nvSpPr>
          <p:cNvPr id="9" name="TextBox 8"/>
          <p:cNvSpPr txBox="1"/>
          <p:nvPr/>
        </p:nvSpPr>
        <p:spPr>
          <a:xfrm>
            <a:off x="975360" y="3459480"/>
            <a:ext cx="4503420" cy="327660"/>
          </a:xfrm>
          <a:prstGeom prst="rect">
            <a:avLst/>
          </a:prstGeom>
          <a:noFill/>
          <a:effectLst/>
        </p:spPr>
        <p:txBody>
          <a:bodyPr wrap="none" lIns="0" rIns="0" tIns="0" bIns="0" anchor="t">
            <a:spAutoFit/>
          </a:bodyPr>
          <a:lstStyle/>
          <a:p>
            <a:pPr algn="l">
              <a:lnSpc>
                <a:spcPts val="2100"/>
              </a:lnSpc>
              <a:spcBef>
                <a:spcPts val="0"/>
              </a:spcBef>
              <a:spcAft>
                <a:spcPts val="0"/>
              </a:spcAft>
            </a:pPr>
            <a:r>
              <a:rPr sz="1680" b="0">
                <a:solidFill>
                  <a:srgbClr val="152F27"/>
                </a:solidFill>
                <a:latin typeface="Arial"/>
              </a:rPr>
              <a:t>Find the printer setup instructions.</a:t>
            </a:r>
          </a:p>
        </p:txBody>
      </p:sp>
      <p:sp>
        <p:nvSpPr>
          <p:cNvPr id="10" name="TextBox 9"/>
          <p:cNvSpPr txBox="1"/>
          <p:nvPr/>
        </p:nvSpPr>
        <p:spPr>
          <a:xfrm>
            <a:off x="822960" y="4389120"/>
            <a:ext cx="4800600" cy="273862"/>
          </a:xfrm>
          <a:prstGeom prst="rect">
            <a:avLst/>
          </a:prstGeom>
          <a:noFill/>
          <a:effectLst/>
        </p:spPr>
        <p:txBody>
          <a:bodyPr wrap="none" lIns="0" rIns="0" tIns="0" bIns="0" anchor="t">
            <a:spAutoFit/>
          </a:bodyPr>
          <a:lstStyle/>
          <a:p>
            <a:pPr algn="l">
              <a:lnSpc>
                <a:spcPts val="1676"/>
              </a:lnSpc>
              <a:spcBef>
                <a:spcPts val="0"/>
              </a:spcBef>
              <a:spcAft>
                <a:spcPts val="0"/>
              </a:spcAft>
            </a:pPr>
            <a:r>
              <a:rPr sz="1320" b="1">
                <a:solidFill>
                  <a:srgbClr val="176C4B"/>
                </a:solidFill>
                <a:latin typeface="Arial"/>
              </a:rPr>
              <a:t>What worked</a:t>
            </a:r>
          </a:p>
        </p:txBody>
      </p:sp>
      <p:sp>
        <p:nvSpPr>
          <p:cNvPr id="11" name="TextBox 10"/>
          <p:cNvSpPr txBox="1"/>
          <p:nvPr/>
        </p:nvSpPr>
        <p:spPr>
          <a:xfrm>
            <a:off x="822960" y="4732020"/>
            <a:ext cx="4800600" cy="579424"/>
          </a:xfrm>
          <a:prstGeom prst="rect">
            <a:avLst/>
          </a:prstGeom>
          <a:noFill/>
          <a:effectLst/>
        </p:spPr>
        <p:txBody>
          <a:bodyPr wrap="none" lIns="0" rIns="0" tIns="0" bIns="0" anchor="t">
            <a:spAutoFit/>
          </a:bodyPr>
          <a:lstStyle/>
          <a:p>
            <a:pPr algn="l">
              <a:lnSpc>
                <a:spcPts val="2041"/>
              </a:lnSpc>
              <a:spcBef>
                <a:spcPts val="0"/>
              </a:spcBef>
              <a:spcAft>
                <a:spcPts val="0"/>
              </a:spcAft>
            </a:pPr>
            <a:r>
              <a:rPr sz="1620" b="0">
                <a:solidFill>
                  <a:srgbClr val="152F27"/>
                </a:solidFill>
                <a:latin typeface="Arial"/>
              </a:rPr>
              <a:t>Goose found relevant information in the selected</a:t>
            </a:r>
          </a:p>
          <a:p>
            <a:pPr algn="l">
              <a:lnSpc>
                <a:spcPts val="2041"/>
              </a:lnSpc>
              <a:spcBef>
                <a:spcPts val="0"/>
              </a:spcBef>
              <a:spcAft>
                <a:spcPts val="0"/>
              </a:spcAft>
            </a:pPr>
            <a:r>
              <a:rPr sz="1620" b="0">
                <a:solidFill>
                  <a:srgbClr val="152F27"/>
                </a:solidFill>
                <a:latin typeface="Arial"/>
              </a:rPr>
              <a:t>knowledge base articles.</a:t>
            </a:r>
          </a:p>
        </p:txBody>
      </p:sp>
      <p:sp>
        <p:nvSpPr>
          <p:cNvPr id="12" name="Rounded Rectangle 11"/>
          <p:cNvSpPr/>
          <p:nvPr/>
        </p:nvSpPr>
        <p:spPr>
          <a:xfrm>
            <a:off x="6347460" y="2202180"/>
            <a:ext cx="5265420" cy="3215640"/>
          </a:xfrm>
          <a:prstGeom prst="roundRect">
            <a:avLst>
              <a:gd name="adj" fmla="val 1895"/>
            </a:avLst>
          </a:prstGeom>
          <a:solidFill>
            <a:srgbClr val="FFFFFF"/>
          </a:solidFill>
          <a:ln w="12192">
            <a:solidFill>
              <a:srgbClr val="D2DCD3"/>
            </a:solidFill>
          </a:ln>
          <a:effectLst/>
        </p:spPr>
        <p:txBody>
          <a:bodyPr rtlCol="0" anchor="ctr"/>
          <a:lstStyle/>
          <a:p>
            <a:pPr algn="ctr"/>
          </a:p>
        </p:txBody>
      </p:sp>
      <p:sp>
        <p:nvSpPr>
          <p:cNvPr id="13" name="TextBox 12"/>
          <p:cNvSpPr txBox="1"/>
          <p:nvPr/>
        </p:nvSpPr>
        <p:spPr>
          <a:xfrm>
            <a:off x="6576060" y="2476500"/>
            <a:ext cx="4800600" cy="409346"/>
          </a:xfrm>
          <a:prstGeom prst="rect">
            <a:avLst/>
          </a:prstGeom>
          <a:noFill/>
          <a:effectLst/>
        </p:spPr>
        <p:txBody>
          <a:bodyPr wrap="none" lIns="0" rIns="0" tIns="0" bIns="0" anchor="t">
            <a:spAutoFit/>
          </a:bodyPr>
          <a:lstStyle/>
          <a:p>
            <a:pPr algn="l">
              <a:lnSpc>
                <a:spcPts val="2743"/>
              </a:lnSpc>
              <a:spcBef>
                <a:spcPts val="0"/>
              </a:spcBef>
              <a:spcAft>
                <a:spcPts val="0"/>
              </a:spcAft>
            </a:pPr>
            <a:r>
              <a:rPr sz="2160" b="1">
                <a:solidFill>
                  <a:srgbClr val="152F27"/>
                </a:solidFill>
                <a:latin typeface="Arial"/>
              </a:rPr>
              <a:t>Update an article</a:t>
            </a:r>
          </a:p>
        </p:txBody>
      </p:sp>
      <p:sp>
        <p:nvSpPr>
          <p:cNvPr id="14" name="TextBox 13"/>
          <p:cNvSpPr txBox="1"/>
          <p:nvPr/>
        </p:nvSpPr>
        <p:spPr>
          <a:xfrm>
            <a:off x="6576060" y="2979420"/>
            <a:ext cx="4800600" cy="225475"/>
          </a:xfrm>
          <a:prstGeom prst="rect">
            <a:avLst/>
          </a:prstGeom>
          <a:noFill/>
          <a:effectLst/>
        </p:spPr>
        <p:txBody>
          <a:bodyPr wrap="none" lIns="0" rIns="0" tIns="0" bIns="0" anchor="t">
            <a:spAutoFit/>
          </a:bodyPr>
          <a:lstStyle/>
          <a:p>
            <a:pPr algn="l">
              <a:lnSpc>
                <a:spcPts val="1295"/>
              </a:lnSpc>
              <a:spcBef>
                <a:spcPts val="0"/>
              </a:spcBef>
              <a:spcAft>
                <a:spcPts val="0"/>
              </a:spcAft>
            </a:pPr>
            <a:r>
              <a:rPr sz="1019" b="1">
                <a:solidFill>
                  <a:srgbClr val="586B62"/>
                </a:solidFill>
                <a:latin typeface="Arial"/>
              </a:rPr>
              <a:t>EXAMPLE REQUEST</a:t>
            </a:r>
          </a:p>
        </p:txBody>
      </p:sp>
      <p:sp>
        <p:nvSpPr>
          <p:cNvPr id="15" name="Rounded Rectangle 14"/>
          <p:cNvSpPr/>
          <p:nvPr/>
        </p:nvSpPr>
        <p:spPr>
          <a:xfrm>
            <a:off x="6576060" y="3246120"/>
            <a:ext cx="4808220" cy="891540"/>
          </a:xfrm>
          <a:prstGeom prst="roundRect">
            <a:avLst>
              <a:gd name="adj" fmla="val 5128"/>
            </a:avLst>
          </a:prstGeom>
          <a:solidFill>
            <a:srgbClr val="E4F0E6"/>
          </a:solidFill>
          <a:ln>
            <a:noFill/>
          </a:ln>
          <a:effectLst/>
        </p:spPr>
        <p:txBody>
          <a:bodyPr rtlCol="0" anchor="ctr"/>
          <a:lstStyle/>
          <a:p>
            <a:pPr algn="ctr"/>
          </a:p>
        </p:txBody>
      </p:sp>
      <p:sp>
        <p:nvSpPr>
          <p:cNvPr id="16" name="TextBox 15"/>
          <p:cNvSpPr txBox="1"/>
          <p:nvPr/>
        </p:nvSpPr>
        <p:spPr>
          <a:xfrm>
            <a:off x="6728460" y="3459480"/>
            <a:ext cx="4503420" cy="327660"/>
          </a:xfrm>
          <a:prstGeom prst="rect">
            <a:avLst/>
          </a:prstGeom>
          <a:noFill/>
          <a:effectLst/>
        </p:spPr>
        <p:txBody>
          <a:bodyPr wrap="none" lIns="0" rIns="0" tIns="0" bIns="0" anchor="t">
            <a:spAutoFit/>
          </a:bodyPr>
          <a:lstStyle/>
          <a:p>
            <a:pPr algn="l">
              <a:lnSpc>
                <a:spcPts val="2100"/>
              </a:lnSpc>
              <a:spcBef>
                <a:spcPts val="0"/>
              </a:spcBef>
              <a:spcAft>
                <a:spcPts val="0"/>
              </a:spcAft>
            </a:pPr>
            <a:r>
              <a:rPr sz="1680" b="0">
                <a:solidFill>
                  <a:srgbClr val="152F27"/>
                </a:solidFill>
                <a:latin typeface="Arial"/>
              </a:rPr>
              <a:t>Update the WiFi article with this revised step.</a:t>
            </a:r>
          </a:p>
        </p:txBody>
      </p:sp>
      <p:sp>
        <p:nvSpPr>
          <p:cNvPr id="17" name="TextBox 16"/>
          <p:cNvSpPr txBox="1"/>
          <p:nvPr/>
        </p:nvSpPr>
        <p:spPr>
          <a:xfrm>
            <a:off x="6576060" y="4389120"/>
            <a:ext cx="4800600" cy="273862"/>
          </a:xfrm>
          <a:prstGeom prst="rect">
            <a:avLst/>
          </a:prstGeom>
          <a:noFill/>
          <a:effectLst/>
        </p:spPr>
        <p:txBody>
          <a:bodyPr wrap="none" lIns="0" rIns="0" tIns="0" bIns="0" anchor="t">
            <a:spAutoFit/>
          </a:bodyPr>
          <a:lstStyle/>
          <a:p>
            <a:pPr algn="l">
              <a:lnSpc>
                <a:spcPts val="1676"/>
              </a:lnSpc>
              <a:spcBef>
                <a:spcPts val="0"/>
              </a:spcBef>
              <a:spcAft>
                <a:spcPts val="0"/>
              </a:spcAft>
            </a:pPr>
            <a:r>
              <a:rPr sz="1320" b="1">
                <a:solidFill>
                  <a:srgbClr val="176C4B"/>
                </a:solidFill>
                <a:latin typeface="Arial"/>
              </a:rPr>
              <a:t>What worked</a:t>
            </a:r>
          </a:p>
        </p:txBody>
      </p:sp>
      <p:sp>
        <p:nvSpPr>
          <p:cNvPr id="18" name="TextBox 17"/>
          <p:cNvSpPr txBox="1"/>
          <p:nvPr/>
        </p:nvSpPr>
        <p:spPr>
          <a:xfrm>
            <a:off x="6576060" y="4732020"/>
            <a:ext cx="4800600" cy="579424"/>
          </a:xfrm>
          <a:prstGeom prst="rect">
            <a:avLst/>
          </a:prstGeom>
          <a:noFill/>
          <a:effectLst/>
        </p:spPr>
        <p:txBody>
          <a:bodyPr wrap="none" lIns="0" rIns="0" tIns="0" bIns="0" anchor="t">
            <a:spAutoFit/>
          </a:bodyPr>
          <a:lstStyle/>
          <a:p>
            <a:pPr algn="l">
              <a:lnSpc>
                <a:spcPts val="2041"/>
              </a:lnSpc>
              <a:spcBef>
                <a:spcPts val="0"/>
              </a:spcBef>
              <a:spcAft>
                <a:spcPts val="0"/>
              </a:spcAft>
            </a:pPr>
            <a:r>
              <a:rPr sz="1620" b="0">
                <a:solidFill>
                  <a:srgbClr val="152F27"/>
                </a:solidFill>
                <a:latin typeface="Arial"/>
              </a:rPr>
              <a:t>Goose updated the selected Markdown content from</a:t>
            </a:r>
          </a:p>
          <a:p>
            <a:pPr algn="l">
              <a:lnSpc>
                <a:spcPts val="2041"/>
              </a:lnSpc>
              <a:spcBef>
                <a:spcPts val="0"/>
              </a:spcBef>
              <a:spcAft>
                <a:spcPts val="0"/>
              </a:spcAft>
            </a:pPr>
            <a:r>
              <a:rPr sz="1620" b="0">
                <a:solidFill>
                  <a:srgbClr val="152F27"/>
                </a:solidFill>
                <a:latin typeface="Arial"/>
              </a:rPr>
              <a:t>Slack.</a:t>
            </a:r>
          </a:p>
        </p:txBody>
      </p:sp>
      <p:sp>
        <p:nvSpPr>
          <p:cNvPr id="19" name="TextBox 18"/>
          <p:cNvSpPr txBox="1"/>
          <p:nvPr/>
        </p:nvSpPr>
        <p:spPr>
          <a:xfrm>
            <a:off x="594360" y="5890260"/>
            <a:ext cx="10972800" cy="302895"/>
          </a:xfrm>
          <a:prstGeom prst="rect">
            <a:avLst/>
          </a:prstGeom>
          <a:noFill/>
          <a:effectLst/>
        </p:spPr>
        <p:txBody>
          <a:bodyPr wrap="none" lIns="0" rIns="0" tIns="0" bIns="0" anchor="t">
            <a:spAutoFit/>
          </a:bodyPr>
          <a:lstStyle/>
          <a:p>
            <a:pPr algn="l">
              <a:lnSpc>
                <a:spcPts val="1905"/>
              </a:lnSpc>
              <a:spcBef>
                <a:spcPts val="0"/>
              </a:spcBef>
              <a:spcAft>
                <a:spcPts val="0"/>
              </a:spcAft>
            </a:pPr>
            <a:r>
              <a:rPr sz="1500" b="0">
                <a:solidFill>
                  <a:srgbClr val="176C4B"/>
                </a:solidFill>
                <a:latin typeface="Arial"/>
              </a:rPr>
              <a:t>The tests showed how knowledge could be found and maintained through everyday conversations.</a:t>
            </a:r>
          </a:p>
        </p:txBody>
      </p:sp>
      <p:cxnSp>
        <p:nvCxnSpPr>
          <p:cNvPr id="20" name="Connector 19"/>
          <p:cNvCxnSpPr/>
          <p:nvPr/>
        </p:nvCxnSpPr>
        <p:spPr>
          <a:xfrm>
            <a:off x="579120" y="6347460"/>
            <a:ext cx="11033760" cy="0"/>
          </a:xfrm>
          <a:prstGeom prst="line">
            <a:avLst/>
          </a:prstGeom>
          <a:ln w="7620">
            <a:solidFill>
              <a:srgbClr val="D2DCD3"/>
            </a:solidFill>
          </a:ln>
          <a:effectLst/>
        </p:spPr>
      </p:cxnSp>
      <p:sp>
        <p:nvSpPr>
          <p:cNvPr id="21" name="TextBox 20"/>
          <p:cNvSpPr txBox="1"/>
          <p:nvPr/>
        </p:nvSpPr>
        <p:spPr>
          <a:xfrm>
            <a:off x="594360" y="6484620"/>
            <a:ext cx="89916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0">
                <a:solidFill>
                  <a:srgbClr val="586B62"/>
                </a:solidFill>
                <a:latin typeface="Arial"/>
              </a:rPr>
              <a:t>FRANKLIN WAGGONER / AI IN EVERYDAY IT</a:t>
            </a:r>
          </a:p>
        </p:txBody>
      </p:sp>
      <p:sp>
        <p:nvSpPr>
          <p:cNvPr id="22" name="TextBox 21"/>
          <p:cNvSpPr txBox="1"/>
          <p:nvPr/>
        </p:nvSpPr>
        <p:spPr>
          <a:xfrm>
            <a:off x="10591800" y="6484620"/>
            <a:ext cx="1021080" cy="215798"/>
          </a:xfrm>
          <a:prstGeom prst="rect">
            <a:avLst/>
          </a:prstGeom>
          <a:noFill/>
          <a:effectLst/>
        </p:spPr>
        <p:txBody>
          <a:bodyPr wrap="none" lIns="0" rIns="0" tIns="0" bIns="0" anchor="t">
            <a:spAutoFit/>
          </a:bodyPr>
          <a:lstStyle/>
          <a:p>
            <a:pPr algn="r">
              <a:lnSpc>
                <a:spcPts val="1219"/>
              </a:lnSpc>
              <a:spcBef>
                <a:spcPts val="0"/>
              </a:spcBef>
              <a:spcAft>
                <a:spcPts val="0"/>
              </a:spcAft>
            </a:pPr>
            <a:r>
              <a:rPr sz="960" b="0">
                <a:solidFill>
                  <a:srgbClr val="586B62"/>
                </a:solidFill>
                <a:latin typeface="Arial"/>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594360" y="327660"/>
            <a:ext cx="106680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1">
                <a:solidFill>
                  <a:srgbClr val="176C4B"/>
                </a:solidFill>
                <a:latin typeface="Arial"/>
              </a:rPr>
              <a:t>02 / KNOWLEDGE BASE</a:t>
            </a:r>
          </a:p>
        </p:txBody>
      </p:sp>
      <p:sp>
        <p:nvSpPr>
          <p:cNvPr id="3" name="TextBox 2"/>
          <p:cNvSpPr txBox="1"/>
          <p:nvPr/>
        </p:nvSpPr>
        <p:spPr>
          <a:xfrm>
            <a:off x="579120" y="693420"/>
            <a:ext cx="11033760" cy="517321"/>
          </a:xfrm>
          <a:prstGeom prst="rect">
            <a:avLst/>
          </a:prstGeom>
          <a:noFill/>
          <a:effectLst/>
        </p:spPr>
        <p:txBody>
          <a:bodyPr wrap="none" lIns="0" rIns="0" tIns="0" bIns="0" anchor="t">
            <a:spAutoFit/>
          </a:bodyPr>
          <a:lstStyle/>
          <a:p>
            <a:pPr algn="l">
              <a:lnSpc>
                <a:spcPts val="3593"/>
              </a:lnSpc>
              <a:spcBef>
                <a:spcPts val="0"/>
              </a:spcBef>
              <a:spcAft>
                <a:spcPts val="0"/>
              </a:spcAft>
            </a:pPr>
            <a:r>
              <a:rPr sz="3179" b="1">
                <a:solidFill>
                  <a:srgbClr val="152F27"/>
                </a:solidFill>
                <a:latin typeface="Arial"/>
              </a:rPr>
              <a:t>IT Operations selected Glean for broader coverage.</a:t>
            </a:r>
          </a:p>
        </p:txBody>
      </p:sp>
      <p:sp>
        <p:nvSpPr>
          <p:cNvPr id="4" name="TextBox 3"/>
          <p:cNvSpPr txBox="1"/>
          <p:nvPr/>
        </p:nvSpPr>
        <p:spPr>
          <a:xfrm>
            <a:off x="594360" y="1287780"/>
            <a:ext cx="10934700" cy="325526"/>
          </a:xfrm>
          <a:prstGeom prst="rect">
            <a:avLst/>
          </a:prstGeom>
          <a:noFill/>
          <a:effectLst/>
        </p:spPr>
        <p:txBody>
          <a:bodyPr wrap="none" lIns="0" rIns="0" tIns="0" bIns="0" anchor="t">
            <a:spAutoFit/>
          </a:bodyPr>
          <a:lstStyle/>
          <a:p>
            <a:pPr algn="l">
              <a:lnSpc>
                <a:spcPts val="2083"/>
              </a:lnSpc>
              <a:spcBef>
                <a:spcPts val="0"/>
              </a:spcBef>
              <a:spcAft>
                <a:spcPts val="0"/>
              </a:spcAft>
            </a:pPr>
            <a:r>
              <a:rPr sz="1680" b="0">
                <a:solidFill>
                  <a:srgbClr val="586B62"/>
                </a:solidFill>
                <a:latin typeface="Arial"/>
              </a:rPr>
              <a:t>Leadership supported the prototype. The team chose an approach that connected more sources.</a:t>
            </a:r>
          </a:p>
        </p:txBody>
      </p:sp>
      <p:sp>
        <p:nvSpPr>
          <p:cNvPr id="5" name="TextBox 4"/>
          <p:cNvSpPr txBox="1"/>
          <p:nvPr/>
        </p:nvSpPr>
        <p:spPr>
          <a:xfrm>
            <a:off x="594360" y="2179320"/>
            <a:ext cx="4953000" cy="351282"/>
          </a:xfrm>
          <a:prstGeom prst="rect">
            <a:avLst/>
          </a:prstGeom>
          <a:noFill/>
          <a:effectLst/>
        </p:spPr>
        <p:txBody>
          <a:bodyPr wrap="none" lIns="0" rIns="0" tIns="0" bIns="0" anchor="t">
            <a:spAutoFit/>
          </a:bodyPr>
          <a:lstStyle/>
          <a:p>
            <a:pPr algn="l">
              <a:lnSpc>
                <a:spcPts val="2286"/>
              </a:lnSpc>
              <a:spcBef>
                <a:spcPts val="0"/>
              </a:spcBef>
              <a:spcAft>
                <a:spcPts val="0"/>
              </a:spcAft>
            </a:pPr>
            <a:r>
              <a:rPr sz="1800" b="1">
                <a:solidFill>
                  <a:srgbClr val="152F27"/>
                </a:solidFill>
                <a:latin typeface="Arial"/>
              </a:rPr>
              <a:t>What I demonstrated</a:t>
            </a:r>
          </a:p>
        </p:txBody>
      </p:sp>
      <p:sp>
        <p:nvSpPr>
          <p:cNvPr id="6" name="TextBox 5"/>
          <p:cNvSpPr txBox="1"/>
          <p:nvPr/>
        </p:nvSpPr>
        <p:spPr>
          <a:xfrm>
            <a:off x="594360" y="2758440"/>
            <a:ext cx="5067300" cy="801471"/>
          </a:xfrm>
          <a:prstGeom prst="rect">
            <a:avLst/>
          </a:prstGeom>
          <a:noFill/>
          <a:effectLst/>
        </p:spPr>
        <p:txBody>
          <a:bodyPr wrap="none" lIns="0" rIns="0" tIns="0" bIns="0" anchor="t">
            <a:spAutoFit/>
          </a:bodyPr>
          <a:lstStyle/>
          <a:p>
            <a:pPr algn="l">
              <a:lnSpc>
                <a:spcPts val="2915"/>
              </a:lnSpc>
              <a:spcBef>
                <a:spcPts val="0"/>
              </a:spcBef>
              <a:spcAft>
                <a:spcPts val="0"/>
              </a:spcAft>
            </a:pPr>
            <a:r>
              <a:rPr sz="2580" b="1">
                <a:solidFill>
                  <a:srgbClr val="152F27"/>
                </a:solidFill>
                <a:latin typeface="Arial"/>
              </a:rPr>
              <a:t>An AI native</a:t>
            </a:r>
          </a:p>
          <a:p>
            <a:pPr algn="l">
              <a:lnSpc>
                <a:spcPts val="2915"/>
              </a:lnSpc>
              <a:spcBef>
                <a:spcPts val="0"/>
              </a:spcBef>
              <a:spcAft>
                <a:spcPts val="0"/>
              </a:spcAft>
            </a:pPr>
            <a:r>
              <a:rPr sz="2580" b="1">
                <a:solidFill>
                  <a:srgbClr val="152F27"/>
                </a:solidFill>
                <a:latin typeface="Arial"/>
              </a:rPr>
              <a:t>knowledge workflow.</a:t>
            </a:r>
          </a:p>
        </p:txBody>
      </p:sp>
      <p:sp>
        <p:nvSpPr>
          <p:cNvPr id="7" name="TextBox 6"/>
          <p:cNvSpPr txBox="1"/>
          <p:nvPr/>
        </p:nvSpPr>
        <p:spPr>
          <a:xfrm>
            <a:off x="594360" y="3909060"/>
            <a:ext cx="4953000" cy="675132"/>
          </a:xfrm>
          <a:prstGeom prst="rect">
            <a:avLst/>
          </a:prstGeom>
          <a:noFill/>
          <a:effectLst/>
        </p:spPr>
        <p:txBody>
          <a:bodyPr wrap="none" lIns="0" rIns="0" tIns="0" bIns="0" anchor="t">
            <a:spAutoFit/>
          </a:bodyPr>
          <a:lstStyle/>
          <a:p>
            <a:pPr algn="l">
              <a:lnSpc>
                <a:spcPts val="2418"/>
              </a:lnSpc>
              <a:spcBef>
                <a:spcPts val="0"/>
              </a:spcBef>
              <a:spcAft>
                <a:spcPts val="0"/>
              </a:spcAft>
            </a:pPr>
            <a:r>
              <a:rPr sz="1859" b="0">
                <a:solidFill>
                  <a:srgbClr val="152F27"/>
                </a:solidFill>
                <a:latin typeface="Arial"/>
              </a:rPr>
              <a:t>GitHub Markdown, a documentation site, and</a:t>
            </a:r>
          </a:p>
          <a:p>
            <a:pPr algn="l">
              <a:lnSpc>
                <a:spcPts val="2418"/>
              </a:lnSpc>
              <a:spcBef>
                <a:spcPts val="0"/>
              </a:spcBef>
              <a:spcAft>
                <a:spcPts val="0"/>
              </a:spcAft>
            </a:pPr>
            <a:r>
              <a:rPr sz="1859" b="0">
                <a:solidFill>
                  <a:srgbClr val="152F27"/>
                </a:solidFill>
                <a:latin typeface="Arial"/>
              </a:rPr>
              <a:t>search or updates through Goose.</a:t>
            </a:r>
          </a:p>
        </p:txBody>
      </p:sp>
      <p:sp>
        <p:nvSpPr>
          <p:cNvPr id="8" name="TextBox 7"/>
          <p:cNvSpPr txBox="1"/>
          <p:nvPr/>
        </p:nvSpPr>
        <p:spPr>
          <a:xfrm>
            <a:off x="594360" y="5387340"/>
            <a:ext cx="4953000" cy="264185"/>
          </a:xfrm>
          <a:prstGeom prst="rect">
            <a:avLst/>
          </a:prstGeom>
          <a:noFill/>
          <a:effectLst/>
        </p:spPr>
        <p:txBody>
          <a:bodyPr wrap="none" lIns="0" rIns="0" tIns="0" bIns="0" anchor="t">
            <a:spAutoFit/>
          </a:bodyPr>
          <a:lstStyle/>
          <a:p>
            <a:pPr algn="l">
              <a:lnSpc>
                <a:spcPts val="1600"/>
              </a:lnSpc>
              <a:spcBef>
                <a:spcPts val="0"/>
              </a:spcBef>
              <a:spcAft>
                <a:spcPts val="0"/>
              </a:spcAft>
            </a:pPr>
            <a:r>
              <a:rPr sz="1260" b="1">
                <a:solidFill>
                  <a:srgbClr val="176C4B"/>
                </a:solidFill>
                <a:latin typeface="Arial"/>
              </a:rPr>
              <a:t>WORKING PROTOTYPE</a:t>
            </a:r>
          </a:p>
        </p:txBody>
      </p:sp>
      <p:cxnSp>
        <p:nvCxnSpPr>
          <p:cNvPr id="9" name="Connector 8"/>
          <p:cNvCxnSpPr/>
          <p:nvPr/>
        </p:nvCxnSpPr>
        <p:spPr>
          <a:xfrm>
            <a:off x="6035040" y="2179320"/>
            <a:ext cx="0" cy="3390900"/>
          </a:xfrm>
          <a:prstGeom prst="line">
            <a:avLst/>
          </a:prstGeom>
          <a:ln w="15240">
            <a:solidFill>
              <a:srgbClr val="D2DCD3"/>
            </a:solidFill>
          </a:ln>
          <a:effectLst/>
        </p:spPr>
      </p:cxnSp>
      <p:sp>
        <p:nvSpPr>
          <p:cNvPr id="10" name="TextBox 9"/>
          <p:cNvSpPr txBox="1"/>
          <p:nvPr/>
        </p:nvSpPr>
        <p:spPr>
          <a:xfrm>
            <a:off x="6583680" y="2179320"/>
            <a:ext cx="5029200" cy="351282"/>
          </a:xfrm>
          <a:prstGeom prst="rect">
            <a:avLst/>
          </a:prstGeom>
          <a:noFill/>
          <a:effectLst/>
        </p:spPr>
        <p:txBody>
          <a:bodyPr wrap="none" lIns="0" rIns="0" tIns="0" bIns="0" anchor="t">
            <a:spAutoFit/>
          </a:bodyPr>
          <a:lstStyle/>
          <a:p>
            <a:pPr algn="l">
              <a:lnSpc>
                <a:spcPts val="2286"/>
              </a:lnSpc>
              <a:spcBef>
                <a:spcPts val="0"/>
              </a:spcBef>
              <a:spcAft>
                <a:spcPts val="0"/>
              </a:spcAft>
            </a:pPr>
            <a:r>
              <a:rPr sz="1800" b="1">
                <a:solidFill>
                  <a:srgbClr val="176C4B"/>
                </a:solidFill>
                <a:latin typeface="Arial"/>
              </a:rPr>
              <a:t>The direction selected</a:t>
            </a:r>
          </a:p>
        </p:txBody>
      </p:sp>
      <p:sp>
        <p:nvSpPr>
          <p:cNvPr id="11" name="TextBox 10"/>
          <p:cNvSpPr txBox="1"/>
          <p:nvPr/>
        </p:nvSpPr>
        <p:spPr>
          <a:xfrm>
            <a:off x="6583680" y="2758440"/>
            <a:ext cx="5029200" cy="801471"/>
          </a:xfrm>
          <a:prstGeom prst="rect">
            <a:avLst/>
          </a:prstGeom>
          <a:noFill/>
          <a:effectLst/>
        </p:spPr>
        <p:txBody>
          <a:bodyPr wrap="none" lIns="0" rIns="0" tIns="0" bIns="0" anchor="t">
            <a:spAutoFit/>
          </a:bodyPr>
          <a:lstStyle/>
          <a:p>
            <a:pPr algn="l">
              <a:lnSpc>
                <a:spcPts val="2915"/>
              </a:lnSpc>
              <a:spcBef>
                <a:spcPts val="0"/>
              </a:spcBef>
              <a:spcAft>
                <a:spcPts val="0"/>
              </a:spcAft>
            </a:pPr>
            <a:r>
              <a:rPr sz="2580" b="1">
                <a:solidFill>
                  <a:srgbClr val="176C4B"/>
                </a:solidFill>
                <a:latin typeface="Arial"/>
              </a:rPr>
              <a:t>Glean across</a:t>
            </a:r>
          </a:p>
          <a:p>
            <a:pPr algn="l">
              <a:lnSpc>
                <a:spcPts val="2915"/>
              </a:lnSpc>
              <a:spcBef>
                <a:spcPts val="0"/>
              </a:spcBef>
              <a:spcAft>
                <a:spcPts val="0"/>
              </a:spcAft>
            </a:pPr>
            <a:r>
              <a:rPr sz="2580" b="1">
                <a:solidFill>
                  <a:srgbClr val="176C4B"/>
                </a:solidFill>
                <a:latin typeface="Arial"/>
              </a:rPr>
              <a:t>existing sources.</a:t>
            </a:r>
          </a:p>
        </p:txBody>
      </p:sp>
      <p:sp>
        <p:nvSpPr>
          <p:cNvPr id="12" name="TextBox 11"/>
          <p:cNvSpPr txBox="1"/>
          <p:nvPr/>
        </p:nvSpPr>
        <p:spPr>
          <a:xfrm>
            <a:off x="6583680" y="3909060"/>
            <a:ext cx="4953000" cy="675132"/>
          </a:xfrm>
          <a:prstGeom prst="rect">
            <a:avLst/>
          </a:prstGeom>
          <a:noFill/>
          <a:effectLst/>
        </p:spPr>
        <p:txBody>
          <a:bodyPr wrap="none" lIns="0" rIns="0" tIns="0" bIns="0" anchor="t">
            <a:spAutoFit/>
          </a:bodyPr>
          <a:lstStyle/>
          <a:p>
            <a:pPr algn="l">
              <a:lnSpc>
                <a:spcPts val="2418"/>
              </a:lnSpc>
              <a:spcBef>
                <a:spcPts val="0"/>
              </a:spcBef>
              <a:spcAft>
                <a:spcPts val="0"/>
              </a:spcAft>
            </a:pPr>
            <a:r>
              <a:rPr sz="1859" b="0">
                <a:solidFill>
                  <a:srgbClr val="152F27"/>
                </a:solidFill>
                <a:latin typeface="Arial"/>
              </a:rPr>
              <a:t>Broader documentation ingestion and updates</a:t>
            </a:r>
          </a:p>
          <a:p>
            <a:pPr algn="l">
              <a:lnSpc>
                <a:spcPts val="2418"/>
              </a:lnSpc>
              <a:spcBef>
                <a:spcPts val="0"/>
              </a:spcBef>
              <a:spcAft>
                <a:spcPts val="0"/>
              </a:spcAft>
            </a:pPr>
            <a:r>
              <a:rPr sz="1859" b="0">
                <a:solidFill>
                  <a:srgbClr val="152F27"/>
                </a:solidFill>
                <a:latin typeface="Arial"/>
              </a:rPr>
              <a:t>as source content changed.</a:t>
            </a:r>
          </a:p>
        </p:txBody>
      </p:sp>
      <p:sp>
        <p:nvSpPr>
          <p:cNvPr id="13" name="TextBox 12"/>
          <p:cNvSpPr txBox="1"/>
          <p:nvPr/>
        </p:nvSpPr>
        <p:spPr>
          <a:xfrm>
            <a:off x="6583680" y="5387340"/>
            <a:ext cx="4953000" cy="264185"/>
          </a:xfrm>
          <a:prstGeom prst="rect">
            <a:avLst/>
          </a:prstGeom>
          <a:noFill/>
          <a:effectLst/>
        </p:spPr>
        <p:txBody>
          <a:bodyPr wrap="none" lIns="0" rIns="0" tIns="0" bIns="0" anchor="t">
            <a:spAutoFit/>
          </a:bodyPr>
          <a:lstStyle/>
          <a:p>
            <a:pPr algn="l">
              <a:lnSpc>
                <a:spcPts val="1600"/>
              </a:lnSpc>
              <a:spcBef>
                <a:spcPts val="0"/>
              </a:spcBef>
              <a:spcAft>
                <a:spcPts val="0"/>
              </a:spcAft>
            </a:pPr>
            <a:r>
              <a:rPr sz="1260" b="1">
                <a:solidFill>
                  <a:srgbClr val="176C4B"/>
                </a:solidFill>
                <a:latin typeface="Arial"/>
              </a:rPr>
              <a:t>SELECTED BY IT OPERATIONS</a:t>
            </a:r>
          </a:p>
        </p:txBody>
      </p:sp>
      <p:sp>
        <p:nvSpPr>
          <p:cNvPr id="14" name="TextBox 13"/>
          <p:cNvSpPr txBox="1"/>
          <p:nvPr/>
        </p:nvSpPr>
        <p:spPr>
          <a:xfrm>
            <a:off x="594360" y="5966460"/>
            <a:ext cx="10668000" cy="312572"/>
          </a:xfrm>
          <a:prstGeom prst="rect">
            <a:avLst/>
          </a:prstGeom>
          <a:noFill/>
          <a:effectLst/>
        </p:spPr>
        <p:txBody>
          <a:bodyPr wrap="none" lIns="0" rIns="0" tIns="0" bIns="0" anchor="t">
            <a:spAutoFit/>
          </a:bodyPr>
          <a:lstStyle/>
          <a:p>
            <a:pPr algn="l">
              <a:lnSpc>
                <a:spcPts val="1981"/>
              </a:lnSpc>
              <a:spcBef>
                <a:spcPts val="0"/>
              </a:spcBef>
              <a:spcAft>
                <a:spcPts val="0"/>
              </a:spcAft>
            </a:pPr>
            <a:r>
              <a:rPr sz="1560" b="0">
                <a:solidFill>
                  <a:srgbClr val="586B62"/>
                </a:solidFill>
                <a:latin typeface="Arial"/>
              </a:rPr>
              <a:t>I gave leadership a working alternative to evaluate.</a:t>
            </a:r>
          </a:p>
        </p:txBody>
      </p:sp>
      <p:cxnSp>
        <p:nvCxnSpPr>
          <p:cNvPr id="15" name="Connector 14"/>
          <p:cNvCxnSpPr/>
          <p:nvPr/>
        </p:nvCxnSpPr>
        <p:spPr>
          <a:xfrm>
            <a:off x="579120" y="6347460"/>
            <a:ext cx="11033760" cy="0"/>
          </a:xfrm>
          <a:prstGeom prst="line">
            <a:avLst/>
          </a:prstGeom>
          <a:ln w="7620">
            <a:solidFill>
              <a:srgbClr val="D2DCD3"/>
            </a:solidFill>
          </a:ln>
          <a:effectLst/>
        </p:spPr>
      </p:cxnSp>
      <p:sp>
        <p:nvSpPr>
          <p:cNvPr id="16" name="TextBox 15"/>
          <p:cNvSpPr txBox="1"/>
          <p:nvPr/>
        </p:nvSpPr>
        <p:spPr>
          <a:xfrm>
            <a:off x="594360" y="6484620"/>
            <a:ext cx="89916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0">
                <a:solidFill>
                  <a:srgbClr val="586B62"/>
                </a:solidFill>
                <a:latin typeface="Arial"/>
              </a:rPr>
              <a:t>FRANKLIN WAGGONER / AI IN EVERYDAY IT</a:t>
            </a:r>
          </a:p>
        </p:txBody>
      </p:sp>
      <p:sp>
        <p:nvSpPr>
          <p:cNvPr id="17" name="TextBox 16"/>
          <p:cNvSpPr txBox="1"/>
          <p:nvPr/>
        </p:nvSpPr>
        <p:spPr>
          <a:xfrm>
            <a:off x="10591800" y="6484620"/>
            <a:ext cx="1021080" cy="215798"/>
          </a:xfrm>
          <a:prstGeom prst="rect">
            <a:avLst/>
          </a:prstGeom>
          <a:noFill/>
          <a:effectLst/>
        </p:spPr>
        <p:txBody>
          <a:bodyPr wrap="none" lIns="0" rIns="0" tIns="0" bIns="0" anchor="t">
            <a:spAutoFit/>
          </a:bodyPr>
          <a:lstStyle/>
          <a:p>
            <a:pPr algn="r">
              <a:lnSpc>
                <a:spcPts val="1219"/>
              </a:lnSpc>
              <a:spcBef>
                <a:spcPts val="0"/>
              </a:spcBef>
              <a:spcAft>
                <a:spcPts val="0"/>
              </a:spcAft>
            </a:pPr>
            <a:r>
              <a:rPr sz="960" b="0">
                <a:solidFill>
                  <a:srgbClr val="586B62"/>
                </a:solidFill>
                <a:latin typeface="Arial"/>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594360" y="327660"/>
            <a:ext cx="106680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1">
                <a:solidFill>
                  <a:srgbClr val="176C4B"/>
                </a:solidFill>
                <a:latin typeface="Arial"/>
              </a:rPr>
              <a:t>WHAT I CARRY FORWARD</a:t>
            </a:r>
          </a:p>
        </p:txBody>
      </p:sp>
      <p:sp>
        <p:nvSpPr>
          <p:cNvPr id="3" name="TextBox 2"/>
          <p:cNvSpPr txBox="1"/>
          <p:nvPr/>
        </p:nvSpPr>
        <p:spPr>
          <a:xfrm>
            <a:off x="579120" y="693420"/>
            <a:ext cx="11033760" cy="517321"/>
          </a:xfrm>
          <a:prstGeom prst="rect">
            <a:avLst/>
          </a:prstGeom>
          <a:noFill/>
          <a:effectLst/>
        </p:spPr>
        <p:txBody>
          <a:bodyPr wrap="none" lIns="0" rIns="0" tIns="0" bIns="0" anchor="t">
            <a:spAutoFit/>
          </a:bodyPr>
          <a:lstStyle/>
          <a:p>
            <a:pPr algn="l">
              <a:lnSpc>
                <a:spcPts val="3593"/>
              </a:lnSpc>
              <a:spcBef>
                <a:spcPts val="0"/>
              </a:spcBef>
              <a:spcAft>
                <a:spcPts val="0"/>
              </a:spcAft>
            </a:pPr>
            <a:r>
              <a:rPr sz="3179" b="1">
                <a:solidFill>
                  <a:srgbClr val="152F27"/>
                </a:solidFill>
                <a:latin typeface="Arial"/>
              </a:rPr>
              <a:t>I turned daily friction into working solutions.</a:t>
            </a:r>
          </a:p>
        </p:txBody>
      </p:sp>
      <p:sp>
        <p:nvSpPr>
          <p:cNvPr id="4" name="TextBox 3"/>
          <p:cNvSpPr txBox="1"/>
          <p:nvPr/>
        </p:nvSpPr>
        <p:spPr>
          <a:xfrm>
            <a:off x="1280160" y="4937760"/>
            <a:ext cx="9631680" cy="762000"/>
          </a:xfrm>
          <a:prstGeom prst="rect">
            <a:avLst/>
          </a:prstGeom>
          <a:noFill/>
          <a:effectLst/>
        </p:spPr>
        <p:txBody>
          <a:bodyPr wrap="square" lIns="0" rIns="0" tIns="0" bIns="0" anchor="t">
            <a:noAutofit/>
          </a:bodyPr>
          <a:lstStyle/>
          <a:p>
            <a:pPr algn="ctr">
              <a:lnSpc>
                <a:spcPts val="2580"/>
              </a:lnSpc>
              <a:spcBef>
                <a:spcPts val="0"/>
              </a:spcBef>
              <a:spcAft>
                <a:spcPts val="0"/>
              </a:spcAft>
            </a:pPr>
            <a:r>
              <a:rPr sz="1800" b="1">
                <a:solidFill>
                  <a:srgbClr val="176C4B"/>
                </a:solidFill>
                <a:latin typeface="Arial"/>
              </a:rPr>
              <a:t>Investigate the behavior, build the improvement,</a:t>
            </a:r>
          </a:p>
          <a:p>
            <a:pPr algn="ctr">
              <a:lnSpc>
                <a:spcPts val="2580"/>
              </a:lnSpc>
              <a:spcBef>
                <a:spcPts val="0"/>
              </a:spcBef>
              <a:spcAft>
                <a:spcPts val="0"/>
              </a:spcAft>
            </a:pPr>
            <a:r>
              <a:rPr sz="1800" b="1">
                <a:solidFill>
                  <a:srgbClr val="176C4B"/>
                </a:solidFill>
                <a:latin typeface="Arial"/>
              </a:rPr>
              <a:t>and test it with the people using it.</a:t>
            </a:r>
          </a:p>
        </p:txBody>
      </p:sp>
      <p:sp>
        <p:nvSpPr>
          <p:cNvPr id="5" name="TextBox 4"/>
          <p:cNvSpPr txBox="1"/>
          <p:nvPr/>
        </p:nvSpPr>
        <p:spPr>
          <a:xfrm>
            <a:off x="670560" y="2171700"/>
            <a:ext cx="4892040" cy="579120"/>
          </a:xfrm>
          <a:prstGeom prst="rect">
            <a:avLst/>
          </a:prstGeom>
          <a:noFill/>
          <a:effectLst/>
        </p:spPr>
        <p:txBody>
          <a:bodyPr wrap="square" lIns="0" rIns="0" tIns="0" bIns="0" anchor="t">
            <a:noAutofit/>
          </a:bodyPr>
          <a:lstStyle/>
          <a:p>
            <a:pPr algn="l">
              <a:lnSpc>
                <a:spcPts val="3240"/>
              </a:lnSpc>
              <a:spcBef>
                <a:spcPts val="0"/>
              </a:spcBef>
              <a:spcAft>
                <a:spcPts val="0"/>
              </a:spcAft>
            </a:pPr>
            <a:r>
              <a:rPr sz="2640" b="1">
                <a:solidFill>
                  <a:srgbClr val="176C4B"/>
                </a:solidFill>
                <a:latin typeface="Arial"/>
              </a:rPr>
              <a:t>Jira MCP</a:t>
            </a:r>
          </a:p>
        </p:txBody>
      </p:sp>
      <p:sp>
        <p:nvSpPr>
          <p:cNvPr id="6" name="TextBox 5"/>
          <p:cNvSpPr txBox="1"/>
          <p:nvPr/>
        </p:nvSpPr>
        <p:spPr>
          <a:xfrm>
            <a:off x="670560" y="2910840"/>
            <a:ext cx="4892040" cy="1356360"/>
          </a:xfrm>
          <a:prstGeom prst="rect">
            <a:avLst/>
          </a:prstGeom>
          <a:noFill/>
          <a:effectLst/>
        </p:spPr>
        <p:txBody>
          <a:bodyPr wrap="square" lIns="0" rIns="0" tIns="0" bIns="0" anchor="t">
            <a:noAutofit/>
          </a:bodyPr>
          <a:lstStyle/>
          <a:p>
            <a:pPr algn="l">
              <a:lnSpc>
                <a:spcPts val="2880"/>
              </a:lnSpc>
              <a:spcBef>
                <a:spcPts val="0"/>
              </a:spcBef>
              <a:spcAft>
                <a:spcPts val="0"/>
              </a:spcAft>
            </a:pPr>
            <a:r>
              <a:rPr sz="2040" b="0">
                <a:solidFill>
                  <a:srgbClr val="152F27"/>
                </a:solidFill>
                <a:latin typeface="Arial"/>
              </a:rPr>
              <a:t>I diagnosed and fixed the parsing bug,</a:t>
            </a:r>
          </a:p>
          <a:p>
            <a:pPr algn="l">
              <a:lnSpc>
                <a:spcPts val="2880"/>
              </a:lnSpc>
              <a:spcBef>
                <a:spcPts val="0"/>
              </a:spcBef>
              <a:spcAft>
                <a:spcPts val="0"/>
              </a:spcAft>
            </a:pPr>
            <a:r>
              <a:rPr sz="2040" b="0">
                <a:solidFill>
                  <a:srgbClr val="152F27"/>
                </a:solidFill>
                <a:latin typeface="Arial"/>
              </a:rPr>
              <a:t>tested the result, and contributed</a:t>
            </a:r>
          </a:p>
          <a:p>
            <a:pPr algn="l">
              <a:lnSpc>
                <a:spcPts val="2880"/>
              </a:lnSpc>
              <a:spcBef>
                <a:spcPts val="0"/>
              </a:spcBef>
              <a:spcAft>
                <a:spcPts val="0"/>
              </a:spcAft>
            </a:pPr>
            <a:r>
              <a:rPr sz="2040" b="0">
                <a:solidFill>
                  <a:srgbClr val="152F27"/>
                </a:solidFill>
                <a:latin typeface="Arial"/>
              </a:rPr>
              <a:t>to the open source project.</a:t>
            </a:r>
          </a:p>
        </p:txBody>
      </p:sp>
      <p:sp>
        <p:nvSpPr>
          <p:cNvPr id="7" name="TextBox 6"/>
          <p:cNvSpPr txBox="1"/>
          <p:nvPr/>
        </p:nvSpPr>
        <p:spPr>
          <a:xfrm>
            <a:off x="6629400" y="2171700"/>
            <a:ext cx="4892040" cy="579120"/>
          </a:xfrm>
          <a:prstGeom prst="rect">
            <a:avLst/>
          </a:prstGeom>
          <a:noFill/>
          <a:effectLst/>
        </p:spPr>
        <p:txBody>
          <a:bodyPr wrap="square" lIns="0" rIns="0" tIns="0" bIns="0" anchor="t">
            <a:noAutofit/>
          </a:bodyPr>
          <a:lstStyle/>
          <a:p>
            <a:pPr algn="l">
              <a:lnSpc>
                <a:spcPts val="3240"/>
              </a:lnSpc>
              <a:spcBef>
                <a:spcPts val="0"/>
              </a:spcBef>
              <a:spcAft>
                <a:spcPts val="0"/>
              </a:spcAft>
            </a:pPr>
            <a:r>
              <a:rPr sz="2640" b="1">
                <a:solidFill>
                  <a:srgbClr val="176C4B"/>
                </a:solidFill>
                <a:latin typeface="Arial"/>
              </a:rPr>
              <a:t>IT Support Knowledge Base</a:t>
            </a:r>
          </a:p>
        </p:txBody>
      </p:sp>
      <p:sp>
        <p:nvSpPr>
          <p:cNvPr id="8" name="TextBox 7"/>
          <p:cNvSpPr txBox="1"/>
          <p:nvPr/>
        </p:nvSpPr>
        <p:spPr>
          <a:xfrm>
            <a:off x="6629400" y="2910840"/>
            <a:ext cx="4892040" cy="1356360"/>
          </a:xfrm>
          <a:prstGeom prst="rect">
            <a:avLst/>
          </a:prstGeom>
          <a:noFill/>
          <a:effectLst/>
        </p:spPr>
        <p:txBody>
          <a:bodyPr wrap="square" lIns="0" rIns="0" tIns="0" bIns="0" anchor="t">
            <a:noAutofit/>
          </a:bodyPr>
          <a:lstStyle/>
          <a:p>
            <a:pPr algn="l">
              <a:lnSpc>
                <a:spcPts val="2880"/>
              </a:lnSpc>
              <a:spcBef>
                <a:spcPts val="0"/>
              </a:spcBef>
              <a:spcAft>
                <a:spcPts val="0"/>
              </a:spcAft>
            </a:pPr>
            <a:r>
              <a:rPr sz="2040" b="0">
                <a:solidFill>
                  <a:srgbClr val="152F27"/>
                </a:solidFill>
                <a:latin typeface="Arial"/>
              </a:rPr>
              <a:t>I obtained the content, built the</a:t>
            </a:r>
          </a:p>
          <a:p>
            <a:pPr algn="l">
              <a:lnSpc>
                <a:spcPts val="2880"/>
              </a:lnSpc>
              <a:spcBef>
                <a:spcPts val="0"/>
              </a:spcBef>
              <a:spcAft>
                <a:spcPts val="0"/>
              </a:spcAft>
            </a:pPr>
            <a:r>
              <a:rPr sz="2040" b="0">
                <a:solidFill>
                  <a:srgbClr val="152F27"/>
                </a:solidFill>
                <a:latin typeface="Arial"/>
              </a:rPr>
              <a:t>GitHub prototype, tested the workflow,</a:t>
            </a:r>
          </a:p>
          <a:p>
            <a:pPr algn="l">
              <a:lnSpc>
                <a:spcPts val="2880"/>
              </a:lnSpc>
              <a:spcBef>
                <a:spcPts val="0"/>
              </a:spcBef>
              <a:spcAft>
                <a:spcPts val="0"/>
              </a:spcAft>
            </a:pPr>
            <a:r>
              <a:rPr sz="2040" b="0">
                <a:solidFill>
                  <a:srgbClr val="152F27"/>
                </a:solidFill>
                <a:latin typeface="Arial"/>
              </a:rPr>
              <a:t>and brought it to leadership.</a:t>
            </a:r>
          </a:p>
        </p:txBody>
      </p:sp>
      <p:cxnSp>
        <p:nvCxnSpPr>
          <p:cNvPr id="13" name="Connector 12"/>
          <p:cNvCxnSpPr/>
          <p:nvPr/>
        </p:nvCxnSpPr>
        <p:spPr>
          <a:xfrm>
            <a:off x="579120" y="6347460"/>
            <a:ext cx="11033760" cy="0"/>
          </a:xfrm>
          <a:prstGeom prst="line">
            <a:avLst/>
          </a:prstGeom>
          <a:ln w="7620">
            <a:solidFill>
              <a:srgbClr val="D2DCD3"/>
            </a:solidFill>
          </a:ln>
          <a:effectLst/>
        </p:spPr>
      </p:cxnSp>
      <p:sp>
        <p:nvSpPr>
          <p:cNvPr id="14" name="TextBox 13"/>
          <p:cNvSpPr txBox="1"/>
          <p:nvPr/>
        </p:nvSpPr>
        <p:spPr>
          <a:xfrm>
            <a:off x="594360" y="6484620"/>
            <a:ext cx="8991600" cy="215798"/>
          </a:xfrm>
          <a:prstGeom prst="rect">
            <a:avLst/>
          </a:prstGeom>
          <a:noFill/>
          <a:effectLst/>
        </p:spPr>
        <p:txBody>
          <a:bodyPr wrap="none" lIns="0" rIns="0" tIns="0" bIns="0" anchor="t">
            <a:spAutoFit/>
          </a:bodyPr>
          <a:lstStyle/>
          <a:p>
            <a:pPr algn="l">
              <a:lnSpc>
                <a:spcPts val="1219"/>
              </a:lnSpc>
              <a:spcBef>
                <a:spcPts val="0"/>
              </a:spcBef>
              <a:spcAft>
                <a:spcPts val="0"/>
              </a:spcAft>
            </a:pPr>
            <a:r>
              <a:rPr sz="960" b="0">
                <a:solidFill>
                  <a:srgbClr val="586B62"/>
                </a:solidFill>
                <a:latin typeface="Arial"/>
              </a:rPr>
              <a:t>FRANKLIN WAGGONER / AI IN EVERYDAY IT</a:t>
            </a:r>
          </a:p>
        </p:txBody>
      </p:sp>
      <p:sp>
        <p:nvSpPr>
          <p:cNvPr id="15" name="TextBox 14"/>
          <p:cNvSpPr txBox="1"/>
          <p:nvPr/>
        </p:nvSpPr>
        <p:spPr>
          <a:xfrm>
            <a:off x="10591800" y="6484620"/>
            <a:ext cx="1021080" cy="215798"/>
          </a:xfrm>
          <a:prstGeom prst="rect">
            <a:avLst/>
          </a:prstGeom>
          <a:noFill/>
          <a:effectLst/>
        </p:spPr>
        <p:txBody>
          <a:bodyPr wrap="none" lIns="0" rIns="0" tIns="0" bIns="0" anchor="t">
            <a:spAutoFit/>
          </a:bodyPr>
          <a:lstStyle/>
          <a:p>
            <a:pPr algn="r">
              <a:lnSpc>
                <a:spcPts val="1219"/>
              </a:lnSpc>
              <a:spcBef>
                <a:spcPts val="0"/>
              </a:spcBef>
              <a:spcAft>
                <a:spcPts val="0"/>
              </a:spcAft>
            </a:pPr>
            <a:r>
              <a:rPr sz="960" b="0">
                <a:solidFill>
                  <a:srgbClr val="586B62"/>
                </a:solidFill>
                <a:latin typeface="Arial"/>
              </a:rPr>
              <a:t>12 / 12</a:t>
            </a:r>
          </a:p>
        </p:txBody>
      </p:sp>
      <p:cxnSp>
        <p:nvCxnSpPr>
          <p:cNvPr id="16" name="Connector 15"/>
          <p:cNvCxnSpPr/>
          <p:nvPr/>
        </p:nvCxnSpPr>
        <p:spPr>
          <a:xfrm>
            <a:off x="6096000" y="2133600"/>
            <a:ext cx="0" cy="2362200"/>
          </a:xfrm>
          <a:prstGeom prst="line">
            <a:avLst/>
          </a:prstGeom>
          <a:ln w="15240">
            <a:solidFill>
              <a:srgbClr val="D2DCD3"/>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Making AI Useful in Everyday IT</dc:title>
  <dc:subject>Jira MCP and IT Support Knowledge Base</dc:subject>
  <dc:creator>Franklin Waggoner</dc:creator>
  <cp:keywords>Goose, Jira MCP, GitHub, IT Support Knowledge Base</cp:keywords>
  <dc:description/>
  <cp:lastModifiedBy>Franklin Waggoner</cp:lastModifiedBy>
  <cp:revision>1</cp:revision>
  <dcterms:created xsi:type="dcterms:W3CDTF">2013-01-27T09:14:16Z</dcterms:created>
  <dcterms:modified xsi:type="dcterms:W3CDTF">2013-01-27T09:15:58Z</dcterms:modified>
  <cp:category/>
</cp:coreProperties>
</file>